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FinConsent is purpose-built statutory software for Registered Investment Advisers managing non-discretionary portfolios in India. It bridges investment formulation and client authorization.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Today, SEBI registered advisers manage crores under non-discretionary agreements, yet 80% still collect approvals over WhatsApp or email. This slide highlights the three systemic failure modes.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Meet our two personas: Suresh, the compliant adviser managing family wealth, and Rohan, the busy client who requires crisp mobile transparency.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that each risk maps directly to Indian statutory codes: SEBI Regulation 19, Income Tax Act Section 234C, and BSA Section 63.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the four foundational pillars: Pre-trade Tax, Dual-envelope Encryption, Mobile Consent Rail, and BSA Section 63 Audit Ledger.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how the three actor lanes interact: Suresh initiates, FinConsent secures and computes, and Rohan authorizes on his mobile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transitions in FinConsent are strictly unidirectional. Once Consented or Expired, a mandate cannot be edited or revived.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8.1 shows the RIA dashboard. Note the 48-hour countdown badges. Advisers retain full control, including instant revocation.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Rohan's actual smartphone review screen. Note how the allocation drift and pre-computed ₹11,440 tax bill are visible before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10.1 shows our password gate. The magic link alone reveals nothing. The client must enter their PAN last 4 and DOB to derive the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11.1 demonstrates our tenant isolation test. When an advisor from Firm A attempts to access Firm B's mandate, the API rejects with 403.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Dual-envelope encryption ensures that even if database records are compromised, financial payloads cannot be decrypted without the Server Master Key or client password.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13.1 displays the client OTP modal. Notice the 3 statutory checkboxes that must be acknowledged before the 6-digit OTP can be 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14.1 shows the Section 63 BSA compliance receipt generated at the exact millisecond consent is locked.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restored Graphviz state diagram illustrates the immutable lifecycle transitions: Draft to Sent, Viewed upon password entry, Consented upon OTP verification, or terminated via Expiry or RIA Revocation.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Figure 16.1, Rohan asks: 'Why sell Tata Motors now?'. Suresh clarifies directly inside the secure mandate. Crucially, chat dialogue never substitutes for OTP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native table shows the verified tax model: ₹11,000 STCG + ₹0 LTCG (exempt under ₹1.25L) + ₹440 cess = ₹11,440. On the right is the advance tax installment calendar.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FinConsent supports 8 languages while strictly enforcing ASCII numerals for all financial figures to avoid dispute ambiguities.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architectural topology illustrates our 4-tier separation between frontend, API gateway, core engines, and persistent data tiers in AWS Mumbai.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Figure 20.1 shows our automated security test verifying that after 3 failed OTP attempts, verification is permanently locked.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230 Vitest tests pass with 0 regressions. 81 screenshots verify UI across roles, and 1,460 audit records verified in disaster recovery.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sovereignty is absolute: all data resides in AWS Mumbai (ap-south-1). No data leaves Indian territory.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impact is threefold: 100% inspection-ready compliance, zero client tax shocks, and consent turnaround in under two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comparison highlights the operational leap across authorization, tax visibility, data security, and evidentiary admissibility.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divider introduces the technical appendices, detailing formal cryptographic proofs, RBAC matrices, and legal evidentiary standards.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outlines the formal cryptographic specifications: AES-256-GCM, 100,000 rounds of PBKDF2, and zero plaintext secret storage.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provides the role-based access matrix. Every API endpoint enforces strict authorization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details the exact criteria required under Section 63 of Bharatiya Sakshya Adhiniyam, 2023 for electronic records to be admitted in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provides transparency on implemented features versus roadmap enhancements like WhatsApp delivery and direct broker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begin, we propose a 4-week pilot starting with 10-25 families. The Pro Practice plan is ₹2,499/month with zero AUM surcharges. Inquiries: compliance@finconsent.in.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71323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800" b="1">
                <a:solidFill>
                  <a:srgbClr val="FFFFFF"/>
                </a:solidFill>
                <a:latin typeface="Calibri"/>
              </a:defRPr>
            </a:pPr>
            <a:r>
              <a:t>FINCONSENT</a:t>
            </a:r>
          </a:p>
          <a:p>
            <a:pPr>
              <a:spcAft>
                <a:spcPts val="2000"/>
              </a:spcAft>
              <a:defRPr sz="2400" b="1">
                <a:solidFill>
                  <a:srgbClr val="A5B4FC"/>
                </a:solidFill>
                <a:latin typeface="Calibri"/>
              </a:defRPr>
            </a:pPr>
            <a:r>
              <a:t>Enterprise Statutory Trade Authorization &amp; Tax Infrastructure for Indian RIAs</a:t>
            </a:r>
          </a:p>
          <a:p>
            <a:pPr>
              <a:spcAft>
                <a:spcPts val="3200"/>
              </a:spcAft>
              <a:defRPr sz="1500">
                <a:solidFill>
                  <a:srgbClr val="E2E8F0"/>
                </a:solidFill>
                <a:latin typeface="Calibri"/>
              </a:defRPr>
            </a:pPr>
            <a:r>
              <a:t>Engineered specifically to operationalize SEBI (Investment Advisers) Regulations, 2013 Regulation 19 compliance, eliminate pre-trade capital gains tax surprises under Finance Act 2024, and establish immutable Section 63 Bharatiya Sakshya Adhiniyam, 2023 (BSA) electronic evidence.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SEBI Regulation 19 Compliant   |   Finance Act 2024 Tax Engine   |   BSA §63 Cryptographic Receipts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412480" y="1005840"/>
            <a:ext cx="2926080" cy="4846320"/>
          </a:xfrm>
          <a:prstGeom prst="roundRect">
            <a:avLst/>
          </a:prstGeom>
          <a:solidFill>
            <a:srgbClr val="0A192F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mobile_unlock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115568"/>
            <a:ext cx="2779776" cy="46268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5888736"/>
            <a:ext cx="29260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>
                <a:solidFill>
                  <a:srgbClr val="475569"/>
                </a:solidFill>
              </a:defRPr>
            </a:pPr>
            <a:r>
              <a:t>Rohan Mehta's Mobile Verification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 of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EXECUTIVE AGENDA &amp; INDUSTRY CONTEXT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The Operational Crisis Facing Indian Investment Advisers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Why legacy approval methods fail both regulatory audits and investor trust.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728655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57400"/>
            <a:ext cx="365760" cy="36576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938528"/>
            <a:ext cx="98142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550">
                <a:solidFill>
                  <a:srgbClr val="E11D48"/>
                </a:solidFill>
              </a:defRPr>
            </a:pPr>
            <a:r>
              <a:t>1. Informal WhatsApp &amp; Email Approvals (Regulatory Rejection)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Advisers routinely gather approvals over text messages or calls. SEBI inspection teams reject informal communications under Regulation 19 record-keeping rules, leaving RIAs vulnerable to claims of unauthorized trading. Such communications fail Section 63 BSA electronic admissibility standards.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10728655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3520440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3401568"/>
            <a:ext cx="98142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550">
                <a:solidFill>
                  <a:srgbClr val="D97706"/>
                </a:solidFill>
              </a:defRPr>
            </a:pPr>
            <a:r>
              <a:t>2. Post-Trade Capital Gains Tax Shocks (Investor Friction)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Finance Act 2024 increased STCG to 20% and LTCG to 12.5% (+ 4% cess). When rebalancing occurs without pre-trade tax visibility, investors are blindsided by unexpected tax liabilities and penalty interest under Section 208 and 234C where liability reaches ₹10,000.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54880"/>
            <a:ext cx="10728655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4983480"/>
            <a:ext cx="365760" cy="365760"/>
          </a:xfrm>
          <a:prstGeom prst="ellipse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4864608"/>
            <a:ext cx="98142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550">
                <a:solidFill>
                  <a:srgbClr val="0A192F"/>
                </a:solidFill>
              </a:defRPr>
            </a:pPr>
            <a:r>
              <a:t>3. Fragmented Audit Trails (Inadmissible in Disputes)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Advice, rationale, client responses, and execution logs live in disconnected silos. Compiling annual compliance records takes weeks. Raw screenshots lack cryptographic hash continuity and device provenance, rendering them contestable before regulatory authorities.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 of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USER PERSONAS &amp; OPERATIONAL CONTEXT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Grounding Compliance in Human Realities: Suresh &amp; Rohan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A fee-only RIA managing family wealth and an executive demanding frictionless transparency.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01168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700">
                <a:solidFill>
                  <a:srgbClr val="0A192F"/>
                </a:solidFill>
              </a:defRPr>
            </a:pPr>
            <a:r>
              <a:t>SURESH NARAYANAN  [SN]</a:t>
            </a:r>
          </a:p>
          <a:p>
            <a:pPr>
              <a:spcAft>
                <a:spcPts val="800"/>
              </a:spcAft>
              <a:defRPr sz="1250">
                <a:solidFill>
                  <a:srgbClr val="4F46E5"/>
                </a:solidFill>
              </a:defRPr>
            </a:pPr>
            <a:r>
              <a:t>Principal Officer &amp; Founder, Prudent Wealth Advisory (SEBI Reg: INA000088921)</a:t>
            </a:r>
          </a:p>
          <a:p>
            <a:pPr>
              <a:spcAft>
                <a:spcPts val="800"/>
              </a:spcAft>
              <a:defRPr b="1" sz="1250">
                <a:solidFill>
                  <a:srgbClr val="1E293B"/>
                </a:solidFill>
              </a:defRPr>
            </a:pPr>
            <a:r>
              <a:t>Key Metrics:  ₹180 Crores AUM   |   75 Affluent Families   |   Fee-Only Model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Role: </a:t>
            </a:r>
            <a:r>
              <a:rPr b="0" sz="1350">
                <a:solidFill>
                  <a:srgbClr val="475569"/>
                </a:solidFill>
                <a:latin typeface="Calibri"/>
              </a:rPr>
              <a:t>Non-discretionary investment formulation, asset allocation, and rebalancing.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Pain Point: </a:t>
            </a:r>
            <a:r>
              <a:rPr b="0" sz="1350">
                <a:solidFill>
                  <a:srgbClr val="475569"/>
                </a:solidFill>
                <a:latin typeface="Calibri"/>
              </a:rPr>
              <a:t>Surging equity markets triggered 15%+ allocation drift. Needs immediate consent without administrative phone chasing.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Statutory Need: </a:t>
            </a:r>
            <a:r>
              <a:rPr b="0" sz="1350">
                <a:solidFill>
                  <a:srgbClr val="475569"/>
                </a:solidFill>
                <a:latin typeface="Calibri"/>
              </a:rPr>
              <a:t>Mandated 5-year audit trail for rationale under SEBI Regulation 19.</a:t>
            </a:r>
          </a:p>
          <a:p>
            <a:pPr>
              <a:spcBef>
                <a:spcPts val="800"/>
              </a:spcBef>
              <a:defRPr i="1" sz="1250">
                <a:solidFill>
                  <a:srgbClr val="4F46E5"/>
                </a:solidFill>
              </a:defRPr>
            </a:pPr>
            <a:r>
              <a:t>“I cannot risk my SEBI licence on unrecorded phone calls or casual text messages. When markets drift, I need a verifiable, locked consent record in under an hour.”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828800"/>
            <a:ext cx="5212080" cy="4297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6695" y="201168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700">
                <a:solidFill>
                  <a:srgbClr val="0A192F"/>
                </a:solidFill>
              </a:defRPr>
            </a:pPr>
            <a:r>
              <a:t>ROHAN MEHTA  [RM]</a:t>
            </a:r>
          </a:p>
          <a:p>
            <a:pPr>
              <a:spcAft>
                <a:spcPts val="800"/>
              </a:spcAft>
              <a:defRPr sz="1250">
                <a:solidFill>
                  <a:srgbClr val="059669"/>
                </a:solidFill>
              </a:defRPr>
            </a:pPr>
            <a:r>
              <a:t>Managing Director, Auto-Tech Firm, Pune (Masked PAN: XXXXX1234F)</a:t>
            </a:r>
          </a:p>
          <a:p>
            <a:pPr>
              <a:spcAft>
                <a:spcPts val="800"/>
              </a:spcAft>
              <a:defRPr b="1" sz="1250">
                <a:solidFill>
                  <a:srgbClr val="1E293B"/>
                </a:solidFill>
              </a:defRPr>
            </a:pPr>
            <a:r>
              <a:t>Key Metrics:  ₹4.2 Crore Portfolio   |   2-Minute Review Limit   |   Mobile-First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Role: </a:t>
            </a:r>
            <a:r>
              <a:rPr b="0" sz="1350">
                <a:solidFill>
                  <a:srgbClr val="475569"/>
                </a:solidFill>
                <a:latin typeface="Calibri"/>
              </a:rPr>
              <a:t>Busy corporate executive reviewing financial proposals on smartphone between meetings.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Pain Point: </a:t>
            </a:r>
            <a:r>
              <a:rPr b="0" sz="1350">
                <a:solidFill>
                  <a:srgbClr val="475569"/>
                </a:solidFill>
                <a:latin typeface="Calibri"/>
              </a:rPr>
              <a:t>Refuses to read lengthy PDF attachments or guess year-end capital gains taxes while travelling.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Expectation: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2-minute mobile authorization flow with exact rupee tax impact before agreeing.</a:t>
            </a:r>
          </a:p>
          <a:p>
            <a:pPr>
              <a:spcBef>
                <a:spcPts val="800"/>
              </a:spcBef>
              <a:defRPr i="1" sz="1250">
                <a:solidFill>
                  <a:srgbClr val="059669"/>
                </a:solidFill>
              </a:defRPr>
            </a:pPr>
            <a:r>
              <a:t>“Tell me exactly what we are buying and selling, why we are doing it, and what my tax bill is. If it takes more than 2 minutes on my phone, I will postpone it.”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3 of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FRICTION &amp; RISK ANALYSIS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Four Critical Vulnerabilities of Legacy Approval Channels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Analyzing the legal, financial, and operational penalties of informal processes.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92808"/>
            <a:ext cx="1014984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E11D48"/>
                </a:solidFill>
              </a:defRPr>
            </a:pPr>
            <a:r>
              <a:t>SEBI Regulation 19 Compliance Exposure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Failing to maintain contemporaneous records of investment advice, rationale, and documented client agreement for 5 years leaves advisers vulnerable during mandatory inspections and enforcement actions.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081528"/>
            <a:ext cx="1014984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D97706"/>
                </a:solidFill>
              </a:defRPr>
            </a:pPr>
            <a:r>
              <a:t>Advance Tax Penal Interest (Sec 208, 234B &amp; 234C)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Selling equities without advance tax warnings triggers 1% monthly penal interest if net tax liability reaches ₹10,000; requires planning under Section 234C capital gains installment relief proviso.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60520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70248"/>
            <a:ext cx="1014984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4F46E5"/>
                </a:solidFill>
              </a:defRPr>
            </a:pPr>
            <a:r>
              <a:t>Electronic Evidence Inadmissibility (BSA Sec 63 / Sec 65B)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Under Section 63 of Bharatiya Sakshya Adhiniyam, 2023, raw text screenshots lack server hash continuity and device provenance required for judicial and regulatory admissibility.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49240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458968"/>
            <a:ext cx="1014984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0A192F"/>
                </a:solidFill>
              </a:defRPr>
            </a:pPr>
            <a:r>
              <a:t>Operational Delay &amp; Market Slippage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Chasing clients across phone calls and emails causes days of delay, during which market prices drift and optimal rebalancing windows evaporate.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4 of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PLATFORM ARCHITECTURE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FinConsent Solution Overview: The Four Core Pillars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An integrated statutory infrastructure bridging advisory formulation and client mobile consent.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0" y="1737360"/>
            <a:ext cx="7071055" cy="1005840"/>
          </a:xfrm>
          <a:prstGeom prst="roundRect">
            <a:avLst/>
          </a:prstGeom>
          <a:solidFill>
            <a:srgbClr val="0A192F"/>
          </a:solidFill>
          <a:ln w="1270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6705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FINCONSENT CORE STATUTORY PLATFORM</a:t>
            </a:r>
          </a:p>
          <a:p>
            <a:pPr algn="ctr">
              <a:defRPr sz="1300">
                <a:solidFill>
                  <a:srgbClr val="A5B4FC"/>
                </a:solidFill>
              </a:defRPr>
            </a:pPr>
            <a:r>
              <a:t>Unified Architecture for SEBI Reg 19  |  Finance Act 2024  |  BSA 2023 Sec 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24688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108960"/>
            <a:ext cx="213969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D97706"/>
                </a:solidFill>
              </a:defRPr>
            </a:pPr>
            <a:r>
              <a:t>1. Pre-Trade Tax Engine</a:t>
            </a:r>
          </a:p>
          <a:p>
            <a:pPr>
              <a:defRPr sz="1350">
                <a:solidFill>
                  <a:srgbClr val="1E293B"/>
                </a:solidFill>
              </a:defRPr>
            </a:pPr>
            <a:r>
              <a:t>Dynamic Finance Act 2024 tax computation. Real-time STCG (20%) &amp; LTCG (12.5% + 4% cess) computation with quarterly advance tax alerts under Section 208 / 234C.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2971800"/>
            <a:ext cx="24688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9312" y="3108960"/>
            <a:ext cx="213969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4F46E5"/>
                </a:solidFill>
              </a:defRPr>
            </a:pPr>
            <a:r>
              <a:t>2. Dual-Envelope Encryption</a:t>
            </a:r>
          </a:p>
          <a:p>
            <a:pPr>
              <a:defRPr sz="1350">
                <a:solidFill>
                  <a:srgbClr val="1E293B"/>
                </a:solidFill>
              </a:defRPr>
            </a:pPr>
            <a:r>
              <a:t>AES-256-GCM encryption with dual key wrapping and isolated Server Master Key. Financial data remains encrypted at rest until client unlocks via PAN last 4 + DOB.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971800"/>
            <a:ext cx="24688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3108960"/>
            <a:ext cx="213969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59669"/>
                </a:solidFill>
              </a:defRPr>
            </a:pPr>
            <a:r>
              <a:t>3. Mobile Consent Rail</a:t>
            </a:r>
          </a:p>
          <a:p>
            <a:pPr>
              <a:defRPr sz="1350">
                <a:solidFill>
                  <a:srgbClr val="1E293B"/>
                </a:solidFill>
              </a:defRPr>
            </a:pPr>
            <a:r>
              <a:t>Direct password-protected 256-bit magic links. Responsive smartphone layout, mandate clarification chat, and secure email/in-app 6-digit OTP verification.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2971800"/>
            <a:ext cx="2468880" cy="3200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3108960"/>
            <a:ext cx="2139696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A192F"/>
                </a:solidFill>
              </a:defRPr>
            </a:pPr>
            <a:r>
              <a:t>4. Section 63 BSA Ledger</a:t>
            </a:r>
          </a:p>
          <a:p>
            <a:pPr>
              <a:defRPr sz="1350">
                <a:solidFill>
                  <a:srgbClr val="1E293B"/>
                </a:solidFill>
              </a:defRPr>
            </a:pPr>
            <a:r>
              <a:t>Append-only forward SHA-256 hash chaining. Emits digitally fingerprinted Regulation 19 compliance dossiers with IP, User-Agent, and IST timestamps.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5 of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NARRATIVE FLOW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End-to-End User Journey: Advisor, Platform &amp; Client Lanes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Chronological sequence mapping advisory formulation to statutory compliance archive.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728655" cy="13533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92808"/>
            <a:ext cx="2011680" cy="1133856"/>
          </a:xfrm>
          <a:prstGeom prst="round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ADVISOR (RIA)</a:t>
            </a:r>
            <a:br/>
            <a:r>
              <a:t>Suresh Narayanan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1901952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A192F"/>
                </a:solidFill>
              </a:defRPr>
            </a:pPr>
            <a:r>
              <a:t>1. Drift Detected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Identifies 15% equity excess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28032" y="2331720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38343" y="1901952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A192F"/>
                </a:solidFill>
              </a:defRPr>
            </a:pPr>
            <a:r>
              <a:t>2. Formulation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Drafts sell/buy &amp; rationale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894575" y="2331720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04887" y="1901952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A192F"/>
                </a:solidFill>
              </a:defRPr>
            </a:pPr>
            <a:r>
              <a:t>3. Dispatches Link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Enforces 48h market window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61119" y="2331720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71431" y="1901952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A192F"/>
                </a:solidFill>
              </a:defRPr>
            </a:pPr>
            <a:r>
              <a:t>6. In-App Chat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Clarifies allocation in rail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73552"/>
            <a:ext cx="10728655" cy="13533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383280"/>
            <a:ext cx="2011680" cy="113385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FINCONSENT CORE</a:t>
            </a:r>
            <a:br/>
            <a:r>
              <a:t>Platform Engine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3392424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4F46E5"/>
                </a:solidFill>
              </a:defRPr>
            </a:pPr>
            <a:r>
              <a:t>Pre-Trade Tax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Calculates ₹11,440 liability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28032" y="3822192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38343" y="3392424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4F46E5"/>
                </a:solidFill>
              </a:defRPr>
            </a:pPr>
            <a:r>
              <a:t>Envelope Crypto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AES-256 dual key wrapping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94575" y="3822192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04887" y="3392424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4F46E5"/>
                </a:solidFill>
              </a:defRPr>
            </a:pPr>
            <a:r>
              <a:t>6-Digit OTP Rail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5m TTL &amp; 3-attempt lockout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961119" y="3822192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71431" y="3392424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4F46E5"/>
                </a:solidFill>
              </a:defRPr>
            </a:pPr>
            <a:r>
              <a:t>Chained Ledger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Forward SHA-256 BSA dossier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64024"/>
            <a:ext cx="10728655" cy="13533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2960" y="4873752"/>
            <a:ext cx="2011680" cy="1133856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CLIENT (HNI)</a:t>
            </a:r>
            <a:br/>
            <a:r>
              <a:t>Rohan Mehta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71800" y="4882896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4. Password Unlock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Enters PAN last-4 + DOB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828032" y="5312664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38343" y="4882896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5. Reviews Mandate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Checks drift, baskets &amp; tax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894575" y="5312664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04887" y="4882896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7. Enters OTP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Checks 3 declarations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961119" y="5312664"/>
            <a:ext cx="164592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71431" y="4882896"/>
            <a:ext cx="1810512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59669"/>
                </a:solidFill>
              </a:defRPr>
            </a:pPr>
            <a:r>
              <a:t>8. Locks Evidence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Receives signed receipt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6 of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PROCESS ARCHITECTURE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Statutory State Progression: Journey &amp; Exception Paths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Deterministic finite-state machine governing advisory recommendations and legal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728655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059669"/>
                </a:solidFill>
              </a:defRPr>
            </a:pPr>
            <a:r>
              <a:t>MAIN STATUTORY JOURNEY: UNIDIRECTIONAL PROGRESSION TO EVIDENCE LOCK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240280"/>
            <a:ext cx="1810512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50">
                <a:solidFill>
                  <a:srgbClr val="475569"/>
                </a:solidFill>
              </a:defRPr>
            </a:pPr>
            <a:r>
              <a:t>1. DRAFT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Advisor selects drift baskets &amp; rationale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25496" y="2697480"/>
            <a:ext cx="164592" cy="182880"/>
          </a:xfrm>
          <a:prstGeom prst="rightArrow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44951" y="2240280"/>
            <a:ext cx="1810512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50">
                <a:solidFill>
                  <a:srgbClr val="4F46E5"/>
                </a:solidFill>
              </a:defRPr>
            </a:pPr>
            <a:r>
              <a:t>2. SENT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Encrypted link dispatched with 48h cutoff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10327" y="2697480"/>
            <a:ext cx="164592" cy="182880"/>
          </a:xfrm>
          <a:prstGeom prst="rightArrow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9783" y="2240280"/>
            <a:ext cx="1810512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50">
                <a:solidFill>
                  <a:srgbClr val="D97706"/>
                </a:solidFill>
              </a:defRPr>
            </a:pPr>
            <a:r>
              <a:t>3. VIEWED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Unlocked via PAN last-4 + DOB password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95159" y="2697480"/>
            <a:ext cx="164592" cy="182880"/>
          </a:xfrm>
          <a:prstGeom prst="rightArrow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14616" y="2240280"/>
            <a:ext cx="1810512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50">
                <a:solidFill>
                  <a:srgbClr val="059669"/>
                </a:solidFill>
              </a:defRPr>
            </a:pPr>
            <a:r>
              <a:t>4. CONSENTED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Declarations verified via 6-digit OTP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79992" y="2697480"/>
            <a:ext cx="164592" cy="182880"/>
          </a:xfrm>
          <a:prstGeom prst="rightArrow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299447" y="2240280"/>
            <a:ext cx="1810512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50">
                <a:solidFill>
                  <a:srgbClr val="0A192F"/>
                </a:solidFill>
              </a:defRPr>
            </a:pPr>
            <a:r>
              <a:t>5. LOCKED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Chained SHA-256 BSA §63 receipt emitted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77639"/>
            <a:ext cx="10728655" cy="2148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69080"/>
            <a:ext cx="10241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50">
                <a:solidFill>
                  <a:srgbClr val="E11D48"/>
                </a:solidFill>
              </a:defRPr>
            </a:pPr>
            <a:r>
              <a:t>TERMINAL EXCEPTION BOUNDARIES (STRICT SAFETY LIMITS &amp; ACCESS HALTS)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4480560"/>
            <a:ext cx="228600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200">
                <a:solidFill>
                  <a:srgbClr val="4F46E5"/>
                </a:solidFill>
              </a:defRPr>
            </a:pPr>
            <a:r>
              <a:t>ACTIVE MANDATE</a:t>
            </a:r>
          </a:p>
          <a:p>
            <a:pPr>
              <a:defRPr sz="1000">
                <a:solidFill>
                  <a:srgbClr val="1E293B"/>
                </a:solidFill>
              </a:defRPr>
            </a:pPr>
            <a:r>
              <a:t>Dispatched proposal in Sent or In-Review state.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337560" y="5029200"/>
            <a:ext cx="228600" cy="164592"/>
          </a:xfrm>
          <a:prstGeom prst="rightArrow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0" y="4480560"/>
            <a:ext cx="24231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  <a:defRPr b="1" sz="1100">
                <a:solidFill>
                  <a:srgbClr val="E11D48"/>
                </a:solidFill>
              </a:defRPr>
            </a:pPr>
            <a:r>
              <a:t>EXPIRED (HTTP 410)</a:t>
            </a:r>
          </a:p>
          <a:p>
            <a:pPr>
              <a:spcAft>
                <a:spcPts val="200"/>
              </a:spcAft>
              <a:defRPr b="1" sz="950">
                <a:solidFill>
                  <a:srgbClr val="0A192F"/>
                </a:solidFill>
              </a:defRPr>
            </a:pPr>
            <a:r>
              <a:t>48-Hour Cutoff Elapses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Proposal permanently invalidated to prevent stale execution.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97880" y="5029200"/>
            <a:ext cx="228600" cy="164592"/>
          </a:xfrm>
          <a:prstGeom prst="rightArrow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0" y="4480560"/>
            <a:ext cx="24231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  <a:defRPr b="1" sz="1100">
                <a:solidFill>
                  <a:srgbClr val="E11D48"/>
                </a:solidFill>
              </a:defRPr>
            </a:pPr>
            <a:r>
              <a:t>REVOKED (HTTP 410)</a:t>
            </a:r>
          </a:p>
          <a:p>
            <a:pPr>
              <a:spcAft>
                <a:spcPts val="200"/>
              </a:spcAft>
              <a:defRPr b="1" sz="950">
                <a:solidFill>
                  <a:srgbClr val="0A192F"/>
                </a:solidFill>
              </a:defRPr>
            </a:pPr>
            <a:r>
              <a:t>Advisor Retracts Mandate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Emergency cancellation if market volatility alters investment drift.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58200" y="5029200"/>
            <a:ext cx="228600" cy="164592"/>
          </a:xfrm>
          <a:prstGeom prst="rightArrow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778240" y="4480560"/>
            <a:ext cx="2423160" cy="1280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"/>
              </a:spcAft>
              <a:defRPr b="1" sz="1100">
                <a:solidFill>
                  <a:srgbClr val="E11D48"/>
                </a:solidFill>
              </a:defRPr>
            </a:pPr>
            <a:r>
              <a:t>LOCKED OUT (HTTP 429)</a:t>
            </a:r>
          </a:p>
          <a:p>
            <a:pPr>
              <a:spcAft>
                <a:spcPts val="200"/>
              </a:spcAft>
              <a:defRPr b="1" sz="950">
                <a:solidFill>
                  <a:srgbClr val="0A192F"/>
                </a:solidFill>
              </a:defRPr>
            </a:pPr>
            <a:r>
              <a:t>3 Failed OTP Attempts</a:t>
            </a:r>
          </a:p>
          <a:p>
            <a:pPr>
              <a:defRPr sz="900">
                <a:solidFill>
                  <a:srgbClr val="475569"/>
                </a:solidFill>
              </a:defRPr>
            </a:pPr>
            <a:r>
              <a:t>Token burned immediately to neutralize brute-force attacks.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7 of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RIA WORKSPACE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The Advisor (RIA) Experience: Formulation &amp; Real-Time Control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Prudent Wealth Advisory center showing active practice mandates and countdown timers.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120640" cy="4251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856232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" y="1856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85623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ria-dashboard-firm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002536"/>
            <a:ext cx="5047488" cy="3995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71616"/>
            <a:ext cx="5120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Figure 8.1: Authenticated RIA Dashboard showing portfolio overview and practice mandates.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242255" cy="4251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Advisor Capabilities &amp; Controls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[1] Practice Workspace: </a:t>
            </a:r>
            <a:r>
              <a:rPr b="0" sz="1350">
                <a:solidFill>
                  <a:srgbClr val="475569"/>
                </a:solidFill>
                <a:latin typeface="Calibri"/>
              </a:rPr>
              <a:t>Scoped view displaying active mandates (Draft, Sent, Viewed, Consented, Expired, Revoked) with live 48-hour countdown badges.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[2] Client Registry: </a:t>
            </a:r>
            <a:r>
              <a:rPr b="0" sz="1350">
                <a:solidFill>
                  <a:srgbClr val="475569"/>
                </a:solidFill>
                <a:latin typeface="Calibri"/>
              </a:rPr>
              <a:t>Client management enforcing valid PAN syntax ([A-Z]{5}[0-9]{4}[A-Z]), masked presentation (XXXXX1234F), and mobile formatting.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[3] Rebalance Formulation: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Simultaneous formulation of current vs target allocations, sell baskets, buy baskets, and investment rationale.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[4] Emergency Revocation: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One-click 'Revoke Link' feature allows advisers to immediately cancel dispatched proposals if market conditions shift.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8 of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CLIENT INTERFACE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The Client Experience: Mobile-First Transparency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Rohan Mehta's smartphone review interface designed for executive clarity on the go.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691640"/>
            <a:ext cx="2468880" cy="4251960"/>
          </a:xfrm>
          <a:prstGeom prst="roundRect">
            <a:avLst/>
          </a:prstGeom>
          <a:solidFill>
            <a:srgbClr val="0A192F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-client-review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2" y="1801368"/>
            <a:ext cx="2322576" cy="4032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97280" y="5980176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>
                <a:solidFill>
                  <a:srgbClr val="475569"/>
                </a:solidFill>
              </a:defRPr>
            </a:pPr>
            <a:r>
              <a:t>Figure 9.1: Rohan Mehta's Mobile Screen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0" y="1691640"/>
            <a:ext cx="7315200" cy="4434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874519"/>
            <a:ext cx="685800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Key Client-Facing Elements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[1] Direct Magic Link Convenience: </a:t>
            </a:r>
            <a:r>
              <a:rPr b="0" sz="1350">
                <a:solidFill>
                  <a:srgbClr val="475569"/>
                </a:solidFill>
                <a:latin typeface="Calibri"/>
              </a:rPr>
              <a:t>Clients tap the link received via email without remembering portal passwords or downloading an app.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[2] Allocation Drift Visualization: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High-contrast visual bars illustrate how portfolio risk is being restored (Equity scaling from 65% down to 50%).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[3] Transparent Trade Baskets: </a:t>
            </a:r>
            <a:r>
              <a:rPr b="0" sz="1350">
                <a:solidFill>
                  <a:srgbClr val="475569"/>
                </a:solidFill>
                <a:latin typeface="Calibri"/>
              </a:rPr>
              <a:t>Exact share quantities, market values, ISIN numbers, and rationale displayed clearly (Tata Motors, HDFC Bank -&gt; Bharat Bond, Gold ETF).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[4] Pre-Computed Tax Liability: </a:t>
            </a:r>
            <a:r>
              <a:rPr b="0" sz="1350">
                <a:solidFill>
                  <a:srgbClr val="475569"/>
                </a:solidFill>
                <a:latin typeface="Calibri"/>
              </a:rPr>
              <a:t>Displays estimated rupee liability (₹11,440) so the client understands net financial impact before consenting.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9 of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DATA PRIVACY GATE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Mandate Security: Password-Protected Access Gate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Zero sensitive financial disclosure prior to client identity verification.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91640"/>
            <a:ext cx="2468880" cy="4251960"/>
          </a:xfrm>
          <a:prstGeom prst="roundRect">
            <a:avLst/>
          </a:prstGeom>
          <a:solidFill>
            <a:srgbClr val="0A192F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mobile_unlock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01368"/>
            <a:ext cx="2322576" cy="4032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980176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>
                <a:solidFill>
                  <a:srgbClr val="475569"/>
                </a:solidFill>
              </a:defRPr>
            </a:pPr>
            <a:r>
              <a:t>Figure 10.1: Client Password Gate on Mobile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1737360"/>
            <a:ext cx="7498079" cy="4434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920240"/>
            <a:ext cx="70408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0A192F"/>
                </a:solidFill>
              </a:defRPr>
            </a:pPr>
            <a:r>
              <a:t>PAN + DOB Password Mechanism &amp; PBKDF2 Sequence</a:t>
            </a:r>
          </a:p>
          <a:p>
            <a:pPr>
              <a:spcAft>
                <a:spcPts val="1000"/>
              </a:spcAft>
              <a:defRPr b="1" sz="1250">
                <a:solidFill>
                  <a:srgbClr val="4F46E5"/>
                </a:solidFill>
              </a:defRPr>
            </a:pPr>
            <a:r>
              <a:t>Sequence: Magic Link ➜ Password Entry (PAN Last 4 + DOB) ➜ PBKDF2 Key Derivation ➜ DEK Unwrap ➜ Decrypt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Zero PII Exposure Prior to Unlock: </a:t>
            </a:r>
            <a:r>
              <a:rPr b="0" sz="1300">
                <a:solidFill>
                  <a:srgbClr val="475569"/>
                </a:solidFill>
                <a:latin typeface="Calibri"/>
              </a:rPr>
              <a:t>If a link is leaked or forwarded, recipient sees only firm name; zero holdings or tax figures are emitted.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Deterministic Verification PIN: </a:t>
            </a:r>
            <a:r>
              <a:rPr b="0" sz="1300">
                <a:solidFill>
                  <a:srgbClr val="475569"/>
                </a:solidFill>
                <a:latin typeface="Calibri"/>
              </a:rPr>
              <a:t>Formatted as Last 4 PAN digits + Date of Birth (DDMMYYYY). Example: Rohan's PAN XXXXX1234F + 14/08/1978 = 123414081978.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PBKDF2 Key Derivation: </a:t>
            </a:r>
            <a:r>
              <a:rPr b="0" sz="1300">
                <a:solidFill>
                  <a:srgbClr val="475569"/>
                </a:solidFill>
                <a:latin typeface="Calibri"/>
              </a:rPr>
              <a:t>Derives 256-bit key using 100,000 SHA-256 iterations to unwrap Data Encryption Key (DEK).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Strict Online Rate Limiting: </a:t>
            </a:r>
            <a:r>
              <a:rPr b="0" sz="1300">
                <a:solidFill>
                  <a:srgbClr val="475569"/>
                </a:solidFill>
                <a:latin typeface="Calibri"/>
              </a:rPr>
              <a:t>Defended online by sliding-window rate limiters (5 failed attempts -&gt; 15 min lockout) and offline by salted PBKDF2.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10 of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MULTI-TENANCY &amp; RBAC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Authentication, Authorization &amp; Tenant Isolation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Architectural barriers guaranteeing strict multi-tenant privacy across advisory practices.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120640" cy="4251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856232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" y="1856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85623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1-cross-ria-denied-foreign-cl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002536"/>
            <a:ext cx="5047488" cy="3995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71616"/>
            <a:ext cx="5120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Figure 11.1: Security Evidence — Cross-tenant access rejected with HTTP 403 Forbidden.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242255" cy="4251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Tenancy Invariants &amp; Controls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Firm Tenancy Scoping: </a:t>
            </a:r>
            <a:r>
              <a:rPr b="0" sz="1350">
                <a:solidFill>
                  <a:srgbClr val="475569"/>
                </a:solidFill>
                <a:latin typeface="Calibri"/>
              </a:rPr>
              <a:t>Every database query for clients, mandates, and audit logs is strictly partitioned by authenticated firm ID (req.user.firmName).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Zero Cross-RIA Data Leakage: </a:t>
            </a:r>
            <a:r>
              <a:rPr b="0" sz="1350">
                <a:solidFill>
                  <a:srgbClr val="475569"/>
                </a:solidFill>
                <a:latin typeface="Calibri"/>
              </a:rPr>
              <a:t>RIA 1 attempting to query Client or Mandate of RIA 2 receives an immediate HTTP 403 Forbidden with zero data disclosure.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Role-Based Access Control (RBAC): </a:t>
            </a:r>
            <a:r>
              <a:rPr b="0" sz="1350">
                <a:solidFill>
                  <a:srgbClr val="475569"/>
                </a:solidFill>
                <a:latin typeface="Calibri"/>
              </a:rPr>
              <a:t>Strict segregation across sebi-ria, hni-client, compliance_officer, admin, and guest personas.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Privilege Escalation Defense: </a:t>
            </a:r>
            <a:r>
              <a:rPr b="0" sz="1350">
                <a:solidFill>
                  <a:srgbClr val="475569"/>
                </a:solidFill>
                <a:latin typeface="Calibri"/>
              </a:rPr>
              <a:t>Client users navigating to advisor creation or billing routes are intercepted by React ProtectedRoute and Express middleware.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11 of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CRYPTOGRAPHIC CORE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Data Security Architecture &amp; Dual-Envelope Encryption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Institutional cryptographic defense protecting financial mandates at rest and in transit.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6596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A192F"/>
                </a:solidFill>
              </a:defRPr>
            </a:pPr>
            <a:r>
              <a:t>Payload Encryption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Cipher: </a:t>
            </a:r>
            <a:r>
              <a:rPr b="0" sz="1300">
                <a:solidFill>
                  <a:srgbClr val="475569"/>
                </a:solidFill>
                <a:latin typeface="Calibri"/>
              </a:rPr>
              <a:t>AES-256-GCM authenticated cipher.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DEK: </a:t>
            </a:r>
            <a:r>
              <a:rPr b="0" sz="1300">
                <a:solidFill>
                  <a:srgbClr val="475569"/>
                </a:solidFill>
                <a:latin typeface="Calibri"/>
              </a:rPr>
              <a:t>256-bit random Data Encryption Key generated per mandate via CSPRNG.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IV Vector: </a:t>
            </a:r>
            <a:r>
              <a:rPr b="0" sz="1300">
                <a:solidFill>
                  <a:srgbClr val="475569"/>
                </a:solidFill>
                <a:latin typeface="Calibri"/>
              </a:rPr>
              <a:t>12-byte random initialization vector.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Auth Tag: </a:t>
            </a:r>
            <a:r>
              <a:rPr b="0" sz="1300">
                <a:solidFill>
                  <a:srgbClr val="475569"/>
                </a:solidFill>
                <a:latin typeface="Calibri"/>
              </a:rPr>
              <a:t>16-byte authentication tag ensuring ciphertext integrity and anti-tampering.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78308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96596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4F46E5"/>
                </a:solidFill>
              </a:defRPr>
            </a:pPr>
            <a:r>
              <a:t>Dual Key Wrapping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Server Wrapping: </a:t>
            </a:r>
            <a:r>
              <a:rPr b="0" sz="1300">
                <a:solidFill>
                  <a:srgbClr val="475569"/>
                </a:solidFill>
                <a:latin typeface="Calibri"/>
              </a:rPr>
              <a:t>DEK encrypted with isolated Server Master Key (SERVER_MASTER_KEY) for RIA dashboard access.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Client Wrapping: </a:t>
            </a:r>
            <a:r>
              <a:rPr b="0" sz="1300">
                <a:solidFill>
                  <a:srgbClr val="475569"/>
                </a:solidFill>
                <a:latin typeface="Calibri"/>
              </a:rPr>
              <a:t>DEK encrypted with key derived from PBKDF2(PAN_last_4 + DOB, salt, 100k rounds).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Zero Plaintext: </a:t>
            </a:r>
            <a:r>
              <a:rPr b="0" sz="1300">
                <a:solidFill>
                  <a:srgbClr val="475569"/>
                </a:solidFill>
                <a:latin typeface="Calibri"/>
              </a:rPr>
              <a:t>Neither plaintext DEK nor client password stored in database.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78308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965960"/>
            <a:ext cx="2962656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59669"/>
                </a:solidFill>
              </a:defRPr>
            </a:pPr>
            <a:r>
              <a:t>Transit &amp; Storage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Token Hashing: </a:t>
            </a:r>
            <a:r>
              <a:rPr b="0" sz="1300">
                <a:solidFill>
                  <a:srgbClr val="475569"/>
                </a:solidFill>
                <a:latin typeface="Calibri"/>
              </a:rPr>
              <a:t>256-bit raw token stored in DB strictly as SHA-256 digest.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In-Transit Security: </a:t>
            </a:r>
            <a:r>
              <a:rPr b="0" sz="1300">
                <a:solidFill>
                  <a:srgbClr val="475569"/>
                </a:solidFill>
                <a:latin typeface="Calibri"/>
              </a:rPr>
              <a:t>Forced TLS 1.3 with Helmet HSTS (1-year max-age: 31,536,000s).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Zero Secret Logs: </a:t>
            </a:r>
            <a:r>
              <a:rPr b="0" sz="1300">
                <a:solidFill>
                  <a:srgbClr val="475569"/>
                </a:solidFill>
                <a:latin typeface="Calibri"/>
              </a:rPr>
              <a:t>Passwords, OTPs, and tokens sanitized from all logs.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12 of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CONSENT VERIFICATION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OTP &amp; Consent Integrity: Anti-Tamper Authorization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Statutory verification guaranteeing explicit non-discretionary client approval.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120640" cy="4251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856232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" y="1856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85623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-client-otp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002536"/>
            <a:ext cx="5047488" cy="3995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71616"/>
            <a:ext cx="5120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Figure 13.1: 6-Digit Mobile OTP Modal with 5-minute statutory timer.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242255" cy="4251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Statutory Authorization Safeguards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Mandatory Declarations: </a:t>
            </a:r>
            <a:r>
              <a:rPr b="0" sz="1350">
                <a:solidFill>
                  <a:srgbClr val="475569"/>
                </a:solidFill>
                <a:latin typeface="Calibri"/>
              </a:rPr>
              <a:t>Clients must actively check 3 statutory declarations (Regulation 19 Informed Consent, Capital Gains Acceptance, Section 63 BSA Evidence).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Dynamic 6-Digit OTP: </a:t>
            </a:r>
            <a:r>
              <a:rPr b="0" sz="1350">
                <a:solidFill>
                  <a:srgbClr val="475569"/>
                </a:solidFill>
                <a:latin typeface="Calibri"/>
              </a:rPr>
              <a:t>Generated via CSPRNG with 5-minute TTL; delivered via registered email and in-app display (SMS disabled by policy).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3-Attempt Brute-Force Lockout: </a:t>
            </a:r>
            <a:r>
              <a:rPr b="0" sz="1350">
                <a:solidFill>
                  <a:srgbClr val="475569"/>
                </a:solidFill>
                <a:latin typeface="Calibri"/>
              </a:rPr>
              <a:t>Maximum 3 verification attempts permitted. A 3rd failed attempt immediately locks verification and burns token (HTTP 429).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Single-Use Atomic Revocation: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The instant consent succeeds, the magic token is burned. Re-accessing returns HTTP 410 Gone, preventing replay attacks.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13 of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AUDIT INFRASTRUCTURE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Audit Trail &amp; Compliance Evidence: Cryptographic Proof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Chained SHA-256 audit ledger meeting Section 63 BSA and SEBI Regulation 19 standards.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120640" cy="4251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856232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" y="1856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85623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6_consent_locked_evid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002536"/>
            <a:ext cx="5047488" cy="3995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71616"/>
            <a:ext cx="5120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Figure 14.1: Section 63 BSA / Section 65B Compliance Receipt.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242255" cy="4251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Legal Admissibility &amp; Hash Chaining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Forward Hash Chaining: </a:t>
            </a:r>
            <a:r>
              <a:rPr b="0" sz="1350">
                <a:solidFill>
                  <a:srgbClr val="475569"/>
                </a:solidFill>
                <a:latin typeface="Calibri"/>
              </a:rPr>
              <a:t>Each log entry hashes the previous record: payloadHash = SHA256(prevHash + timestamp + event + payload). Any retroactive tampering breaks chain.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Section 63 BSA Certificate: </a:t>
            </a:r>
            <a:r>
              <a:rPr b="0" sz="1350">
                <a:solidFill>
                  <a:srgbClr val="475569"/>
                </a:solidFill>
                <a:latin typeface="Calibri"/>
              </a:rPr>
              <a:t>Captures client device IP (RFC 5737 203.0.113.12), browser User-Agent, exact IST timestamp, and masked PAN (XXXXX1234F).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5-Year Regulatory Preservation: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Designed to satisfy SEBI Regulation 19 mandatory 5-year retention requirements for investment advice and rationale.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Verified Disaster Recovery: </a:t>
            </a:r>
            <a:r>
              <a:rPr b="0" sz="1350">
                <a:solidFill>
                  <a:srgbClr val="475569"/>
                </a:solidFill>
                <a:latin typeface="Calibri"/>
              </a:rPr>
              <a:t>Non-destructive drill restored 1,460 audit logs with zero broken cryptographic hash links.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14 of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STATE MACHINE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Mandate Lifecycle &amp; State Model: Server-Enforced Transitions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Finite-state machine guaranteeing deterministic transitions with zero client-side bypass.</a:t>
            </a:r>
          </a:p>
        </p:txBody>
      </p:sp>
      <p:pic>
        <p:nvPicPr>
          <p:cNvPr id="4" name="Picture 3" descr="process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744" y="1783080"/>
            <a:ext cx="9418320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15 of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DISCUSSION RAIL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Mandate-Specific Chat: Advisory Clarification vs. Consent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Why in-app discussion is vital for client trust, but legally distinct from trade consent.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91640"/>
            <a:ext cx="2468880" cy="4251960"/>
          </a:xfrm>
          <a:prstGeom prst="roundRect">
            <a:avLst/>
          </a:prstGeom>
          <a:solidFill>
            <a:srgbClr val="0A192F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mobile_chat_discu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801368"/>
            <a:ext cx="2322576" cy="4032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5980176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>
                <a:solidFill>
                  <a:srgbClr val="475569"/>
                </a:solidFill>
              </a:defRPr>
            </a:pPr>
            <a:r>
              <a:t>Figure 16.1: Rohan posts an inquiry regarding Tata Motors.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31920" y="1691640"/>
            <a:ext cx="7498079" cy="4434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60520" y="1874519"/>
            <a:ext cx="704088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Separation of Communication &amp; Consent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Real-Time Contextual Discussion: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Allows clients to ask specific allocation or yield questions directly within mandate context, eliminating scattered WhatsApp threads.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Complete Audit Archiving: </a:t>
            </a:r>
            <a:r>
              <a:rPr b="0" sz="1350">
                <a:solidFill>
                  <a:srgbClr val="475569"/>
                </a:solidFill>
                <a:latin typeface="Calibri"/>
              </a:rPr>
              <a:t>Every message posted by client or advisor is committed to immutable audit log under CHAT_MESSAGE_SENT.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⚠️ CHAT DOES NOT CONSTITUTE CONSENT: </a:t>
            </a:r>
            <a:r>
              <a:rPr b="0" sz="1350">
                <a:solidFill>
                  <a:srgbClr val="475569"/>
                </a:solidFill>
                <a:latin typeface="Calibri"/>
              </a:rPr>
              <a:t>Under SEBI Regulation 19, informal dialogue ('Yes go ahead', 'Proceed') CANNOT authorize transactions.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Uncompromising Consent Rail: </a:t>
            </a:r>
            <a:r>
              <a:rPr b="0" sz="1350">
                <a:solidFill>
                  <a:srgbClr val="475569"/>
                </a:solidFill>
                <a:latin typeface="Calibri"/>
              </a:rPr>
              <a:t>Trade authorization strictly requires formal statutory declaration checkboxes followed by 6-digit OTP verification.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16 of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TAX ENGINE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Tax-Impact Transparency: Finance Act 2024 Engine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Pre-trade capital gains tax visibility eliminating investor surprise liabilities.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8308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58521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Statutory Rate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Taxable Base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Estimated Tax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STCG (Tata Motors)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20.0% (Sec 111A)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₹55,000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₹11,000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LTCG (HDFC Bank)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12.5% (Sec 112A)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₹1,25,000 (Exempt)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₹0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Health &amp; Educ. 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4.0% on Base 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On ₹11,000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₹440</a:t>
                      </a:r>
                    </a:p>
                  </a:txBody>
                  <a:tcPr/>
                </a:tc>
              </a:tr>
              <a:tr h="585216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A192F"/>
                          </a:solidFill>
                        </a:defRPr>
                      </a:pPr>
                      <a:r>
                        <a:t>Total Estimated Tax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A192F"/>
                          </a:solidFill>
                        </a:defRPr>
                      </a:pPr>
                      <a:r>
                        <a:t>Finance Act 2024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A192F"/>
                          </a:solidFill>
                        </a:defRPr>
                      </a:pPr>
                      <a:r>
                        <a:t>Pre-Trade Calc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A192F"/>
                          </a:solidFill>
                        </a:defRPr>
                      </a:pPr>
                      <a:r>
                        <a:t>₹11,440</a:t>
                      </a:r>
                    </a:p>
                  </a:txBody>
                  <a:tcPr>
                    <a:solidFill>
                      <a:srgbClr val="FEF3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9204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marL="342900" indent="-228600">
              <a:spcAft>
                <a:spcPts val="600"/>
              </a:spcAft>
              <a:buChar char="•"/>
            </a:pPr>
            <a:r>
              <a:rPr b="1" sz="1200">
                <a:solidFill>
                  <a:srgbClr val="0A192F"/>
                </a:solidFill>
                <a:latin typeface="Calibri"/>
              </a:rPr>
              <a:t>Tax Invariant Note: </a:t>
            </a:r>
            <a:r>
              <a:rPr b="0" sz="1200">
                <a:solidFill>
                  <a:srgbClr val="475569"/>
                </a:solidFill>
                <a:latin typeface="Calibri"/>
              </a:rPr>
              <a:t>Excludes individual surcharges (up to 15% on equity capital gains) and prior carried-forward losses. Annual aggregate LTCG exemption of ₹1,25,000 applied under Section 112A.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783080"/>
            <a:ext cx="496793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96596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D97706"/>
                </a:solidFill>
              </a:defRPr>
            </a:pPr>
            <a:r>
              <a:t>Quarterly Advance Tax Schedule (Sec 208 &amp; 234C)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1st Installment (15%): </a:t>
            </a:r>
            <a:r>
              <a:rPr b="0" sz="1350">
                <a:solidFill>
                  <a:srgbClr val="475569"/>
                </a:solidFill>
                <a:latin typeface="Calibri"/>
              </a:rPr>
              <a:t>On or before 15th June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2nd Installment (45%): </a:t>
            </a:r>
            <a:r>
              <a:rPr b="0" sz="1350">
                <a:solidFill>
                  <a:srgbClr val="475569"/>
                </a:solidFill>
                <a:latin typeface="Calibri"/>
              </a:rPr>
              <a:t>On or before 15th September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3rd Installment (75%): </a:t>
            </a:r>
            <a:r>
              <a:rPr b="0" sz="1350">
                <a:solidFill>
                  <a:srgbClr val="475569"/>
                </a:solidFill>
                <a:latin typeface="Calibri"/>
              </a:rPr>
              <a:t>On or before 15th December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4th Installment (100%): </a:t>
            </a:r>
            <a:r>
              <a:rPr b="0" sz="1350">
                <a:solidFill>
                  <a:srgbClr val="475569"/>
                </a:solidFill>
                <a:latin typeface="Calibri"/>
              </a:rPr>
              <a:t>On or before 15th March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250">
                <a:solidFill>
                  <a:srgbClr val="0A192F"/>
                </a:solidFill>
                <a:latin typeface="Calibri"/>
              </a:rPr>
              <a:t>Proviso to Section 234C: </a:t>
            </a:r>
            <a:r>
              <a:rPr b="0" sz="1250">
                <a:solidFill>
                  <a:srgbClr val="475569"/>
                </a:solidFill>
                <a:latin typeface="Calibri"/>
              </a:rPr>
              <a:t>Relieves penal interest for installments prior to the capital gains realization date if remaining tax is paid in subsequent installments.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17 of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ACCESSIBILITY &amp; I18N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Multilingual Localization Capability: 8 Languages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Delivering advisory transparency in regional and international languages.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728655" cy="2011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10241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600">
                <a:solidFill>
                  <a:srgbClr val="0A192F"/>
                </a:solidFill>
              </a:defRPr>
            </a:pPr>
            <a:r>
              <a:t>8 Fully Supported Languages Across Client &amp; Advisor Portals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377440"/>
            <a:ext cx="2286000" cy="5486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b="1" sz="1300">
                <a:solidFill>
                  <a:srgbClr val="4F46E5"/>
                </a:solidFill>
              </a:defRPr>
            </a:pPr>
            <a:r>
              <a:t>English (en)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377440"/>
            <a:ext cx="2286000" cy="5486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b="1" sz="1300">
                <a:solidFill>
                  <a:srgbClr val="4F46E5"/>
                </a:solidFill>
              </a:defRPr>
            </a:pPr>
            <a:r>
              <a:t>हिंदी (hi)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377440"/>
            <a:ext cx="2286000" cy="5486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b="1" sz="1300">
                <a:solidFill>
                  <a:srgbClr val="4F46E5"/>
                </a:solidFill>
              </a:defRPr>
            </a:pPr>
            <a:r>
              <a:t>தமிழ் (ta)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2377440"/>
            <a:ext cx="2286000" cy="5486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b="1" sz="1300">
                <a:solidFill>
                  <a:srgbClr val="4F46E5"/>
                </a:solidFill>
              </a:defRPr>
            </a:pPr>
            <a:r>
              <a:t>বাংলা (bn)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3108960"/>
            <a:ext cx="2286000" cy="5486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b="1" sz="1300">
                <a:solidFill>
                  <a:srgbClr val="4F46E5"/>
                </a:solidFill>
              </a:defRPr>
            </a:pPr>
            <a:r>
              <a:t>ગુજરાતી (gu)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108960"/>
            <a:ext cx="2286000" cy="5486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b="1" sz="1300">
                <a:solidFill>
                  <a:srgbClr val="4F46E5"/>
                </a:solidFill>
              </a:defRPr>
            </a:pPr>
            <a:r>
              <a:t>Deutsch (de)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3108960"/>
            <a:ext cx="2286000" cy="5486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b="1" sz="1300">
                <a:solidFill>
                  <a:srgbClr val="4F46E5"/>
                </a:solidFill>
              </a:defRPr>
            </a:pPr>
            <a:r>
              <a:t>日本語 (ja)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41080" y="3108960"/>
            <a:ext cx="2286000" cy="54864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b="1" sz="1300">
                <a:solidFill>
                  <a:srgbClr val="4F46E5"/>
                </a:solidFill>
              </a:defRPr>
            </a:pPr>
            <a:r>
              <a:t>한국어 (ko)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977639"/>
            <a:ext cx="10728655" cy="22402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14800"/>
            <a:ext cx="1024128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59669"/>
                </a:solidFill>
              </a:defRPr>
            </a:pPr>
            <a:r>
              <a:t>Financial Invariant: Standardized ASCII Numerals Across All Locales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Western Arabic Digits (0-9): </a:t>
            </a:r>
            <a:r>
              <a:rPr b="0" sz="1350">
                <a:solidFill>
                  <a:srgbClr val="475569"/>
                </a:solidFill>
                <a:latin typeface="Calibri"/>
              </a:rPr>
              <a:t>Under regulatory standards, all rupee amounts (₹), trade quantities, percentages, and ISIN codes remain strictly in ASCII English numerals across all locales, eliminating ambiguity during legal disputes.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Universal Accessibility: </a:t>
            </a:r>
            <a:r>
              <a:rPr b="0" sz="1350">
                <a:solidFill>
                  <a:srgbClr val="475569"/>
                </a:solidFill>
                <a:latin typeface="Calibri"/>
              </a:rPr>
              <a:t>HNIs review proposals, disclosures, and receipts in their preferred language while financial terms remain standardized.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Seamless Profile Toggling: </a:t>
            </a:r>
            <a:r>
              <a:rPr b="0" sz="1350">
                <a:solidFill>
                  <a:srgbClr val="475569"/>
                </a:solidFill>
                <a:latin typeface="Calibri"/>
              </a:rPr>
              <a:t>Advisers and clients switch languages seamlessly via navigation bar or profile settings.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18 of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SYSTEM TOPOLOGY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Technical Architecture: Security &amp; Service Boundaries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High-level system topology illustrating frontend, API, security engine, and storage tiers.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72865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60120" y="1920240"/>
            <a:ext cx="10271455" cy="868680"/>
          </a:xfrm>
          <a:prstGeom prst="roundRect">
            <a:avLst/>
          </a:prstGeom>
          <a:solidFill>
            <a:srgbClr val="0A192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971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FFFFFF"/>
                </a:solidFill>
              </a:defRPr>
            </a:pPr>
            <a:r>
              <a:t>CLIENT TIER: Desktop Advisory Hub (React 18 / MUI) &amp; Mobile Review Screen (360px)</a:t>
            </a:r>
          </a:p>
          <a:p>
            <a:pPr>
              <a:defRPr sz="1150">
                <a:solidFill>
                  <a:srgbClr val="A5B4FC"/>
                </a:solidFill>
              </a:defRPr>
            </a:pPr>
            <a:r>
              <a:t>TLS 1.3 / HTTPS Ingress Gateway with Helmet HSTS (1-Year Max Age Header)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0120" y="2926080"/>
            <a:ext cx="10271455" cy="8686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99971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API GATEWAY &amp; SECURITY TIER: Express Node.js REST API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Strict Firm Tenancy Middleware  |  TOTP Staff MFA  |  Sliding-Window Rate Limiting  |  Sanitization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931920"/>
            <a:ext cx="1027145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023360"/>
            <a:ext cx="99971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293B"/>
                </a:solidFill>
              </a:defRPr>
            </a:pPr>
            <a:r>
              <a:t>CORE BUSINESS ENGINES: State Machine Engine &amp; Tax Calculation Core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Finance Act 2024 Engine (STCG 20%, LTCG 12.5%)  |  Dual-Envelope AES-256-GCM  |  In-App Chat Rail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4937760"/>
            <a:ext cx="10271455" cy="8686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5029200"/>
            <a:ext cx="999713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A192F"/>
                </a:solidFill>
              </a:defRPr>
            </a:pPr>
            <a:r>
              <a:t>PERSISTENT DATA &amp; AUDIT TIER: MongoDB Atlas (AWS Mumbai ap-south-1)</a:t>
            </a:r>
          </a:p>
          <a:p>
            <a:pPr>
              <a:defRPr sz="1150">
                <a:solidFill>
                  <a:srgbClr val="475569"/>
                </a:solidFill>
              </a:defRPr>
            </a:pPr>
            <a:r>
              <a:t>Dedicated SERVER_MASTER_KEY Isolation  |  Append-Only SHA-256 Chained Ledger  |  PITR Recovery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19 of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THREAT MODELING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Security Threat Scenarios &amp; Evidenced Protections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Proven runtime boundary enforcement against malicious and accidental vectors.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120640" cy="4251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856232"/>
            <a:ext cx="73152" cy="73152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9264" y="185623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1856232"/>
            <a:ext cx="73152" cy="731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7-otp-lockout-after-3-fail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002536"/>
            <a:ext cx="5047488" cy="3995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071616"/>
            <a:ext cx="5120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475569"/>
                </a:solidFill>
              </a:defRPr>
            </a:pPr>
            <a:r>
              <a:t>Figure 20.1: Security Evidence — OTP lockout engaged after 3 failed verification attempts.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783080"/>
            <a:ext cx="5242255" cy="4251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6596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Threat Modeling &amp; Architectural Defenses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Credential Stuffing &amp; OTP Brute-Force: </a:t>
            </a:r>
            <a:r>
              <a:rPr b="0" sz="1350">
                <a:solidFill>
                  <a:srgbClr val="475569"/>
                </a:solidFill>
                <a:latin typeface="Calibri"/>
              </a:rPr>
              <a:t>Sliding-window rate limiters block rapid bursts; 3 failed OTPs permanently lock the token (HTTP 429).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Cross-Tenant IDOR &amp; Privilege Escalation: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Tampering with mandate or client UUIDs across RIA practices rejected with HTTP 403 Forbidden.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Expired / Replay Attacks: </a:t>
            </a:r>
            <a:r>
              <a:rPr b="0" sz="1350">
                <a:solidFill>
                  <a:srgbClr val="475569"/>
                </a:solidFill>
                <a:latin typeface="Calibri"/>
              </a:rPr>
              <a:t>Opening links past the 48-hour cutoff or after successful consent returns HTTP 410 Gone / Revoked.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Token Sniffing &amp; Database Breaches: </a:t>
            </a:r>
            <a:r>
              <a:rPr b="0" sz="1350">
                <a:solidFill>
                  <a:srgbClr val="475569"/>
                </a:solidFill>
                <a:latin typeface="Calibri"/>
              </a:rPr>
              <a:t>Plaintext magic tokens are never persisted in the database (stored strictly as SHA-256 hashes).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20 of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EVIDENCE BASE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Operational &amp; Testing Validation: Grounded in Real Runs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Concrete evidence demonstrating zero regressions across automated and browser tests.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965960"/>
            <a:ext cx="22494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3600">
                <a:solidFill>
                  <a:srgbClr val="059669"/>
                </a:solidFill>
              </a:defRPr>
            </a:pPr>
            <a:r>
              <a:t>230 / 230</a:t>
            </a:r>
          </a:p>
          <a:p>
            <a:pPr>
              <a:spcAft>
                <a:spcPts val="1000"/>
              </a:spcAft>
              <a:defRPr b="1" sz="1450">
                <a:solidFill>
                  <a:srgbClr val="0A192F"/>
                </a:solidFill>
              </a:defRPr>
            </a:pPr>
            <a:r>
              <a:t>Automated Tests Passing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17 test suites running across tax calculation, security, RBAC, i18n, and API regressions (100% pass rate).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78308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1965960"/>
            <a:ext cx="22494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4800">
                <a:solidFill>
                  <a:srgbClr val="059669"/>
                </a:solidFill>
              </a:defRPr>
            </a:pPr>
            <a:r>
              <a:t>81</a:t>
            </a:r>
          </a:p>
          <a:p>
            <a:pPr>
              <a:spcAft>
                <a:spcPts val="1000"/>
              </a:spcAft>
              <a:defRPr b="1" sz="1450">
                <a:solidFill>
                  <a:srgbClr val="0A192F"/>
                </a:solidFill>
              </a:defRPr>
            </a:pPr>
            <a:r>
              <a:t>Screenshots Captured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42 baseline, 25 security, and 14 mandate-security screenshots verifying desktop and mobile viewports.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8308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7648" y="1965960"/>
            <a:ext cx="22494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3600">
                <a:solidFill>
                  <a:srgbClr val="059669"/>
                </a:solidFill>
              </a:defRPr>
            </a:pPr>
            <a:r>
              <a:t>1,460</a:t>
            </a:r>
          </a:p>
          <a:p>
            <a:pPr>
              <a:spcAft>
                <a:spcPts val="1000"/>
              </a:spcAft>
              <a:defRPr b="1" sz="1450">
                <a:solidFill>
                  <a:srgbClr val="0A192F"/>
                </a:solidFill>
              </a:defRPr>
            </a:pPr>
            <a:r>
              <a:t>Records Disaster Drill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Synthetic non-destructive restore drill verified 1,460 audit logs with zero broken cryptographic hash links.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783080"/>
            <a:ext cx="24688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0848" y="1965960"/>
            <a:ext cx="2249424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4800">
                <a:solidFill>
                  <a:srgbClr val="059669"/>
                </a:solidFill>
              </a:defRPr>
            </a:pPr>
            <a:r>
              <a:t>0</a:t>
            </a:r>
          </a:p>
          <a:p>
            <a:pPr>
              <a:spcAft>
                <a:spcPts val="1000"/>
              </a:spcAft>
              <a:defRPr b="1" sz="1450">
                <a:solidFill>
                  <a:srgbClr val="0A192F"/>
                </a:solidFill>
              </a:defRPr>
            </a:pPr>
            <a:r>
              <a:t>Broken Hash Chains</a:t>
            </a:r>
          </a:p>
          <a:p>
            <a:pPr>
              <a:defRPr sz="1300">
                <a:solidFill>
                  <a:srgbClr val="475569"/>
                </a:solidFill>
              </a:defRPr>
            </a:pPr>
            <a:r>
              <a:t>Full mathematical continuity verified across all state changes, guaranteeing tamper-evident audit records.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21 of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INFRASTRUCTURE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Deployment Architecture: Indian Data Sovereignty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Compliance with SEBI Cybersecurity Framework (CSCRF) and DPDP directives.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21208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059669"/>
                </a:solidFill>
              </a:defRPr>
            </a:pPr>
            <a:r>
              <a:t>Territorial Data Residency (ap-south-1)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All primary databases, cryptographic keys, and audit ledgers reside exclusively in AWS Asia Pacific (Mumbai) region (ap-south-1) to comply with SEBI CSCRF and DPDP Act directives.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783080"/>
            <a:ext cx="521208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30975" y="19202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4F46E5"/>
                </a:solidFill>
              </a:defRPr>
            </a:pPr>
            <a:r>
              <a:t>Multi-Stage Production Containers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Hardened Docker multi-stage build packaging optimized Vite static assets and hardened Express Node.js ESM runtime with zero external runtime package installations.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0A192F"/>
                </a:solidFill>
              </a:defRPr>
            </a:pPr>
            <a:r>
              <a:t>Orchestration &amp; Health Probes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Production container environment with automated /api/health and /api/ready probes reporting database connectivity, readiness, and active tenancy health.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4069080"/>
            <a:ext cx="5212080" cy="20574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4206240"/>
            <a:ext cx="48463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b="1" sz="1600">
                <a:solidFill>
                  <a:srgbClr val="D97706"/>
                </a:solidFill>
              </a:defRPr>
            </a:pPr>
            <a:r>
              <a:t>Cryptographic Key Isolation</a:t>
            </a:r>
          </a:p>
          <a:p>
            <a:pPr>
              <a:defRPr sz="1400">
                <a:solidFill>
                  <a:srgbClr val="1E293B"/>
                </a:solidFill>
              </a:defRPr>
            </a:pPr>
            <a:r>
              <a:t>Server Master Key (SERVER_MASTER_KEY) isolated from application authentication secrets (JWT_SECRET); zero third-party advertising tracking or analytics beacons.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22 of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BUSINESS IMPACT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Business Value &amp; Practice Impact for Advisory Firms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Quantifiable efficiency, compliance security, and investor satisfaction gains.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965960"/>
            <a:ext cx="2999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059669"/>
                </a:solidFill>
              </a:defRPr>
            </a:pPr>
            <a:r>
              <a:t>100% Inspection-Ready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Instant Dossiers: </a:t>
            </a:r>
            <a:r>
              <a:rPr b="0" sz="1300">
                <a:solidFill>
                  <a:srgbClr val="475569"/>
                </a:solidFill>
                <a:latin typeface="Calibri"/>
              </a:rPr>
              <a:t>Downloadable Section 63 BSA compliance dossiers provide contemporaneous regulatory evidence.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Time Savings: </a:t>
            </a:r>
            <a:r>
              <a:rPr b="0" sz="1300">
                <a:solidFill>
                  <a:srgbClr val="475569"/>
                </a:solidFill>
                <a:latin typeface="Calibri"/>
              </a:rPr>
              <a:t>Replaces weeks of manual audit trail compilation with instantaneous verification.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Legal Protection: </a:t>
            </a:r>
            <a:r>
              <a:rPr b="0" sz="1300">
                <a:solidFill>
                  <a:srgbClr val="475569"/>
                </a:solidFill>
                <a:latin typeface="Calibri"/>
              </a:rPr>
              <a:t>Safeguards RIA practice against claims of unauthorized or discretionary trading.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78308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90288" y="1965960"/>
            <a:ext cx="2999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D97706"/>
                </a:solidFill>
              </a:defRPr>
            </a:pPr>
            <a:r>
              <a:t>Zero Tax Shocks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Pre-Trade Visibility: </a:t>
            </a:r>
            <a:r>
              <a:rPr b="0" sz="1300">
                <a:solidFill>
                  <a:srgbClr val="475569"/>
                </a:solidFill>
                <a:latin typeface="Calibri"/>
              </a:rPr>
              <a:t>Complete pre-trade capital gains tax visibility eliminates investor surprise liabilities.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Statutory Alerts: </a:t>
            </a:r>
            <a:r>
              <a:rPr b="0" sz="1300">
                <a:solidFill>
                  <a:srgbClr val="475569"/>
                </a:solidFill>
                <a:latin typeface="Calibri"/>
              </a:rPr>
              <a:t>Proactively alerts clients to quarterly advance tax obligations under Section 208 and 234C.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Client Trust: </a:t>
            </a:r>
            <a:r>
              <a:rPr b="0" sz="1300">
                <a:solidFill>
                  <a:srgbClr val="475569"/>
                </a:solidFill>
                <a:latin typeface="Calibri"/>
              </a:rPr>
              <a:t>Elevates advisory relationship from administrative chasing to high-trust strategic planning.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783080"/>
            <a:ext cx="3328416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84464" y="1965960"/>
            <a:ext cx="2999232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700">
                <a:solidFill>
                  <a:srgbClr val="4F46E5"/>
                </a:solidFill>
              </a:defRPr>
            </a:pPr>
            <a:r>
              <a:t>&lt; 2h Turnaround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Mobile Acceleration: </a:t>
            </a:r>
            <a:r>
              <a:rPr b="0" sz="1300">
                <a:solidFill>
                  <a:srgbClr val="475569"/>
                </a:solidFill>
                <a:latin typeface="Calibri"/>
              </a:rPr>
              <a:t>Accelerates client review and consent turnaround to under 2 hours on mobile.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Reduced Slippage: </a:t>
            </a:r>
            <a:r>
              <a:rPr b="0" sz="1300">
                <a:solidFill>
                  <a:srgbClr val="475569"/>
                </a:solidFill>
                <a:latin typeface="Calibri"/>
              </a:rPr>
              <a:t>Minimizes market slippage during high-volatility rebalancing windows.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Frictionless: </a:t>
            </a:r>
            <a:r>
              <a:rPr b="0" sz="1300">
                <a:solidFill>
                  <a:srgbClr val="475569"/>
                </a:solidFill>
                <a:latin typeface="Calibri"/>
              </a:rPr>
              <a:t>Secure password-protected magic link delivery without requiring app installation.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23 of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THE TRANSFORMATION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The Transformation: What Changes for Advisor and Client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Comparing legacy advisory friction with FinConsent's institutional digital rail.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8308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931920"/>
                <a:gridCol w="4236415"/>
              </a:tblGrid>
              <a:tr h="877824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Advisory Dimension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Legacy Process (Informal / Dispersed)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FinConsent Institutional Rail</a:t>
                      </a:r>
                    </a:p>
                  </a:txBody>
                  <a:tcPr>
                    <a:solidFill>
                      <a:srgbClr val="4F46E5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A192F"/>
                          </a:solidFill>
                        </a:defRPr>
                      </a:pPr>
                      <a:r>
                        <a:t>Trade Authorization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11D48"/>
                          </a:solidFill>
                        </a:defRPr>
                      </a:pPr>
                      <a:r>
                        <a:t>✗ Fragmented WhatsApp texts or email replies; rejected during SEBI inspection.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F46E5"/>
                          </a:solidFill>
                        </a:defRPr>
                      </a:pPr>
                      <a:r>
                        <a:t>✓ Explicit statutory declarations + 6-digit OTP verification with 48h market window.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A192F"/>
                          </a:solidFill>
                        </a:defRPr>
                      </a:pPr>
                      <a:r>
                        <a:t>Capital Gains Tax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11D48"/>
                          </a:solidFill>
                        </a:defRPr>
                      </a:pPr>
                      <a:r>
                        <a:t>✗ Post-trade surprise tax bill; penal interest under Sections 208 &amp; 234B/C.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F46E5"/>
                          </a:solidFill>
                        </a:defRPr>
                      </a:pPr>
                      <a:r>
                        <a:t>✓ Pre-trade Finance Act 2024 calculation with quarterly advance tax alert.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A192F"/>
                          </a:solidFill>
                        </a:defRPr>
                      </a:pPr>
                      <a:r>
                        <a:t>Client Security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11D48"/>
                          </a:solidFill>
                        </a:defRPr>
                      </a:pPr>
                      <a:r>
                        <a:t>✗ Confidential trade details sent over plain WhatsApp or email attachments.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F46E5"/>
                          </a:solidFill>
                        </a:defRPr>
                      </a:pPr>
                      <a:r>
                        <a:t>✓ Dual-envelope AES-256-GCM encryption with PAN+DOB client password gate.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A192F"/>
                          </a:solidFill>
                        </a:defRPr>
                      </a:pPr>
                      <a:r>
                        <a:t>Audit &amp; Legal Trail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E11D48"/>
                          </a:solidFill>
                        </a:defRPr>
                      </a:pPr>
                      <a:r>
                        <a:t>✗ Scattered screenshots and PDFs; inadmissible under Section 63 BSA.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F46E5"/>
                          </a:solidFill>
                        </a:defRPr>
                      </a:pPr>
                      <a:r>
                        <a:t>✓ Append-only forward SHA-256 ledger emitting certified Section 63 BSA compliance dossier.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24 of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7286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200">
                <a:solidFill>
                  <a:srgbClr val="A5B4FC"/>
                </a:solidFill>
              </a:defRPr>
            </a:pPr>
            <a:r>
              <a:t>SECTION II • ARCHITECTURAL &amp; STATUTORY SPECIFICATIONS</a:t>
            </a:r>
          </a:p>
          <a:p>
            <a:pPr>
              <a:spcAft>
                <a:spcPts val="1600"/>
              </a:spcAft>
              <a:defRPr b="1" sz="4000">
                <a:solidFill>
                  <a:srgbClr val="FFFFFF"/>
                </a:solidFill>
              </a:defRPr>
            </a:pPr>
            <a:r>
              <a:t>Technical &amp; Regulatory Appendices</a:t>
            </a:r>
          </a:p>
          <a:p>
            <a:pPr>
              <a:spcAft>
                <a:spcPts val="3200"/>
              </a:spcAft>
              <a:defRPr sz="1600">
                <a:solidFill>
                  <a:srgbClr val="E2E8F0"/>
                </a:solidFill>
              </a:defRPr>
            </a:pPr>
            <a:r>
              <a:t>Comprehensive formal specifications, mathematical invariants, access control matrices, and evidentiary frameworks supporting FinConsent's compliance architecture.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389120"/>
            <a:ext cx="24688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4480560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50">
                <a:solidFill>
                  <a:srgbClr val="A5B4FC"/>
                </a:solidFill>
              </a:defRPr>
            </a:pPr>
            <a:r>
              <a:t>Appendix A: Cryptography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AES-256-GCM, 100k-round PBKDF2 &amp; dual-envelope key wrapping specifications.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4389120"/>
            <a:ext cx="24688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84448" y="4480560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50">
                <a:solidFill>
                  <a:srgbClr val="A5B4FC"/>
                </a:solidFill>
              </a:defRPr>
            </a:pPr>
            <a:r>
              <a:t>Appendix B: Access Matrix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Granular API route permissions and firm tenancy scoping invariants across roles.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389120"/>
            <a:ext cx="24688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27648" y="4480560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50">
                <a:solidFill>
                  <a:srgbClr val="A5B4FC"/>
                </a:solidFill>
              </a:defRPr>
            </a:pPr>
            <a:r>
              <a:t>Appendix C: BSA §63 Ledger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Mandatory electronic evidence attributes, hash chaining schema &amp; court admissibility.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4389120"/>
            <a:ext cx="2468880" cy="164592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70848" y="4480560"/>
            <a:ext cx="22494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250">
                <a:solidFill>
                  <a:srgbClr val="A5B4FC"/>
                </a:solidFill>
              </a:defRPr>
            </a:pPr>
            <a:r>
              <a:t>Appendix D: Operational Scope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Strict demarcation of implemented production state vs future product roadmap.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25 of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APPENDIX A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Technical Deep-Dive: Cryptographic Invariants &amp; Key Derivation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Formal mathematical specifications for envelope encryption and PBKDF2 KDF.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Cryptographic Implementation Specifications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Symmetric Cipher: </a:t>
            </a:r>
            <a:r>
              <a:rPr b="0" sz="1350">
                <a:solidFill>
                  <a:srgbClr val="475569"/>
                </a:solidFill>
                <a:latin typeface="Calibri"/>
              </a:rPr>
              <a:t>AES-256-GCM (Galois/Counter Mode) with 12-byte random IV and 16-byte authentication tag ensuring anti-tampering.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Key Derivation Function: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PBKDF2 with SHA-256 digest, 100,000 rounds in production (1,000 in test mode), and 16-byte random salt.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Key Derivation Input: </a:t>
            </a:r>
            <a:r>
              <a:rPr b="0" sz="1350">
                <a:solidFill>
                  <a:srgbClr val="475569"/>
                </a:solidFill>
                <a:latin typeface="Calibri"/>
              </a:rPr>
              <a:t>Normalized string concatenation of PAN last 4 digits + DOB in DDMMYYYY format (e.g. '123414081978').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Dual Wrapping Invariant: </a:t>
            </a:r>
            <a:r>
              <a:rPr b="0" sz="1350">
                <a:solidFill>
                  <a:srgbClr val="475569"/>
                </a:solidFill>
                <a:latin typeface="Calibri"/>
              </a:rPr>
              <a:t>Server DEK wrapped with isolated SERVER_MASTER_KEY; Client DEK wrapped with Client Derived Key.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Zero Secret Storage: </a:t>
            </a:r>
            <a:r>
              <a:rPr b="0" sz="1350">
                <a:solidFill>
                  <a:srgbClr val="475569"/>
                </a:solidFill>
                <a:latin typeface="Calibri"/>
              </a:rPr>
              <a:t>The database never persists client plaintext passwords, unencrypted DEKs, or plaintext magic tokens.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26 of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APPENDIX B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Role-Based Authorization Matrix (RBAC)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Detailed API permission matrix with monospaced endpoints and coloured permission chips.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83080"/>
          <a:ext cx="10728655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560320"/>
                <a:gridCol w="2560320"/>
                <a:gridCol w="2681935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API Route / Resource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RIA (sebi-ria)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Client (hni-client)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Compliance Officer</a:t>
                      </a:r>
                    </a:p>
                  </a:txBody>
                  <a:tcPr>
                    <a:solidFill>
                      <a:srgbClr val="0A192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92F"/>
                          </a:solidFill>
                          <a:latin typeface="Consolas"/>
                        </a:defRPr>
                      </a:pPr>
                      <a:r>
                        <a:t>/api/mandates (POST / Create)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ALLOWED (Scoped to firm)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FORBIDDEN (HTTP 403)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FORBIDDEN (Read-only)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92F"/>
                          </a:solidFill>
                          <a:latin typeface="Consolas"/>
                        </a:defRPr>
                      </a:pPr>
                      <a:r>
                        <a:t>/api/mandates/:id/dispatch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ALLOWED (Own mandates only)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FORBIDDEN (HTTP 403)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FORBIDDEN (Read-only)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92F"/>
                          </a:solidFill>
                          <a:latin typeface="Consolas"/>
                        </a:defRPr>
                      </a:pPr>
                      <a:r>
                        <a:t>/api/public/mandates/:t/unlock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N/A (Uses dashboard)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ALLOWED (Valid password)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475569"/>
                          </a:solidFill>
                        </a:defRPr>
                      </a:pPr>
                      <a:r>
                        <a:t>N/A (Uses compliance hub)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92F"/>
                          </a:solidFill>
                          <a:latin typeface="Consolas"/>
                        </a:defRPr>
                      </a:pPr>
                      <a:r>
                        <a:t>/api/public/mandates/:t/verify-otp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FORBIDDEN (HTTP 403)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ALLOWED (Valid 6-digit OTP)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11D48"/>
                          </a:solidFill>
                        </a:defRPr>
                      </a:pPr>
                      <a:r>
                        <a:t>FORBIDDEN (HTTP 403)</a:t>
                      </a:r>
                    </a:p>
                  </a:txBody>
                  <a:tcPr>
                    <a:solidFill>
                      <a:srgbClr val="FEE2E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0A192F"/>
                          </a:solidFill>
                          <a:latin typeface="Consolas"/>
                        </a:defRPr>
                      </a:pPr>
                      <a:r>
                        <a:t>/api/requests (Scrutiny Hub)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ALLOWED (Submit requests)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ALLOWED (View own requests)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59669"/>
                          </a:solidFill>
                        </a:defRPr>
                      </a:pPr>
                      <a:r>
                        <a:t>ALLOWED (Full Adjudication)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27 of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APPENDIX C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Audit Schema &amp; Section 63 BSA Admissibility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Evidentiary record structures required by Indian legal standards.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107286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600">
                <a:solidFill>
                  <a:srgbClr val="0A192F"/>
                </a:solidFill>
              </a:defRPr>
            </a:pPr>
            <a:r>
              <a:t>Section 63 BSA Mandatory Evidentiary Attributions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1. Origin Identification: </a:t>
            </a:r>
            <a:r>
              <a:rPr b="0" sz="1350">
                <a:solidFill>
                  <a:srgbClr val="475569"/>
                </a:solidFill>
                <a:latin typeface="Calibri"/>
              </a:rPr>
              <a:t>Client IP Address (RFC 5737 203.0.113.12) and browser User-Agent recorded at execution time.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2. Synchronized Timestamp: </a:t>
            </a:r>
            <a:r>
              <a:rPr b="0" sz="1350">
                <a:solidFill>
                  <a:srgbClr val="475569"/>
                </a:solidFill>
                <a:latin typeface="Calibri"/>
              </a:rPr>
              <a:t>Server-side NTP timestamping localized to Indian Standard Time (IST).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3. Hash Integrity Seal: </a:t>
            </a:r>
            <a:r>
              <a:rPr b="0" sz="1350">
                <a:solidFill>
                  <a:srgbClr val="475569"/>
                </a:solidFill>
                <a:latin typeface="Calibri"/>
              </a:rPr>
              <a:t>SHA-256 payloadHash computed over immutable consent certificate.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4. Device Custody Proof: </a:t>
            </a:r>
            <a:r>
              <a:rPr b="0" sz="1350">
                <a:solidFill>
                  <a:srgbClr val="475569"/>
                </a:solidFill>
                <a:latin typeface="Calibri"/>
              </a:rPr>
              <a:t>Evidence that the computer system was operating properly during record generation.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50">
                <a:solidFill>
                  <a:srgbClr val="0A192F"/>
                </a:solidFill>
                <a:latin typeface="Calibri"/>
              </a:rPr>
              <a:t>5. Regulation 19 Admissibility: </a:t>
            </a:r>
            <a:r>
              <a:rPr b="0" sz="1350">
                <a:solidFill>
                  <a:srgbClr val="475569"/>
                </a:solidFill>
                <a:latin typeface="Calibri"/>
              </a:rPr>
              <a:t>Cryptographically chained forward hashes guarantee zero retroactive modifications.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28 of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APPENDIX D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Operational Considerations: Implemented State vs. Roadmap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Clear demarcation between current production capabilities and future roadmap milestones.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659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059669"/>
                </a:solidFill>
              </a:defRPr>
            </a:pPr>
            <a:r>
              <a:t>Implemented Capabilities (Now)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Non-Discretionary Mandates: </a:t>
            </a:r>
            <a:r>
              <a:rPr b="0" sz="1300">
                <a:solidFill>
                  <a:srgbClr val="475569"/>
                </a:solidFill>
                <a:latin typeface="Calibri"/>
              </a:rPr>
              <a:t>Formulation &amp; Finance Act 2024 tax engine.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Dual-Envelope Encryption: </a:t>
            </a:r>
            <a:r>
              <a:rPr b="0" sz="1300">
                <a:solidFill>
                  <a:srgbClr val="475569"/>
                </a:solidFill>
                <a:latin typeface="Calibri"/>
              </a:rPr>
              <a:t>AES-256-GCM cipher with PBKDF2 client password gate.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256-bit Magic Links: </a:t>
            </a:r>
            <a:r>
              <a:rPr b="0" sz="1300">
                <a:solidFill>
                  <a:srgbClr val="475569"/>
                </a:solidFill>
                <a:latin typeface="Calibri"/>
              </a:rPr>
              <a:t>SHA-256 database hashing with 48h cutoff timer.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In-App Mandate Chat: </a:t>
            </a:r>
            <a:r>
              <a:rPr b="0" sz="1300">
                <a:solidFill>
                  <a:srgbClr val="475569"/>
                </a:solidFill>
                <a:latin typeface="Calibri"/>
              </a:rPr>
              <a:t>Contextual discussion with explicit non-consent separation.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Section 63 BSA Dossiers: </a:t>
            </a:r>
            <a:r>
              <a:rPr b="0" sz="1300">
                <a:solidFill>
                  <a:srgbClr val="475569"/>
                </a:solidFill>
                <a:latin typeface="Calibri"/>
              </a:rPr>
              <a:t>Compliance receipts with chained SHA-256 hash ledger.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Institutional Security: </a:t>
            </a:r>
            <a:r>
              <a:rPr b="0" sz="1300">
                <a:solidFill>
                  <a:srgbClr val="475569"/>
                </a:solidFill>
                <a:latin typeface="Calibri"/>
              </a:rPr>
              <a:t>Multi-tenant isolation, RBAC, TOTP staff MFA, and rate limiting.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8 Supported Languages: </a:t>
            </a:r>
            <a:r>
              <a:rPr b="0" sz="1300">
                <a:solidFill>
                  <a:srgbClr val="475569"/>
                </a:solidFill>
                <a:latin typeface="Calibri"/>
              </a:rPr>
              <a:t>Complete UI localization with English ASCII financial numerals.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48095" y="178308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6695" y="19659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4F46E5"/>
                </a:solidFill>
              </a:defRPr>
            </a:pPr>
            <a:r>
              <a:t>Documented Scope &amp; Future Roadmap (Next)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TRAI DLT SMS Gateway: </a:t>
            </a:r>
            <a:r>
              <a:rPr b="0" sz="1300">
                <a:solidFill>
                  <a:srgbClr val="475569"/>
                </a:solidFill>
                <a:latin typeface="Calibri"/>
              </a:rPr>
              <a:t>Delivers OTP via email/in-app (SMS disabled by policy); commercial SMS requires onboarding a TRAI DLT-registered aggregator.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WhatsApp Channel Delivery: </a:t>
            </a:r>
            <a:r>
              <a:rPr b="0" sz="1300">
                <a:solidFill>
                  <a:srgbClr val="475569"/>
                </a:solidFill>
                <a:latin typeface="Calibri"/>
              </a:rPr>
              <a:t>Secure email magic links active; WhatsApp Business API delivery on product roadmap.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CloudHSM Key Management: </a:t>
            </a:r>
            <a:r>
              <a:rPr b="0" sz="1300">
                <a:solidFill>
                  <a:srgbClr val="475569"/>
                </a:solidFill>
                <a:latin typeface="Calibri"/>
              </a:rPr>
              <a:t>Server Master Key isolated in env config; AWS CloudHSM/KMS recommended for banking tiers.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Direct Broker Execution: </a:t>
            </a:r>
            <a:r>
              <a:rPr b="0" sz="1300">
                <a:solidFill>
                  <a:srgbClr val="475569"/>
                </a:solidFill>
                <a:latin typeface="Calibri"/>
              </a:rPr>
              <a:t>FinConsent halts at locked consent; API execution via brokers on future roadmap.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29 of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50" b="1">
                <a:solidFill>
                  <a:srgbClr val="4F46E5"/>
                </a:solidFill>
                <a:latin typeface="Calibri"/>
              </a:defRPr>
            </a:pPr>
            <a:r>
              <a:t>PILOT PROPOSAL &amp; NEXT STEPS</a:t>
            </a:r>
          </a:p>
          <a:p>
            <a:pPr>
              <a:spcAft>
                <a:spcPts val="300"/>
              </a:spcAft>
              <a:defRPr sz="3200" b="1">
                <a:solidFill>
                  <a:srgbClr val="0A192F"/>
                </a:solidFill>
                <a:latin typeface="Calibri"/>
              </a:defRPr>
            </a:pPr>
            <a:r>
              <a:t>Institutional Pilot Proposal &amp; Implementation Roadmap</a:t>
            </a:r>
          </a:p>
          <a:p>
            <a:pPr>
              <a:defRPr sz="1400">
                <a:solidFill>
                  <a:srgbClr val="475569"/>
                </a:solidFill>
                <a:latin typeface="Calibri"/>
              </a:defRPr>
            </a:pPr>
            <a:r>
              <a:t>Structured 4-week pilot deployment for fee-only advisory practices with verified commercial terms.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8308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A192F"/>
                </a:solidFill>
              </a:defRPr>
            </a:pPr>
            <a:r>
              <a:t>4-Week Phased Implementation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2331720"/>
            <a:ext cx="1188720" cy="80467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WEEK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40280" y="2331720"/>
            <a:ext cx="36576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A192F"/>
                </a:solidFill>
              </a:defRPr>
            </a:pPr>
            <a:r>
              <a:t>Governance &amp; Setup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Configure SEBI INA (INA000088921), compliance contacts &amp; TOTP MFA.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246120"/>
            <a:ext cx="1188720" cy="804672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WEEK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3246120"/>
            <a:ext cx="36576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A192F"/>
                </a:solidFill>
              </a:defRPr>
            </a:pPr>
            <a:r>
              <a:t>Client Ingestion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Import client profiles with masked PAN (XXXXX1234F), DOB &amp; templates.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4160520"/>
            <a:ext cx="1188720" cy="80467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WEEK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4160520"/>
            <a:ext cx="36576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A192F"/>
                </a:solidFill>
              </a:defRPr>
            </a:pPr>
            <a:r>
              <a:t>Controlled Pilot Run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Execute live mandates with 10–25 families; validate tax &amp; mobile OTP.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5074920"/>
            <a:ext cx="1188720" cy="804672"/>
          </a:xfrm>
          <a:prstGeom prst="round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WEEK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80" y="5074920"/>
            <a:ext cx="3657600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  <a:defRPr b="1" sz="1100">
                <a:solidFill>
                  <a:srgbClr val="0A192F"/>
                </a:solidFill>
              </a:defRPr>
            </a:pPr>
            <a:r>
              <a:t>Compliance Audit &amp; Scale</a:t>
            </a:r>
          </a:p>
          <a:p>
            <a:pPr>
              <a:defRPr sz="950">
                <a:solidFill>
                  <a:srgbClr val="475569"/>
                </a:solidFill>
              </a:defRPr>
            </a:pPr>
            <a:r>
              <a:t>Audit Section 63 BSA receipts with Compliance Officer; practice rollout.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8095" y="1783080"/>
            <a:ext cx="521208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96596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b="1" sz="1600">
                <a:solidFill>
                  <a:srgbClr val="4F46E5"/>
                </a:solidFill>
              </a:defRPr>
            </a:pPr>
            <a:r>
              <a:t>Verified Commercial Terms &amp; Inquiries</a:t>
            </a:r>
          </a:p>
          <a:p>
            <a:pPr>
              <a:spcAft>
                <a:spcPts val="600"/>
              </a:spcAft>
              <a:defRPr b="1" sz="2400">
                <a:solidFill>
                  <a:srgbClr val="0A192F"/>
                </a:solidFill>
              </a:defRPr>
            </a:pPr>
            <a:r>
              <a:t>₹2,499 / Month  (+ 18% GST)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Pro Practice Plan: </a:t>
            </a:r>
            <a:r>
              <a:rPr b="0" sz="1300">
                <a:solidFill>
                  <a:srgbClr val="475569"/>
                </a:solidFill>
                <a:latin typeface="Calibri"/>
              </a:rPr>
              <a:t>Includes up to 100 active mandates/month, unlimited clients, complete tax engine, and 5-year audit ledger retention.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Zero AUM Surcharges: </a:t>
            </a:r>
            <a:r>
              <a:rPr b="0" sz="1300">
                <a:solidFill>
                  <a:srgbClr val="475569"/>
                </a:solidFill>
                <a:latin typeface="Calibri"/>
              </a:rPr>
              <a:t>FinConsent charges zero basis points (bps) or AUM percentages. Pure software utility model.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Demonstration Data: </a:t>
            </a:r>
            <a:r>
              <a:rPr b="0" sz="1300">
                <a:solidFill>
                  <a:srgbClr val="475569"/>
                </a:solidFill>
                <a:latin typeface="Calibri"/>
              </a:rPr>
              <a:t>Prudent Wealth Advisory (SEBI Reg: INA000088921) with synthetic demonstration data.</a:t>
            </a:r>
          </a:p>
          <a:p>
            <a:pPr marL="342900" indent="-228600">
              <a:spcAft>
                <a:spcPts val="600"/>
              </a:spcAft>
              <a:buChar char="•"/>
            </a:pPr>
            <a:r>
              <a:rPr b="1" sz="1300">
                <a:solidFill>
                  <a:srgbClr val="0A192F"/>
                </a:solidFill>
                <a:latin typeface="Calibri"/>
              </a:rPr>
              <a:t>Official Inquiries: </a:t>
            </a:r>
            <a:r>
              <a:rPr b="0" sz="1300">
                <a:solidFill>
                  <a:srgbClr val="475569"/>
                </a:solidFill>
                <a:latin typeface="Calibri"/>
              </a:rPr>
              <a:t>compliance@finconsent.in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73952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4A3B8"/>
                </a:solidFill>
                <a:latin typeface="Calibri"/>
              </a:defRPr>
            </a:pPr>
            <a:r>
              <a:t>FinConsent | Statutory RIA Infrastructure  •  Slide 30 of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FinConsent — Statutory Trade Authorization &amp; Tax Infrastructure</dc:title>
  <dc:subject>SEBI Regulation 19 Compliance &amp; WealthTech Architecture</dc:subject>
  <dc:creator>FinConsent Engineering</dc:creator>
  <cp:keywords/>
  <dc:description>Client-facing 30-slide presentation with verified compliance evidence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