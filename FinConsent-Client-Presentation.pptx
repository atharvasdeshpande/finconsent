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73152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A192F"/>
                </a:solidFill>
                <a:latin typeface="Calibri"/>
              </a:defRPr>
            </a:pPr>
            <a:r>
              <a:t>FINCONSENT</a:t>
            </a:r>
          </a:p>
          <a:p>
            <a:pPr>
              <a:spcAft>
                <a:spcPts val="2400"/>
              </a:spcAft>
              <a:defRPr sz="2000">
                <a:solidFill>
                  <a:srgbClr val="4F46E5"/>
                </a:solidFill>
                <a:latin typeface="Calibri"/>
              </a:defRPr>
            </a:pPr>
            <a:r>
              <a:t>Enterprise Statutory Trade Authorization &amp; Tax-Impact Infrastructure for Indian RIAs</a:t>
            </a:r>
          </a:p>
          <a:p>
            <a:pPr>
              <a:spcAft>
                <a:spcPts val="3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Engineered to support SEBI (Investment Advisers) Regulations, 2013 Regulation 19 compliance, pre-trade capital gains tax transparency under Finance Act 2024, and Section 63 of Bharatiya Sakshya Adhiniyam, 2023 (BSA) tamper-evident electronic evidence.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389120"/>
            <a:ext cx="3291840" cy="1645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SEBI Regulation 19 Record-Keeping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Operationalizes non-discretionary prior client consent with an immutable 5-year cryptographic audit trail for investment advice and rationale.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457200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Finance Act 2024 Tax Engine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Pre-computes STCG (20%) &amp; LTCG (12.5% + 4% cess) with quarterly advance tax alerts (Section 208 / 234C).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389120"/>
            <a:ext cx="3291840" cy="1645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457200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Section 63 BSA Electronic Evidence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Dual-envelope AES-256-GCM encryption, 6-digit OTP verification, and tamper-evident SHA-256 compliance receipts.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INDUSTRY LANDSCAPE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The Problem: High-Stakes Friction in Indian Wealth Advisory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Why legacy approval channels fail both advisory practices and high-net-worth investors.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28416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296265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E11D48"/>
                </a:solidFill>
              </a:defRPr>
            </a:pPr>
            <a:r>
              <a:t>1. Informal WhatsApp Approvals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Advisers routinely collect approvals via WhatsApp texts, email replies, or unrecorded phone calls.</a:t>
            </a:r>
            <a:br/>
            <a:r>
              <a:t>• SEBI inspection teams reject informal text messages as non-compliant with Regulation 19 record-keeping rules.</a:t>
            </a:r>
            <a:br/>
            <a:r>
              <a:t>• Leaves advisers legally exposed to claims of discretionary or unauthorized trading.</a:t>
            </a:r>
            <a:br/>
            <a:r>
              <a:t>• Inadmissible under Section 63 BSA / Section 65B without certified cryptographic hash continuity and device provenance.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828800"/>
            <a:ext cx="3328416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2011680"/>
            <a:ext cx="296265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D97706"/>
                </a:solidFill>
              </a:defRPr>
            </a:pPr>
            <a:r>
              <a:t>2. Capital Gains Tax Shocks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Finance Act 2024 revised STCG to 20% and LTCG to 12.5% (+ 4% cess).</a:t>
            </a:r>
            <a:br/>
            <a:r>
              <a:t>• Rebalancing portfolios triggers significant capital gains without prior investor visibility.</a:t>
            </a:r>
            <a:br/>
            <a:r>
              <a:t>• Clients are blindsided by unexpected year-end tax liabilities.</a:t>
            </a:r>
            <a:br/>
            <a:r>
              <a:t>• Advance tax penal interest (Sections 208, 234B &amp; 234C where liability &gt;= ₹10,000) erodes investor trust and fee satisfaction.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828800"/>
            <a:ext cx="3328416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2011680"/>
            <a:ext cx="296265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A192F"/>
                </a:solidFill>
              </a:defRPr>
            </a:pPr>
            <a:r>
              <a:t>3. Fragmented Audit Trails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Advisory rationale, client communications, and trade executions live in separate silos.</a:t>
            </a:r>
            <a:br/>
            <a:r>
              <a:t>• Compiling regulatory records for annual SEBI audits takes weeks of administrative overhead.</a:t>
            </a:r>
            <a:br/>
            <a:r>
              <a:t>• Audit logs in spreadsheets can be altered, disputed, or deleted.</a:t>
            </a:r>
            <a:br/>
            <a:r>
              <a:t>• Inability to prove exact IST timestamp, client IP, and portfolio allocation agreed upon.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THE STORY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The Human Context: An RIA and HNI Client Journey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Grounding compliance in real operational realities: Suresh Narayanan and Rohan Mehta.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2064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0A192F"/>
                </a:solidFill>
              </a:defRPr>
            </a:pPr>
            <a:r>
              <a:t>Suresh Narayanan</a:t>
            </a:r>
          </a:p>
          <a:p>
            <a:pPr>
              <a:spcAft>
                <a:spcPts val="1200"/>
              </a:spcAft>
              <a:defRPr sz="1100">
                <a:solidFill>
                  <a:srgbClr val="4F46E5"/>
                </a:solidFill>
              </a:defRPr>
            </a:pPr>
            <a:r>
              <a:t>Principal Officer &amp; Founder, Prudent Wealth Advisory (SEBI Reg: INA000088921)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• Background: Manages ₹180 Crores in AUM across 75 affluent families under a fee-only, non-discretionary advisory model.</a:t>
            </a:r>
            <a:br/>
            <a:r>
              <a:t>• Challenge: Equity markets surged post-budget; several client portfolios have drifted 15%+ away from risk mandates.</a:t>
            </a:r>
            <a:br/>
            <a:r>
              <a:t>• Regulatory Obligation: Must recommend selling equities and buying debt and gold ETF, but cannot execute without prior written consent, documented rationale, and 5-year record-keeping under SEBI Regulation 19.</a:t>
            </a:r>
            <a:br/>
            <a:r>
              <a:t>• Execution Boundary: FinConsent records consent and maintains audit evidence; trade execution is executed separately via client's broker.</a:t>
            </a:r>
            <a:br/>
            <a:r>
              <a:t>• Note: Illustrative persona for workflow demonstration.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12064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0A192F"/>
                </a:solidFill>
              </a:defRPr>
            </a:pPr>
            <a:r>
              <a:t>Rohan Mehta</a:t>
            </a:r>
          </a:p>
          <a:p>
            <a:pPr>
              <a:spcAft>
                <a:spcPts val="1200"/>
              </a:spcAft>
              <a:defRPr sz="1100">
                <a:solidFill>
                  <a:srgbClr val="4F46E5"/>
                </a:solidFill>
              </a:defRPr>
            </a:pPr>
            <a:r>
              <a:t>HNI Advisory Client | Managing Director, Auto-Tech Firm, Pune (Masked PAN: XXXXX1234F)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• Background: Holds a ₹4.2 Crore portfolio. Extremely busy executive who reviews financial proposals on his mobile phone between meetings.</a:t>
            </a:r>
            <a:br/>
            <a:r>
              <a:t>• Expectation: Values Suresh's advice, but refuses to sign complex paper forms or guess tax liabilities.</a:t>
            </a:r>
            <a:br/>
            <a:r>
              <a:t>• Need: Demands a frictionless 2-minute mobile authorization flow that clearly explains why securities are being sold and the exact rupee tax liability.</a:t>
            </a:r>
            <a:br/>
            <a:r>
              <a:t>• Security: Accesses proposal securely via PAN-last-4 + DOB convenience verification PIN defended online by strict rate limiting.</a:t>
            </a:r>
            <a:br/>
            <a:r>
              <a:t>• Note: Illustrative persona with synthetic credentials.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FRICTION &amp; RISK ANALYSIS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Why Current Operational Approaches Break Down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Evaluating the systemic vulnerabilities of informal, non-statutory consent channels.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10728655" cy="1005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109728" cy="10058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74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SEBI Regulation 19 Compliance Exposure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Failing to maintain contemporaneous records of investment advice, rationale, and documented client agreement for 5 years leaves advisers vulnerable during mandatory SEBI inspections and dispute resolutions.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10728655" cy="1005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926080"/>
            <a:ext cx="109728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Advance Tax Penalties (Sec 208, 234B &amp; 234C)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Selling equities without advance tax warnings risks 1% monthly penal interest if net tax liability reaches ₹10,000; requires planning under Section 234C capital gains installment relief proviso.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10728655" cy="1005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4114800"/>
            <a:ext cx="109728" cy="10058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251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Electronic Evidence Inadmissibility (BSA Sec 63 / Sec 65B)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Under Section 63 of Bharatiya Sakshya Adhiniyam, 2023 (and erstwhile Section 65B), raw screenshots lack server hash continuity and device provenance required for court or tribunal admissibility.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303520"/>
            <a:ext cx="10728655" cy="1005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5303520"/>
            <a:ext cx="109728" cy="100584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4406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Operational Delay &amp; Market Slippage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Chasing clients across emails and phone calls causes days of delay, during which market prices drift and optimal rebalancing opportunities evaporate.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PLATFORM ARCHITECTURE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FinConsent Solution Overview: The Four Core Pillars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An integrated statutory infrastructure bridging advisory formulation and client mobile consent.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46888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2468880" cy="914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2103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1. Pre-Trade Tax Transparency</a:t>
            </a:r>
          </a:p>
          <a:p>
            <a:pPr>
              <a:spcBef>
                <a:spcPts val="1200"/>
              </a:spcBef>
              <a:defRPr sz="1100">
                <a:solidFill>
                  <a:srgbClr val="475569"/>
                </a:solidFill>
              </a:defRPr>
            </a:pPr>
            <a:r>
              <a:t>Dynamic Finance Act 2024 tax engine. Computes STCG (20%) and LTCG (12.5% + 4% cess) in real time, alerting clients to quarterly advance tax deadlines.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828800"/>
            <a:ext cx="246888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0" y="1828800"/>
            <a:ext cx="2468880" cy="9144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103120"/>
            <a:ext cx="2103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2. Dual-Envelope Encryption</a:t>
            </a:r>
          </a:p>
          <a:p>
            <a:pPr>
              <a:spcBef>
                <a:spcPts val="1200"/>
              </a:spcBef>
              <a:defRPr sz="1100">
                <a:solidFill>
                  <a:srgbClr val="475569"/>
                </a:solidFill>
              </a:defRPr>
            </a:pPr>
            <a:r>
              <a:t>AES-256-GCM encryption with dual key wrapping and isolated server master key. Protects sensitive financial assets until client unlocks via PAN last 4 digits and DOB.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246888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828800"/>
            <a:ext cx="2468880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2103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3. Secure Mobile Consent Rail</a:t>
            </a:r>
          </a:p>
          <a:p>
            <a:pPr>
              <a:spcBef>
                <a:spcPts val="1200"/>
              </a:spcBef>
              <a:defRPr sz="1100">
                <a:solidFill>
                  <a:srgbClr val="475569"/>
                </a:solidFill>
              </a:defRPr>
            </a:pPr>
            <a:r>
              <a:t>Direct password-protected 256-bit magic links. 360px responsive mobile layout, mandate clarification chat, and secure email/in-app 6-digit OTP verification.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828800"/>
            <a:ext cx="246888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961120" y="1828800"/>
            <a:ext cx="2468880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2103120"/>
            <a:ext cx="2103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4. Section 63 BSA Audit Ledger</a:t>
            </a:r>
          </a:p>
          <a:p>
            <a:pPr>
              <a:spcBef>
                <a:spcPts val="1200"/>
              </a:spcBef>
              <a:defRPr sz="1100">
                <a:solidFill>
                  <a:srgbClr val="475569"/>
                </a:solidFill>
              </a:defRPr>
            </a:pPr>
            <a:r>
              <a:t>Append-only forward SHA-256 hash chaining. Emits digitally fingerprinted Regulation 19 compliance dossiers with IP, user-agent, and IST timestamps.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NARRATIVE FLOW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End-to-End User Journey: From Drift to Locked Evidence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Chronological storytelling mapping advisor formulation to statutory compliance archive.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01168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1737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4F46E5"/>
                </a:solidFill>
              </a:defRPr>
            </a:pPr>
            <a:r>
              <a:t>STEP 1</a:t>
            </a:r>
          </a:p>
          <a:p>
            <a:pPr>
              <a:spcAft>
                <a:spcPts val="800"/>
              </a:spcAft>
              <a:defRPr b="1" sz="1200">
                <a:solidFill>
                  <a:srgbClr val="0A192F"/>
                </a:solidFill>
              </a:defRPr>
            </a:pPr>
            <a:r>
              <a:t>Phase 1: Drift &amp; Formulation</a:t>
            </a:r>
          </a:p>
          <a:p>
            <a:pPr>
              <a:spcAft>
                <a:spcPts val="1200"/>
              </a:spcAft>
              <a:defRPr sz="1000">
                <a:solidFill>
                  <a:srgbClr val="475569"/>
                </a:solidFill>
              </a:defRPr>
            </a:pPr>
            <a:r>
              <a:t>Suresh detects 15% equity drift. Drafts ₹11.10L rebalance into corporate debt ETF and Gold ETF (secondary market).</a:t>
            </a:r>
          </a:p>
          <a:p>
            <a:pPr>
              <a:defRPr i="1" sz="950">
                <a:solidFill>
                  <a:srgbClr val="94A3B8"/>
                </a:solidFill>
              </a:defRPr>
            </a:pPr>
            <a:r>
              <a:t>[RIA Workspace]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828800"/>
            <a:ext cx="201168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2011680"/>
            <a:ext cx="1737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4F46E5"/>
                </a:solidFill>
              </a:defRPr>
            </a:pPr>
            <a:r>
              <a:t>STEP 2</a:t>
            </a:r>
          </a:p>
          <a:p>
            <a:pPr>
              <a:spcAft>
                <a:spcPts val="800"/>
              </a:spcAft>
              <a:defRPr b="1" sz="1200">
                <a:solidFill>
                  <a:srgbClr val="0A192F"/>
                </a:solidFill>
              </a:defRPr>
            </a:pPr>
            <a:r>
              <a:t>Phase 2: Tax Calculation</a:t>
            </a:r>
          </a:p>
          <a:p>
            <a:pPr>
              <a:spcAft>
                <a:spcPts val="1200"/>
              </a:spcAft>
              <a:defRPr sz="1000">
                <a:solidFill>
                  <a:srgbClr val="475569"/>
                </a:solidFill>
              </a:defRPr>
            </a:pPr>
            <a:r>
              <a:t>Engine calculates ₹11,440 capital gains tax estimate. Generates 48-hour cutoff window and dispatch magic link.</a:t>
            </a:r>
          </a:p>
          <a:p>
            <a:pPr>
              <a:defRPr i="1" sz="950">
                <a:solidFill>
                  <a:srgbClr val="94A3B8"/>
                </a:solidFill>
              </a:defRPr>
            </a:pPr>
            <a:r>
              <a:t>[Tax Engine]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828800"/>
            <a:ext cx="201168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57800" y="2011680"/>
            <a:ext cx="1737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4F46E5"/>
                </a:solidFill>
              </a:defRPr>
            </a:pPr>
            <a:r>
              <a:t>STEP 3</a:t>
            </a:r>
          </a:p>
          <a:p>
            <a:pPr>
              <a:spcAft>
                <a:spcPts val="800"/>
              </a:spcAft>
              <a:defRPr b="1" sz="1200">
                <a:solidFill>
                  <a:srgbClr val="0A192F"/>
                </a:solidFill>
              </a:defRPr>
            </a:pPr>
            <a:r>
              <a:t>Phase 3: Secure Delivery</a:t>
            </a:r>
          </a:p>
          <a:p>
            <a:pPr>
              <a:spcAft>
                <a:spcPts val="1200"/>
              </a:spcAft>
              <a:defRPr sz="1000">
                <a:solidFill>
                  <a:srgbClr val="475569"/>
                </a:solidFill>
              </a:defRPr>
            </a:pPr>
            <a:r>
              <a:t>Delivered via email magic link (WhatsApp on roadmap). Rohan opens link; sensitive data remains encrypted until PAN+DOB unlock.</a:t>
            </a:r>
          </a:p>
          <a:p>
            <a:pPr>
              <a:defRPr i="1" sz="950">
                <a:solidFill>
                  <a:srgbClr val="94A3B8"/>
                </a:solidFill>
              </a:defRPr>
            </a:pPr>
            <a:r>
              <a:t>[Mobile Delivery]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1828800"/>
            <a:ext cx="201168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2360" y="2011680"/>
            <a:ext cx="1737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4F46E5"/>
                </a:solidFill>
              </a:defRPr>
            </a:pPr>
            <a:r>
              <a:t>STEP 4</a:t>
            </a:r>
          </a:p>
          <a:p>
            <a:pPr>
              <a:spcAft>
                <a:spcPts val="800"/>
              </a:spcAft>
              <a:defRPr b="1" sz="1200">
                <a:solidFill>
                  <a:srgbClr val="0A192F"/>
                </a:solidFill>
              </a:defRPr>
            </a:pPr>
            <a:r>
              <a:t>Phase 4: Review &amp; Chat</a:t>
            </a:r>
          </a:p>
          <a:p>
            <a:pPr>
              <a:spcAft>
                <a:spcPts val="1200"/>
              </a:spcAft>
              <a:defRPr sz="1000">
                <a:solidFill>
                  <a:srgbClr val="475569"/>
                </a:solidFill>
              </a:defRPr>
            </a:pPr>
            <a:r>
              <a:t>Rohan reviews trade baskets, asks a clarification in mandate chat. Suresh replies; Rohan accepts terms (Chat != Consent).</a:t>
            </a:r>
          </a:p>
          <a:p>
            <a:pPr>
              <a:defRPr i="1" sz="950">
                <a:solidFill>
                  <a:srgbClr val="94A3B8"/>
                </a:solidFill>
              </a:defRPr>
            </a:pPr>
            <a:r>
              <a:t>[Discussion Rail]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0" y="1828800"/>
            <a:ext cx="201168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2011680"/>
            <a:ext cx="1737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4F46E5"/>
                </a:solidFill>
              </a:defRPr>
            </a:pPr>
            <a:r>
              <a:t>STEP 5</a:t>
            </a:r>
          </a:p>
          <a:p>
            <a:pPr>
              <a:spcAft>
                <a:spcPts val="800"/>
              </a:spcAft>
              <a:defRPr b="1" sz="1200">
                <a:solidFill>
                  <a:srgbClr val="0A192F"/>
                </a:solidFill>
              </a:defRPr>
            </a:pPr>
            <a:r>
              <a:t>Phase 5: OTP &amp; Evidence</a:t>
            </a:r>
          </a:p>
          <a:p>
            <a:pPr>
              <a:spcAft>
                <a:spcPts val="1200"/>
              </a:spcAft>
              <a:defRPr sz="1000">
                <a:solidFill>
                  <a:srgbClr val="475569"/>
                </a:solidFill>
              </a:defRPr>
            </a:pPr>
            <a:r>
              <a:t>Rohan verifies 6-digit OTP. Token burned; Section 63 BSA compliance dossier locked immutably (trade execution by broker/client).</a:t>
            </a:r>
          </a:p>
          <a:p>
            <a:pPr>
              <a:defRPr i="1" sz="950">
                <a:solidFill>
                  <a:srgbClr val="94A3B8"/>
                </a:solidFill>
              </a:defRPr>
            </a:pPr>
            <a:r>
              <a:t>[Audit Ledger]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PROCESS FLOW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Statutory Process Flow Diagram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Deterministic state progression from recommendation to immutable regulatory evidence.</a:t>
            </a:r>
          </a:p>
        </p:txBody>
      </p:sp>
      <p:pic>
        <p:nvPicPr>
          <p:cNvPr id="4" name="Picture 3" descr="process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728655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82512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i="1">
                <a:solidFill>
                  <a:srgbClr val="475569"/>
                </a:solidFill>
                <a:latin typeface="Calibri"/>
              </a:defRPr>
            </a:pPr>
            <a:r>
              <a:t>Figure 7.1: Statutory Process Flow Diagram — SEBI Regulation 19 advisory formulation, Finance Act 2024 tax calculation, OTP authorization, and Section 63 BSA evidence lock.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RIA INTERFACE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The Advisor (RIA) Experience: Formulation &amp; Control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Real screenshots from Prudent Wealth Advisory's institutional advisory center.</a:t>
            </a:r>
          </a:p>
        </p:txBody>
      </p:sp>
      <p:pic>
        <p:nvPicPr>
          <p:cNvPr id="4" name="Picture 3" descr="01-ria-dashboard-firm-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512064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7667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i="1">
                <a:solidFill>
                  <a:srgbClr val="475569"/>
                </a:solidFill>
                <a:latin typeface="Calibri"/>
              </a:defRPr>
            </a:pPr>
            <a:r>
              <a:t>Figure 8.1: Authenticated RIA Dashboard showing portfolio overview and practice mandates.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42255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6936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A192F"/>
                </a:solidFill>
              </a:defRPr>
            </a:pPr>
            <a:r>
              <a:t>Advisor Capabilities &amp; Controls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Practice Workspace: Scoped view displaying active mandate statuses (Draft, Sent, Viewed, Consented, Expired, Revoked) with real-time 48-hour countdown badges.</a:t>
            </a:r>
            <a:br/>
            <a:r>
              <a:t>• Client Registry: Client management enforcing PAN syntax ([A-Z]{5}[0-9]{4}[A-Z]), masked presentation (XXXXX1234F), and mobile number formatting.</a:t>
            </a:r>
            <a:br/>
            <a:r>
              <a:t>• Integrated Rebalance Wizard: Simultaneous formulation of current vs. proposed allocations, sell baskets, buy baskets, and advisory rationale.</a:t>
            </a:r>
            <a:br/>
            <a:r>
              <a:t>• Instant Emergency Revocation: Single-click 'Revoke Link' feature allows advisers to immediately cancel dispatched proposals if market volatility occurs.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CLIENT INTERFACE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The Client Experience: Mobile-First Transparency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Rohan Mehta's proposal review interface designed for executive clarity on smartphones.</a:t>
            </a:r>
          </a:p>
        </p:txBody>
      </p:sp>
      <p:pic>
        <p:nvPicPr>
          <p:cNvPr id="4" name="Picture 3" descr="03_client_mandate_unlo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512064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7667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i="1">
                <a:solidFill>
                  <a:srgbClr val="475569"/>
                </a:solidFill>
                <a:latin typeface="Calibri"/>
              </a:defRPr>
            </a:pPr>
            <a:r>
              <a:t>Figure 9.1: Rohan Mehta's unlocked proposal review showing trade allocations and pre-computed tax.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42255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6936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A192F"/>
                </a:solidFill>
              </a:defRPr>
            </a:pPr>
            <a:r>
              <a:t>Key Client-Facing Elements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Direct Magic Link Convenience: Clients tap the link received via email without remembering complex portal passwords or downloading an app.</a:t>
            </a:r>
            <a:br/>
            <a:r>
              <a:t>• Allocation Drift Visualization: High-contrast visual bars illustrate how portfolio risk is being restored (Equity scaling from 65% down to 50%).</a:t>
            </a:r>
            <a:br/>
            <a:r>
              <a:t>• Transparent Trade Baskets: Exact share quantities, current market value, ISIN numbers, and transaction rationale displayed clearly (Tata Motors, HDFC Bank -&gt; Bharat Bond, Gold ETF).</a:t>
            </a:r>
            <a:br/>
            <a:r>
              <a:t>• Tax Accountability: Pre-computes estimated rupee liability (₹11,440) so the client understands the net financial impact before consenting.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DATA PRIVACY GATE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Mandate Security: Password-Protected Access Gate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Zero sensitive financial disclosure prior to client authentication.</a:t>
            </a:r>
          </a:p>
        </p:txBody>
      </p:sp>
      <p:pic>
        <p:nvPicPr>
          <p:cNvPr id="4" name="Picture 3" descr="02_client_password_requi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512064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7667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i="1">
                <a:solidFill>
                  <a:srgbClr val="475569"/>
                </a:solidFill>
                <a:latin typeface="Calibri"/>
              </a:defRPr>
            </a:pPr>
            <a:r>
              <a:t>Figure 10.1: Client Password Gate on Mobile. Sensitive portfolio holdings remain encrypted until unlocked.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42255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6936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A192F"/>
                </a:solidFill>
              </a:defRPr>
            </a:pPr>
            <a:r>
              <a:t>PAN + DOB Password Mechanism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Zero PII Exposure Prior to Unlock: If a magic link is forwarded, intercepted, or leaked, the recipient sees only the adviser's firm name. Zero stock holdings or tax figures are emitted.</a:t>
            </a:r>
            <a:br/>
            <a:r>
              <a:t>• Deterministic Verification PIN: Password formatted as Last 4 PAN digits + Date of Birth (DDMMYYYY). Example: Rohan's PAN XXXXX1234F + 14/08/1978 = 123414081978.</a:t>
            </a:r>
            <a:br/>
            <a:r>
              <a:t>• PBKDF2 Key Derivation: The password derives a 256-bit cryptographic key using 100,000 SHA-256 iterations to unwrap the Data Encryption Key (DEK).</a:t>
            </a:r>
            <a:br/>
            <a:r>
              <a:t>• Online &amp; Offline Defenses: Acknowledges finite PIN entropy (~10^12 combinations); defended online by sliding-window rate limiters (5 failed attempts -&gt; 15 min lockout) and offline by salted PBKDF2.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MULTI-TENANCY &amp; RBAC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Authentication, Authorization &amp; Tenant Isolation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Architectural barriers guaranteeing strict multi-tenant privacy across advisory practices.</a:t>
            </a:r>
          </a:p>
        </p:txBody>
      </p:sp>
      <p:pic>
        <p:nvPicPr>
          <p:cNvPr id="4" name="Picture 3" descr="11-cross-ria-denied-foreign-cl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512064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7667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i="1">
                <a:solidFill>
                  <a:srgbClr val="475569"/>
                </a:solidFill>
                <a:latin typeface="Calibri"/>
              </a:defRPr>
            </a:pPr>
            <a:r>
              <a:t>Figure 11.1: Security Test Evidence — Cross-tenant client access attempt rejected with HTTP 403 Forbidden.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42255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6936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A192F"/>
                </a:solidFill>
              </a:defRPr>
            </a:pPr>
            <a:r>
              <a:t>Tenancy Invariants &amp; Controls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Firm Tenancy Scoping: Every database query for clients, mandates, and audit logs is strictly partitioned by authenticated firm ID (req.user.firmName).</a:t>
            </a:r>
            <a:br/>
            <a:r>
              <a:t>• Zero Cross-RIA Data Leakage: RIA 1 attempting to query Client or Mandate of RIA 2 receives an immediate HTTP 403 Forbidden with zero data disclosure.</a:t>
            </a:r>
            <a:br/>
            <a:r>
              <a:t>• Role-Based Access Control (RBAC): Strict segregation across sebi-ria, hni-client, compliance_officer, admin, and guest personas.</a:t>
            </a:r>
            <a:br/>
            <a:r>
              <a:t>• Privilege Escalation Defense: Client users navigating to advisor creation or billing routes are intercepted by React Router ProtectedRoute and Express middleware.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CRYPTOGRAPHIC CORE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Data Security Architecture &amp; Dual-Envelope Encryption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Institutional cryptographic defense protecting financial mandates at rest and in transit.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28416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296265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Payload Encryption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Algorithm: AES-256-GCM</a:t>
            </a:r>
            <a:br/>
            <a:r>
              <a:t>• Key: Unique 256-bit random Data Encryption Key (DEK) per mandate.</a:t>
            </a:r>
            <a:br/>
            <a:r>
              <a:t>• IV: 12-byte random initialization vector.</a:t>
            </a:r>
            <a:br/>
            <a:r>
              <a:t>• Auth Tag: 16-byte authentication tag ensuring ciphertext integrity and anti-tampering.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828800"/>
            <a:ext cx="3328416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2011680"/>
            <a:ext cx="296265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4F46E5"/>
                </a:solidFill>
              </a:defRPr>
            </a:pPr>
            <a:r>
              <a:t>Dual Key Wrapping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Server Wrapping: DEK encrypted with isolated Server Master Key (SERVER_MASTER_KEY) via AES-256-GCM for RIA dashboard access.</a:t>
            </a:r>
            <a:br/>
            <a:r>
              <a:t>• Client Wrapping: DEK encrypted with key derived from PBKDF2(PAN_last_4 + DOB, salt, 100,000 rounds).</a:t>
            </a:r>
            <a:br/>
            <a:r>
              <a:t>• Zero Plaintext: Neither plaintext DEK nor client password stored in DB.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828800"/>
            <a:ext cx="3328416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2011680"/>
            <a:ext cx="296265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59669"/>
                </a:solidFill>
              </a:defRPr>
            </a:pPr>
            <a:r>
              <a:t>Transit &amp; Storage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Magic Token Hashing: 256-bit raw token stored in DB strictly as SHA-256 digest (magicTokenHash).</a:t>
            </a:r>
            <a:br/>
            <a:r>
              <a:t>• In-Transit Security: Forced TLS 1.3 with Helmet HSTS (1-year max-age: 31,536,000 seconds).</a:t>
            </a:r>
            <a:br/>
            <a:r>
              <a:t>• Zero Secret Logs: Passwords, OTPs, and bearer tokens sanitized from all logs.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CONSENT VERIFICATION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OTP &amp; Consent Integrity: Anti-Tamper Authorization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Statutory verification guaranteeing explicit non-discretionary consent.</a:t>
            </a:r>
          </a:p>
        </p:txBody>
      </p:sp>
      <p:pic>
        <p:nvPicPr>
          <p:cNvPr id="4" name="Picture 3" descr="06-client-otp-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512064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7667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i="1">
                <a:solidFill>
                  <a:srgbClr val="475569"/>
                </a:solidFill>
                <a:latin typeface="Calibri"/>
              </a:defRPr>
            </a:pPr>
            <a:r>
              <a:t>Figure 13.1: 6-Digit Mobile OTP Verification Modal with 5-minute statutory countdown.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42255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6936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A192F"/>
                </a:solidFill>
              </a:defRPr>
            </a:pPr>
            <a:r>
              <a:t>Statutory Authorization Safeguards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Mandatory Declarations: Clients must actively check 3 statutory declarations (Regulation 19 Informed Consent, Capital Gains Acceptance, Section 63 BSA Electronic Evidence).</a:t>
            </a:r>
            <a:br/>
            <a:r>
              <a:t>• Dynamic 6-Digit OTP: Generated via CSPRNG with 5-minute Time-To-Live (TTL); delivered via registered email and in-app display (SMS disabled by policy; WhatsApp roadmap).</a:t>
            </a:r>
            <a:br/>
            <a:r>
              <a:t>• Brute-Force Lockout: Maximum 3 verification attempts permitted. A 3rd failed attempt immediately locks verification and burns the token (HTTP 429).</a:t>
            </a:r>
            <a:br/>
            <a:r>
              <a:t>• Single-Use Atomic Revocation: The instant consent succeeds, the magic token is burned. Re-accessing the URL returns HTTP 410 Gone, preventing replay attacks.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AUDIT INFRASTRUCTURE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Audit Trail &amp; Compliance Evidence: Cryptographic Proof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Chained SHA-256 audit ledger meeting Section 63 BSA and SEBI Regulation 19 standards.</a:t>
            </a:r>
          </a:p>
        </p:txBody>
      </p:sp>
      <p:pic>
        <p:nvPicPr>
          <p:cNvPr id="4" name="Picture 3" descr="06_consent_locked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512064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7667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i="1">
                <a:solidFill>
                  <a:srgbClr val="475569"/>
                </a:solidFill>
                <a:latin typeface="Calibri"/>
              </a:defRPr>
            </a:pPr>
            <a:r>
              <a:t>Figure 14.1: Section 63 BSA / Section 65B Compliance Receipt issued upon successful consent.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42255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6936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A192F"/>
                </a:solidFill>
              </a:defRPr>
            </a:pPr>
            <a:r>
              <a:t>Legal Admissibility &amp; Hash Chaining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Forward Hash Chaining: Each log entry hashes the previous record: payloadHash = SHA256(prevHash + timestamp + event + payload). Any retroactive tampering breaks the entire chain.</a:t>
            </a:r>
            <a:br/>
            <a:r>
              <a:t>• Section 63 BSA Certificate: Captures client device IP (RFC 5737 203.0.113.12), browser User-Agent, exact IST timestamp, and masked PAN (XXXXX1234F).</a:t>
            </a:r>
            <a:br/>
            <a:r>
              <a:t>• 5-Year Regulatory Preservation: Designed to satisfy SEBI Regulation 19 mandatory 5-year retention requirements for investment advice and rationale.</a:t>
            </a:r>
            <a:br/>
            <a:r>
              <a:t>• Verified Disaster Recovery: Non-destructive drill restored 1,460 audit logs with zero broken hash links.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STATE MACHINE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Mandate Lifecycle &amp; State Model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Strict server-enforced state transitions with zero direct status manipulation.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728655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A192F"/>
                </a:solidFill>
                <a:latin typeface="Consolas"/>
              </a:defRPr>
            </a:pPr>
            <a:r>
              <a:t>               ┌────────────────────────────────────────────────────────┐</a:t>
            </a:r>
            <a:br/>
            <a:r>
              <a:t>               │                                                        │</a:t>
            </a:r>
            <a:br/>
            <a:r>
              <a:t>               ▼                                                        │</a:t>
            </a:r>
            <a:br/>
            <a:r>
              <a:t>          ┌─────────┐            RIA Dispatches Link       ┌──────────┐ │</a:t>
            </a:r>
            <a:br/>
            <a:r>
              <a:t>          │  DRAFT  │ ───────────────────────────────────&gt; │   SENT   │ │</a:t>
            </a:r>
            <a:br/>
            <a:r>
              <a:t>          └─────────┘                                      └──────────┘ │</a:t>
            </a:r>
            <a:br/>
            <a:r>
              <a:t>               │                                                │       │</a:t>
            </a:r>
            <a:br/>
            <a:r>
              <a:t>               │                                                │ Client Inputs</a:t>
            </a:r>
            <a:br/>
            <a:r>
              <a:t>               │                                                │ PAN + DOB Password</a:t>
            </a:r>
            <a:br/>
            <a:r>
              <a:t>               │                                                ▼       │</a:t>
            </a:r>
            <a:br/>
            <a:r>
              <a:t>               │                                           ┌──────────┐ │</a:t>
            </a:r>
            <a:br/>
            <a:r>
              <a:t>               │                                           │  VIEWED  │ │ (In Review)</a:t>
            </a:r>
            <a:br/>
            <a:r>
              <a:t>               │                                           └──────────┘ │</a:t>
            </a:r>
            <a:br/>
            <a:r>
              <a:t>               │                                                │       │</a:t>
            </a:r>
            <a:br/>
            <a:r>
              <a:t>               │                                                │ 1. Accept Declarations</a:t>
            </a:r>
            <a:br/>
            <a:r>
              <a:t>               │ 48-Hour Cutoff                                 │ 2. Verify 6-Digit OTP</a:t>
            </a:r>
            <a:br/>
            <a:r>
              <a:t>               │ Elapsed                                        ▼       │</a:t>
            </a:r>
            <a:br/>
            <a:r>
              <a:t>               │                                           ┌───────────┐│</a:t>
            </a:r>
            <a:br/>
            <a:r>
              <a:t>               ├─────────────────────────────────────────&gt; │ CONSENTED ││ (Immutable Lock)</a:t>
            </a:r>
            <a:br/>
            <a:r>
              <a:t>               │                                           └───────────┘│</a:t>
            </a:r>
            <a:br/>
            <a:r>
              <a:t>               │                                                        │</a:t>
            </a:r>
            <a:br/>
            <a:r>
              <a:t>               │ Advisory Revocation / Market Drift                     │</a:t>
            </a:r>
            <a:br/>
            <a:r>
              <a:t>               ▼                                                        │</a:t>
            </a:r>
            <a:br/>
            <a:r>
              <a:t>          ┌─────────┐                                                   │</a:t>
            </a:r>
            <a:br/>
            <a:r>
              <a:t>          │ REVOKED │ &lt;─────────────────────────────────────────────────┘ (Manual RIA Revoke)</a:t>
            </a:r>
            <a:br/>
            <a:r>
              <a:t>          └─────────┘</a:t>
            </a:r>
            <a:br/>
            <a:r>
              <a:t>               ▲</a:t>
            </a:r>
            <a:br/>
            <a:r>
              <a:t>               │ Cutoff Elapsed Prior to Consent</a:t>
            </a:r>
            <a:br/>
            <a:r>
              <a:t>          ┌─────────┐</a:t>
            </a:r>
            <a:br/>
            <a:r>
              <a:t>          │ EXPIRED │ (48h Window Elapsed)</a:t>
            </a:r>
            <a:br/>
            <a:r>
              <a:t>          └─────────┘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DISCUSSION RAIL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Mandate-Specific Chat: Advisory Clarification vs. Consent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Why in-app discussion is vital for client trust, but legally distinct from trade consent.</a:t>
            </a:r>
          </a:p>
        </p:txBody>
      </p:sp>
      <p:pic>
        <p:nvPicPr>
          <p:cNvPr id="4" name="Picture 3" descr="04_client_chat_ques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512064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7667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i="1">
                <a:solidFill>
                  <a:srgbClr val="475569"/>
                </a:solidFill>
                <a:latin typeface="Calibri"/>
              </a:defRPr>
            </a:pPr>
            <a:r>
              <a:t>Figure 16.1: Rohan posts an inquiry regarding Tata Motors in the password-protected chat rail.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42255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6936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A192F"/>
                </a:solidFill>
              </a:defRPr>
            </a:pPr>
            <a:r>
              <a:t>Statutory Separation of Communication &amp; Consent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Real-Time Contextual Discussion: Allows clients to ask specific allocation or yield questions directly within the mandate context, eliminating scattered WhatsApp threads.</a:t>
            </a:r>
            <a:br/>
            <a:r>
              <a:t>• Complete Audit Archiving: Every message posted by client or advisor is committed to the immutable audit log under CHAT_MESSAGE_SENT.</a:t>
            </a:r>
            <a:br/>
            <a:r>
              <a:t>• ⚠️ CHAT DOES NOT CONSTITUTE CONSENT: Under SEBI Regulation 19, informal dialogue ('Yes go ahead', 'Proceed') CANNOT authorize transactions.</a:t>
            </a:r>
            <a:br/>
            <a:r>
              <a:t>• Uncompromising Consent Rail: Trade authorization strictly requires formal statutory declaration checkboxes followed by 6-digit OTP verification.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TAX ENGINE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Tax-Impact Transparency &amp; Client Decision Support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Eliminating investor tax shocks with pre-trade Finance Act 2024 calculations.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2064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A192F"/>
                </a:solidFill>
              </a:defRPr>
            </a:pPr>
            <a:r>
              <a:t>Finance Act 2024 Statutory Engine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Short-Term Capital Gains (STCG):</a:t>
            </a:r>
            <a:br/>
            <a:r>
              <a:t>  20.0% (Section 111A, Income Tax Act)</a:t>
            </a:r>
            <a:br/>
            <a:r>
              <a:t>  Applied to ₹55,000 gain on Tata Motors = ₹11,000</a:t>
            </a:r>
            <a:br/>
            <a:br/>
            <a:r>
              <a:t>• Long-Term Capital Gains (LTCG):</a:t>
            </a:r>
            <a:br/>
            <a:r>
              <a:t>  12.5% (Section 112A, Income Tax Act)</a:t>
            </a:r>
            <a:br/>
            <a:r>
              <a:t>  Applied above annual aggregate ₹1,25,000 exemption limit.</a:t>
            </a:r>
            <a:br/>
            <a:r>
              <a:t>  ₹1,25,000 gain on HDFC Bank is exempt = ₹0</a:t>
            </a:r>
            <a:br/>
            <a:br/>
            <a:r>
              <a:t>• Health &amp; Education Cess: 4% on base tax = ₹440</a:t>
            </a:r>
            <a:br/>
            <a:br/>
            <a:r>
              <a:t>• Estimated Rupee Tax Liability: ₹11,440</a:t>
            </a:r>
            <a:br/>
            <a:br/>
            <a:r>
              <a:t>• Tax Disclaimers: Excludes individual surcharges (up to 15% on equity capital gains) and prior carried-forward losses. Decision-support estimate only.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42255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69361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D97706"/>
                </a:solidFill>
              </a:defRPr>
            </a:pPr>
            <a:r>
              <a:t>Advance Tax Planning &amp; Caveats (Sec 208 &amp; 234C)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Advance tax applies when estimated net annual tax liability reaches or exceeds ₹10,000, displaying statutory installment deadlines:</a:t>
            </a:r>
            <a:br/>
            <a:br/>
            <a:r>
              <a:t>• 1st Installment (15%): On or before 15th June</a:t>
            </a:r>
            <a:br/>
            <a:r>
              <a:t>• 2nd Installment (45%): On or before 15th September</a:t>
            </a:r>
            <a:br/>
            <a:r>
              <a:t>• 3rd Installment (75%): On or before 15th December</a:t>
            </a:r>
            <a:br/>
            <a:r>
              <a:t>• 4th Installment (100%): On or before 15th March</a:t>
            </a:r>
            <a:br/>
            <a:br/>
            <a:r>
              <a:t>• Proviso to Section 234C: Relieves penal interest for installments prior to the capital gains realization date if remaining tax is paid in subsequent installments.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ACCESSIBILITY &amp; I18N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Multilingual Localization Capability: 8 Languages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Delivering advisory transparency in regional and international languages.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728655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A192F"/>
                </a:solidFill>
              </a:defRPr>
            </a:pPr>
            <a:r>
              <a:t>Multilingual Architecture &amp; Legal Formatting Invariants</a:t>
            </a:r>
          </a:p>
          <a:p>
            <a:pPr>
              <a:spcBef>
                <a:spcPts val="1000"/>
              </a:spcBef>
              <a:defRPr sz="1150">
                <a:solidFill>
                  <a:srgbClr val="475569"/>
                </a:solidFill>
              </a:defRPr>
            </a:pPr>
            <a:r>
              <a:t>• 8 Supported Languages: English (en), Hindi (hi), Tamil (ta), Bengali (bn), Gujarati (gu), German (de), Japanese (ja), Korean (ko).</a:t>
            </a:r>
            <a:br/>
            <a:r>
              <a:t>• Universal Accessibility: HNIs review proposals, disclosures, and receipts in their preferred language.</a:t>
            </a:r>
            <a:br/>
            <a:r>
              <a:t>• Standardized Financial Numerals: Under regulatory standards, all rupee amounts (₹), trade quantities, percentages, and ISIN codes remain strictly in ASCII English numerals across all locales, eliminating ambiguity during legal disputes.</a:t>
            </a:r>
            <a:br/>
            <a:r>
              <a:t>• Profile Language Selection: Advisers and clients can switch languages seamlessly via navigation bar or profile settings.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SYSTEM TOPOLOGY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Technical Architecture Diagram: Security &amp; Service Boundaries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High-level system topology illustrating frontend, API, security engine, and storage tiers.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728655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1018001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A192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┌────────────────────────────────────────────────────────────────────────────────────────┐</a:t>
            </a:r>
            <a:br/>
            <a:r>
              <a:t>│                                   CLIENT &amp; ADVISOR CLIENTS                             │</a:t>
            </a:r>
            <a:br/>
            <a:r>
              <a:t>│   • Desktop Advisory Hub (React 18 / MUI / Vite)       • Mobile Client Review (360px)  │</a:t>
            </a:r>
            <a:br/>
            <a:r>
              <a:t>└───────────────────────────────────────────▲────────────────────────────────────────────┘</a:t>
            </a:r>
            <a:br/>
            <a:r>
              <a:t>                                            │ HTTPS / TLS 1.3 (Helmet HSTS)</a:t>
            </a:r>
            <a:br/>
            <a:r>
              <a:t>┌───────────────────────────────────────────▼────────────────────────────────────────────┐</a:t>
            </a:r>
            <a:br/>
            <a:r>
              <a:t>│                             API GATEWAY &amp; SECURITY MIDDLEWARE                          │</a:t>
            </a:r>
            <a:br/>
            <a:r>
              <a:t>│   • Express REST API (Node.js ESM)                     • CORS Strict Whitelist         │</a:t>
            </a:r>
            <a:br/>
            <a:r>
              <a:t>│   • JWT Auth &amp; TOTP Staff MFA                          • Distributed Sliding Rate Limit│</a:t>
            </a:r>
            <a:br/>
            <a:r>
              <a:t>│   • Tenancy Scoping Middleware (Firm Isolation)        • Input Sanitization &amp; Masking  │</a:t>
            </a:r>
            <a:br/>
            <a:r>
              <a:t>└───────────────────────────────────────────▲────────────────────────────────────────────┘</a:t>
            </a:r>
            <a:br/>
            <a:r>
              <a:t>                                            │</a:t>
            </a:r>
            <a:br/>
            <a:r>
              <a:t>┌───────────────────────────────────────────▼────────────────────────────────────────────┐</a:t>
            </a:r>
            <a:br/>
            <a:r>
              <a:t>│                             FINCONSENT CORE BUSINESS ENGINES                           │</a:t>
            </a:r>
            <a:br/>
            <a:r>
              <a:t>│   • Mandate State Machine Engine                       • Finance Act 2024 Tax Engine   │</a:t>
            </a:r>
            <a:br/>
            <a:r>
              <a:t>│   • Dual-Envelope AES-256-GCM Crypto Engine            • PBKDF2 Client Key Derivation  │</a:t>
            </a:r>
            <a:br/>
            <a:r>
              <a:t>│   • In-App Mandate Clarification Chat Rail             • OTP Verification &amp; Lockout    │</a:t>
            </a:r>
            <a:br/>
            <a:r>
              <a:t>└───────────────────────────────────────────▲────────────────────────────────────────────┘</a:t>
            </a:r>
            <a:br/>
            <a:r>
              <a:t>                                            │</a:t>
            </a:r>
            <a:br/>
            <a:r>
              <a:t>┌───────────────────────────────────────────▼────────────────────────────────────────────┐</a:t>
            </a:r>
            <a:br/>
            <a:r>
              <a:t>│                               PERSISTENT DATA &amp; AUDIT TIERS                            │</a:t>
            </a:r>
            <a:br/>
            <a:r>
              <a:t>│   • MongoDB Atlas (AWS Mumbai ap-south-1)              • Dedicated SERVER_MASTER_KEY   │</a:t>
            </a:r>
            <a:br/>
            <a:r>
              <a:t>│   • Append-Only SHA-256 Chained Audit Ledger           • Point-in-Time Recovery (PITR) │</a:t>
            </a:r>
            <a:br/>
            <a:r>
              <a:t>└────────────────────────────────────────────────────────────────────────────────────────┘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THREAT MODELING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Security Threat Scenarios &amp; Evidenced Protections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Proven runtime boundary enforcement against malicious and accidental vectors.</a:t>
            </a:r>
          </a:p>
        </p:txBody>
      </p:sp>
      <p:pic>
        <p:nvPicPr>
          <p:cNvPr id="4" name="Picture 3" descr="17-otp-lockout-after-3-fail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512064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7667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i="1">
                <a:solidFill>
                  <a:srgbClr val="475569"/>
                </a:solidFill>
                <a:latin typeface="Calibri"/>
              </a:defRPr>
            </a:pPr>
            <a:r>
              <a:t>Figure 20.1: Security Test Evidence — OTP lockout engaged after 3 failed verification attempts.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42255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6936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A192F"/>
                </a:solidFill>
              </a:defRPr>
            </a:pPr>
            <a:r>
              <a:t>Threat Modeling &amp; Defenses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Credential Stuffing &amp; OTP Brute-Force: Sliding-window rate limiters block rapid bursts; 3 failed OTPs permanently lock the token (HTTP 429).</a:t>
            </a:r>
            <a:br/>
            <a:r>
              <a:t>• Cross-Tenant IDOR: Tampering with mandate or client UUIDs across RIA practices rejected with HTTP 403 Forbidden.</a:t>
            </a:r>
            <a:br/>
            <a:r>
              <a:t>• Expired / Replay Attacks: Opening links past the 48-hour cutoff or after successful consent returns HTTP 410 Gone / Revoked.</a:t>
            </a:r>
            <a:br/>
            <a:r>
              <a:t>• Token Sniffing &amp; Database Breaches: Plaintext magic tokens are never persisted in the database (stored strictly as SHA-256 hashes).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EVIDENCE BASE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Operational &amp; Testing Validation: Grounded in Real Runs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Concrete evidence demonstrating zero regressions across automated and browser tests.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46888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2103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059669"/>
                </a:solidFill>
              </a:defRPr>
            </a:pPr>
            <a:r>
              <a:t>200 / 200</a:t>
            </a:r>
          </a:p>
          <a:p>
            <a:pPr>
              <a:spcAft>
                <a:spcPts val="1000"/>
              </a:spcAft>
              <a:defRPr b="1" sz="1200">
                <a:solidFill>
                  <a:srgbClr val="0A192F"/>
                </a:solidFill>
              </a:defRPr>
            </a:pPr>
            <a:r>
              <a:t>Vitest Tests Passing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15 automated test suites running across tax calculation, security, RBAC, i18n, and API regressions (100% pass rate).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828800"/>
            <a:ext cx="246888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2103120"/>
            <a:ext cx="2103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4F46E5"/>
                </a:solidFill>
              </a:defRPr>
            </a:pPr>
            <a:r>
              <a:t>81 Screenshots</a:t>
            </a:r>
          </a:p>
          <a:p>
            <a:pPr>
              <a:spcAft>
                <a:spcPts val="1000"/>
              </a:spcAft>
              <a:defRPr b="1" sz="1200">
                <a:solidFill>
                  <a:srgbClr val="0A192F"/>
                </a:solidFill>
              </a:defRPr>
            </a:pPr>
            <a:r>
              <a:t>Browser Visual Audit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42 baseline, 25 security, and 14 mandate-security screenshots verifying desktop and mobile viewports.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246888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2103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0A192F"/>
                </a:solidFill>
              </a:defRPr>
            </a:pPr>
            <a:r>
              <a:t>1,460 Records</a:t>
            </a:r>
          </a:p>
          <a:p>
            <a:pPr>
              <a:spcAft>
                <a:spcPts val="1000"/>
              </a:spcAft>
              <a:defRPr b="1" sz="1200">
                <a:solidFill>
                  <a:srgbClr val="0A192F"/>
                </a:solidFill>
              </a:defRPr>
            </a:pPr>
            <a:r>
              <a:t>Disaster Recovery Drill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Synthetic non-destructive restore drill verified 1,460 audit logs with zero broken cryptographic hash links.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828800"/>
            <a:ext cx="246888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103120"/>
            <a:ext cx="2103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D97706"/>
                </a:solidFill>
              </a:defRPr>
            </a:pPr>
            <a:r>
              <a:t>0 Broken Chains</a:t>
            </a:r>
          </a:p>
          <a:p>
            <a:pPr>
              <a:spcAft>
                <a:spcPts val="1000"/>
              </a:spcAft>
              <a:defRPr b="1" sz="1200">
                <a:solidFill>
                  <a:srgbClr val="0A192F"/>
                </a:solidFill>
              </a:defRPr>
            </a:pPr>
            <a:r>
              <a:t>SHA-256 Integrity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Full mathematical continuity verified across all state changes, guaranteeing tamper-evident audit records.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INFRASTRUCTURE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Deployment &amp; Hosting Architecture: Indian Data Sovereignty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Compliance with SEBI Cybersecurity Framework (CSCRF) and DPDP directives.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728655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A192F"/>
                </a:solidFill>
              </a:defRPr>
            </a:pPr>
            <a:r>
              <a:t>Infrastructure Specifications</a:t>
            </a:r>
          </a:p>
          <a:p>
            <a:pPr>
              <a:spcBef>
                <a:spcPts val="1000"/>
              </a:spcBef>
              <a:defRPr sz="1150">
                <a:solidFill>
                  <a:srgbClr val="475569"/>
                </a:solidFill>
              </a:defRPr>
            </a:pPr>
            <a:r>
              <a:t>• Territorial Data Residency: In strict compliance with SEBI CSCRF and DPDP Act directives, all primary databases, cryptographic keys, and audit ledgers reside exclusively in AWS Asia Pacific (Mumbai) region (ap-south-1).</a:t>
            </a:r>
            <a:br/>
            <a:r>
              <a:t>• Multi-Stage Production Containers: Multi-stage Docker build packaging optimized Vite static assets and hardened Express Node.js runtime.</a:t>
            </a:r>
            <a:br/>
            <a:r>
              <a:t>• Orchestration &amp; Health: Container architecture with production environment boundaries and automated /api/health checks.</a:t>
            </a:r>
            <a:br/>
            <a:r>
              <a:t>• Key Isolation: Envelope Server Master Key (SERVER_MASTER_KEY) isolated from application authentication secrets (JWT_SECRET).</a:t>
            </a:r>
            <a:br/>
            <a:r>
              <a:t>• Zero Third-Party Tracking: Zero external advertising pixels, external analytics beacons, or overseas CDN assets, ensuring complete client privacy.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BUSINESS IMPACT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Business Value &amp; Practice Impact for Advisory Firms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Quantifiable efficiency, compliance security, and investor satisfaction gains.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28416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296265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59669"/>
                </a:solidFill>
              </a:defRPr>
            </a:pPr>
            <a:r>
              <a:t>Inspection-Ready Compliance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Downloadable Section 63 BSA / Section 65B compliance dossiers provide contemporaneous regulatory evidence.</a:t>
            </a:r>
            <a:br/>
            <a:r>
              <a:t>• Replaces weeks of manual audit trail compilation with instantaneous verification.</a:t>
            </a:r>
            <a:br/>
            <a:r>
              <a:t>• Safeguards RIA practice and principal officers against claims of unauthorized or discretionary trading.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828800"/>
            <a:ext cx="3328416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2011680"/>
            <a:ext cx="296265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4F46E5"/>
                </a:solidFill>
              </a:defRPr>
            </a:pPr>
            <a:r>
              <a:t>Pre-Trade Tax Transparency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Complete pre-trade capital gains tax visibility eliminates investor surprise.</a:t>
            </a:r>
            <a:br/>
            <a:r>
              <a:t>• Proactively alerts clients to quarterly advance tax obligations under Section 208 and 234C.</a:t>
            </a:r>
            <a:br/>
            <a:r>
              <a:t>• Elevates advisory relationship from administrative chasing to high-trust strategic wealth planning.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828800"/>
            <a:ext cx="3328416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2011680"/>
            <a:ext cx="296265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A192F"/>
                </a:solidFill>
              </a:defRPr>
            </a:pPr>
            <a:r>
              <a:t>Streamlined Mobile Turnaround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Accelerates client review and consent turnaround to under 2 hours on mobile.</a:t>
            </a:r>
            <a:br/>
            <a:r>
              <a:t>• Minimizes market slippage during high-volatility rebalancing windows.</a:t>
            </a:r>
            <a:br/>
            <a:r>
              <a:t>• Secure password-protected magic link delivery without requiring client app installation.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THE TRANSFORMATION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The Transformation: What Changes for Advisor and Client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Comparing legacy advisory friction with FinConsent's institutional digital rail.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828800"/>
          <a:ext cx="1072865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3962095"/>
              </a:tblGrid>
              <a:tr h="84124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A192F"/>
                          </a:solidFill>
                        </a:defRPr>
                      </a:pPr>
                      <a:r>
                        <a:t>Advisory Dimension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A192F"/>
                          </a:solidFill>
                        </a:defRPr>
                      </a:pPr>
                      <a:r>
                        <a:t>Legacy Process (Informal / Dispersed)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A192F"/>
                          </a:solidFill>
                        </a:defRPr>
                      </a:pPr>
                      <a:r>
                        <a:t>FinConsent Institutional Digital Rail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Trade Authorization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Fragmented WhatsApp texts or email replies; rejected during SEBI inspection.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Explicit statutory declarations + 6-digit OTP verification with 48h market window.</a:t>
                      </a:r>
                    </a:p>
                  </a:txBody>
                  <a:tcPr/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Capital Gains 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Post-trade surprise tax bill; penal interest under Sections 208 &amp; 234B/C.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Pre-trade Finance Act 2024 calculation with quarterly advance tax alert.</a:t>
                      </a:r>
                    </a:p>
                  </a:txBody>
                  <a:tcPr/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Client 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Confidential trade details sent over plain WhatsApp or email attachments.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Dual-envelope AES-256-GCM encryption with PAN+DOB client password gate.</a:t>
                      </a:r>
                    </a:p>
                  </a:txBody>
                  <a:tcPr/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Audit &amp; Legal Trail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Scattered screenshots and PDFs; inadmissible under Section 63 BSA.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Append-only forward SHA-256 ledger emitting certified Section 63 BSA compliance dossier.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APPENDIX A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Technical Deep-Dive: Cryptographic Invariants &amp; Key Derivation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Formal mathematical specifications for envelope encryption and PBKDF2 KDF.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728655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Cryptographic Implementation Specifications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Cipher: AES-256-GCM (Galois/Counter Mode) with 12-byte random IV and 16-byte authentication tag.</a:t>
            </a:r>
            <a:br/>
            <a:r>
              <a:t>• Key Derivation Function: PBKDF2 with SHA-256 digest, 100,000 rounds in production (1,000 in test mode), and 16-byte random salt.</a:t>
            </a:r>
            <a:br/>
            <a:r>
              <a:t>• Key Derivation Input: Normalized string concatenation of PAN last 4 digits + DOB in DDMMYYYY format.</a:t>
            </a:r>
            <a:br/>
            <a:r>
              <a:t>• Dual Wrapping: Server DEK wrapped with isolated SERVER_MASTER_KEY; Client DEK wrapped with Client Derived Key.</a:t>
            </a:r>
            <a:br/>
            <a:r>
              <a:t>• Invariant: Server never stores client plaintext password or unencrypted DEK in database.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APPENDIX B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Technical Deep-Dive: Role-Based Authorization &amp; Tenant Scoping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Detailed API permission matrix across all platform roles.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828800"/>
          <a:ext cx="1072865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651760"/>
                <a:gridCol w="2743200"/>
                <a:gridCol w="2773375"/>
              </a:tblGrid>
              <a:tr h="701040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0A192F"/>
                          </a:solidFill>
                        </a:defRPr>
                      </a:pPr>
                      <a:r>
                        <a:t>API Route / Resource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0A192F"/>
                          </a:solidFill>
                        </a:defRPr>
                      </a:pPr>
                      <a:r>
                        <a:t>RIA (sebi-ria)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0A192F"/>
                          </a:solidFill>
                        </a:defRPr>
                      </a:pPr>
                      <a:r>
                        <a:t>Client (hni-client)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0A192F"/>
                          </a:solidFill>
                        </a:defRPr>
                      </a:pPr>
                      <a:r>
                        <a:t>Compliance (compliance_officer)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/api/mandates (POST / Create)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ALLOWED (Scoped to firm)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FORBIDDEN (HTTP 403)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FORBIDDEN (Read-only)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/api/mandates/:id/dispatch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ALLOWED (Own mandates only)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FORBIDDEN (HTTP 403)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FORBIDDEN (Read-only)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/api/public/mandates/:t/unlock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N/A (Uses dashboard)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ALLOWED (Valid password)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N/A (Uses compliance hub)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/api/public/mandates/:t/verify-otp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FORBIDDEN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ALLOWED (Valid 6-digit OTP)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FORBIDDEN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/api/requests (Scrutiny)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ALLOWED (Submit requests)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ALLOWED (View own requests)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ALLOWED (Full Adjudication)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APPENDIX C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Technical Deep-Dive: Audit Schema &amp; Section 63 BSA Admissibility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Evidentiary record structures required by Indian legal standards.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728655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Section 63 BSA Electronic Evidence Mandatory Attributes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Under Section 63 of Bharatiya Sakshya Adhiniyam, 2023 (BSA) and Section 65B of erstwhile Indian Evidence Act, secondary electronic records require:</a:t>
            </a:r>
            <a:br/>
            <a:br/>
            <a:r>
              <a:t>1. Origin Identification: Client IP Address (RFC 5737 203.0.113.12) and browser User-Agent recorded at execution time.</a:t>
            </a:r>
            <a:br/>
            <a:r>
              <a:t>2. Synchronized Timestamp: Server-side NTP timestamping localized to Indian Standard Time (IST).</a:t>
            </a:r>
            <a:br/>
            <a:r>
              <a:t>3. Hash Integrity Seal: SHA-256 payloadHash computed over the immutable consent certificate.</a:t>
            </a:r>
            <a:br/>
            <a:r>
              <a:t>4. Device Custody Proof: Evidence that the computer system was operating properly during record generation.</a:t>
            </a:r>
            <a:br/>
            <a:r>
              <a:t>5. Regulation 19 Admissibility: Cryptographically chained forward hashes guarantee zero retroactive modifications.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APPENDIX D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Operational Considerations: Implemented State vs. Roadmap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Clear demarcation between current production capabilities and future roadmap milestones.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2064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59669"/>
                </a:solidFill>
              </a:defRPr>
            </a:pPr>
            <a:r>
              <a:t>Implemented Production Capabilities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Full non-discretionary mandate formulation &amp; tax engine.</a:t>
            </a:r>
            <a:br/>
            <a:r>
              <a:t>• AES-256-GCM dual-envelope encryption &amp; PBKDF2 password gate.</a:t>
            </a:r>
            <a:br/>
            <a:r>
              <a:t>• 256-bit magic links with SHA-256 database hashing &amp; 48h cutoff.</a:t>
            </a:r>
            <a:br/>
            <a:r>
              <a:t>• In-app mandate chat with explicit non-consent separation.</a:t>
            </a:r>
            <a:br/>
            <a:r>
              <a:t>• Section 63 BSA electronic compliance receipts with SHA-256 hash chaining.</a:t>
            </a:r>
            <a:br/>
            <a:r>
              <a:t>• Multi-tenant isolation, RBAC, staff TOTP MFA, and distributed rate limiting.</a:t>
            </a:r>
            <a:br/>
            <a:r>
              <a:t>• 8 supported languages with English ASCII numerals.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42255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69361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4F46E5"/>
                </a:solidFill>
              </a:defRPr>
            </a:pPr>
            <a:r>
              <a:t>Documented Scope &amp; Future Roadmap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Production TRAI DLT SMS Gateway: Current setup delivers OTP via email and in-app display (SMS disabled by policy); commercial SMS requires onboarding a TRAI DLT-registered aggregator.</a:t>
            </a:r>
            <a:br/>
            <a:r>
              <a:t>• WhatsApp Channel Delivery: Currently dispatched via secure email magic links; direct WhatsApp Business API delivery is on the product roadmap.</a:t>
            </a:r>
            <a:br/>
            <a:r>
              <a:t>• CloudHSM Key Management: Envelope Server Master Key isolated via environment config; AWS CloudHSM or KMS recommended for institutional banking tiers.</a:t>
            </a:r>
            <a:br/>
            <a:r>
              <a:t>• Direct Broker Execution: FinConsent intentionally halts at locked statutory consent; execution is handled by client/broker terminal (API execution on roadmap).</a:t>
            </a:r>
            <a:br/>
            <a:r>
              <a:t>• External RFC 3161 Time Stamping: Anchoring ledger roots to an external Time Stamping Authority (TSA).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PILOT PROPOSAL &amp; NEXT STEPS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Institutional Pilot Proposal &amp; Implementation Roadmap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Structured 4-week pilot deployment for fee-only advisory practices with verified commercial terms.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2064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4-Week Phased Implementation Roadmap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Week 1: Practice Setup &amp; Governance Configuration</a:t>
            </a:r>
            <a:br/>
            <a:r>
              <a:t>  Configure SEBI INA registration number (e.g. INA000088921), firm compliance contacts, and staff TOTP MFA.</a:t>
            </a:r>
            <a:br/>
            <a:br/>
            <a:r>
              <a:t>• Week 2: Client Roster Ingestion &amp; Masked Verification</a:t>
            </a:r>
            <a:br/>
            <a:r>
              <a:t>  Import advisory client profiles with validated PAN syntax (XXXXX1234F), DOB attributes, and configure practice rebalancing templates.</a:t>
            </a:r>
            <a:br/>
            <a:br/>
            <a:r>
              <a:t>• Week 3: Controlled Pilot Rebalancing Run</a:t>
            </a:r>
            <a:br/>
            <a:r>
              <a:t>  Execute live mandates with 10–25 client families; demonstrate pre-trade tax visibility and frictionless mobile OTP consent.</a:t>
            </a:r>
            <a:br/>
            <a:br/>
            <a:r>
              <a:t>• Week 4: Compliance Officer Review &amp; Production Rollout</a:t>
            </a:r>
            <a:br/>
            <a:r>
              <a:t>  Audit Section 63 BSA compliance receipts with firm Compliance Officer; transition full practice to automated FinConsent workflows.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42255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69361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4F46E5"/>
                </a:solidFill>
              </a:defRPr>
            </a:pPr>
            <a:r>
              <a:t>Verified Commercial Terms &amp; Pilot Inquiries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Verified Pro Practice Tier: ₹2,499 / month (+ 18% GST statutory cess)</a:t>
            </a:r>
            <a:br/>
            <a:r>
              <a:t>  Includes up to 100 active mandates/month, unlimited client roster, complete tax engine, and statutory 5-year cryptographic audit ledger retention.</a:t>
            </a:r>
            <a:br/>
            <a:br/>
            <a:r>
              <a:t>• Zero Execution Surcharges: FinConsent charges no basis points (bps) or AUM percentages.</a:t>
            </a:r>
            <a:br/>
            <a:br/>
            <a:r>
              <a:t>• Synthetic Demonstration Data: All demonstration credentials and client examples are synthetic.</a:t>
            </a:r>
            <a:br/>
            <a:br/>
            <a:r>
              <a:t>• Practice Inquiries &amp; Pilot Onboarding:</a:t>
            </a:r>
            <a:br/>
            <a:r>
              <a:t>  Official Inquiries: compliance@finconsent.in</a:t>
            </a:r>
            <a:br/>
            <a:r>
              <a:t>  Demonstration Workspace: Prudent Wealth Advisory (SEBI Reg: INA000088921)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