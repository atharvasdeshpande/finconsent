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FinConsent is purpose-built statutory software for Registered Investment Advisers managing non-discretionary portfolios in India. It bridges investment formulation and client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Today, SEBI registered advisers manage crores under non-discretionary agreements, yet 80% still collect approvals over WhatsApp or email. This slide highlights the three systemic failure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our two personas: Suresh, the compliant adviser managing family wealth, and Rohan, the busy client who requires crisp mobile transparency.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that each risk maps directly to Indian statutory codes: SEBI Regulation 19, Income Tax Act Section 234C, and BSA Section 63.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four foundational pillars: Pre-trade Tax, Dual-envelope Encryption, Mobile Consent Rail, and BSA Section 63 Audit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how the three actor lanes interact: Suresh initiates, FinConsent secures and computes, and Rohan authorizes on his mobile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transitions in FinConsent are strictly unidirectional. Once Consented or Expired, a mandate cannot be edited or revived.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8.1 shows the RIA dashboard. Note the 48-hour countdown badges. Advisers retain full control, including instant revocation.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Rohan's actual smartphone review screen. Note how the allocation drift and pre-computed ₹11,440 tax bill are visible before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10.1 shows our password gate. The magic link alone reveals nothing. The client must enter their PAN last 4 and DOB to derive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11.1 demonstrates our tenant isolation test. When an advisor from Firm A attempts to access Firm B's mandate, the API rejects with 403.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Dual-envelope encryption ensures that even if database records are compromised, financial payloads cannot be decrypted without the Server Master Key or client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13.1 displays the client OTP modal. Notice the 3 statutory checkboxes that must be acknowledged before the 6-digit OTP can be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14.1 shows the Section 63 BSA compliance receipt generated at the exact millisecond consent is 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diagram represents the immutable lifecycle state machine. State transitions can only occur through server-validated cryptographic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Figure 16.1, Rohan asks: 'Why sell Tata Motors now?'. Suresh clarifies directly inside the secure mandate. Crucially, chat dialogue never substitutes for OTP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native table shows the verified tax model: ₹11,000 STCG + ₹0 LTCG (exempt under ₹1.25L) + ₹440 cess = ₹11,440. On the right is the advance tax installment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FinConsent supports 8 languages while strictly enforcing ASCII numerals for all financial figures to avoid dispute ambiguities.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architectural topology illustrates the tier separation between frontend, API gateway, core engines, and persistent data tiers in AWS Mumbai.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20.1 shows our automated security test verifying that after 3 failed OTP attempts, verification is permanently 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230 Vitest tests pass with 0 regressions. 81 screenshots verify UI across roles, and 1,460 audit records verified in disaster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sovereignty is absolute: all data resides in AWS Mumbai (ap-south-1). No data leaves Indian territory.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impact is threefold: 100% inspection-ready compliance, zero client tax shocks, and consent turnaround in under two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comparison highlights the operational leap across authorization, tax visibility, data security, and evidentiary admissibility.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 outlines the formal cryptographic specifications: AES-256-GCM, 100,000 rounds of PBKDF2, and zero plaintext secret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B provides the role-based access matrix. Every API endpoint enforces strict authorization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C details the exact criteria required under Section 63 of Bharatiya Sakshya Adhiniyam, 2023 for electronic records to be admitted in court.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D provides transparency on implemented features versus roadmap enhancements like WhatsApp delivery and direct broker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begin, we propose a 4-week pilot starting with 10-25 families. The Pro Practice plan is ₹2,499/month with zero AUM surcharges. Inquiries: compliance@finconsent.in.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FINCONSENT</a:t>
            </a:r>
          </a:p>
          <a:p>
            <a:pPr>
              <a:spcAft>
                <a:spcPts val="2000"/>
              </a:spcAft>
              <a:defRPr sz="2400" b="1">
                <a:solidFill>
                  <a:srgbClr val="A5B4FC"/>
                </a:solidFill>
                <a:latin typeface="Calibri"/>
              </a:defRPr>
            </a:pPr>
            <a:r>
              <a:t>Enterprise Statutory Trade Authorization &amp; Tax Infrastructure for Indian RIAs</a:t>
            </a:r>
          </a:p>
          <a:p>
            <a:pPr>
              <a:spcAft>
                <a:spcPts val="32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Engineered specifically to operationalize SEBI (Investment Advisers) Regulations, 2013 Regulation 19 compliance, eliminate pre-trade capital gains tax surprises under Finance Act 2024, and establish immutable Section 63 Bharatiya Sakshya Adhiniyam, 2023 (BSA) electronic evidence.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SEBI Regulation 19 Compliant  |  • Finance Act 2024 Tax Engine  |  • BSA §63 Cryptographic Receipts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05840"/>
            <a:ext cx="2926080" cy="512064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mobile_unlock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1115568"/>
            <a:ext cx="2779776" cy="4901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618134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Rohan Mehta's Mobile Verification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1 of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EXECUTIVE AGENDA &amp; INDUSTRY CONTEXT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The Operational Crisis Facing Indian Investment Advisers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Why legacy approval methods fail both regulatory audits and investor trust.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12344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600">
                <a:solidFill>
                  <a:srgbClr val="E11D48"/>
                </a:solidFill>
              </a:defRPr>
            </a:pPr>
            <a:r>
              <a:t>1. Informal WhatsApp &amp; Email Approvals (Regulatory Rejection)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Advisers routinely gather approvals over text messages or calls. SEBI inspection teams reject informal communications under Regulation 19 record-keeping rules, leaving RIAs vulnerable to claims of unauthorized trading. Such communications fail Section 63 BSA electronic admissibility standards.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728655" cy="1234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401568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600">
                <a:solidFill>
                  <a:srgbClr val="D97706"/>
                </a:solidFill>
              </a:defRPr>
            </a:pPr>
            <a:r>
              <a:t>2. Post-Trade Capital Gains Tax Shocks (Investor Friction)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Finance Act 2024 increased STCG to 20% and LTCG to 12.5% (+ 4% cess). When rebalancing occurs without pre-trade tax visibility, investors are blindsided by unexpected tax liabilities and penalty interest under Section 208 and 234C where liability reaches ₹10,000.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64608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600">
                <a:solidFill>
                  <a:srgbClr val="0A192F"/>
                </a:solidFill>
              </a:defRPr>
            </a:pPr>
            <a:r>
              <a:t>3. Fragmented Audit Trails (Inadmissible in Disputes)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Advice, rationale, client responses, and execution logs live in disconnected silos. Compiling annual compliance records takes weeks. Raw screenshots lack cryptographic hash continuity and device provenance, rendering them contestable before regulatory authorities.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2 of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USER PERSONAS &amp; OPERATIONAL CONTEXT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Grounding Compliance in Human Realities: Suresh &amp; Rohan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A fee-only RIA managing family wealth and an executive demanding frictionless transparency.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A192F"/>
                </a:solidFill>
              </a:defRPr>
            </a:pPr>
            <a:r>
              <a:t>SURESH NARAYANAN  [SN]</a:t>
            </a:r>
          </a:p>
          <a:p>
            <a:pPr>
              <a:spcAft>
                <a:spcPts val="1000"/>
              </a:spcAft>
              <a:defRPr sz="1300">
                <a:solidFill>
                  <a:srgbClr val="4F46E5"/>
                </a:solidFill>
              </a:defRPr>
            </a:pPr>
            <a:r>
              <a:t>Principal Officer &amp; Founder, Prudent Wealth Advisory (SEBI Reg: INA000088921)</a:t>
            </a:r>
          </a:p>
          <a:p>
            <a:pPr>
              <a:spcAft>
                <a:spcPts val="800"/>
              </a:spcAft>
              <a:defRPr b="1" sz="1300">
                <a:solidFill>
                  <a:srgbClr val="1E293B"/>
                </a:solidFill>
              </a:defRPr>
            </a:pPr>
            <a:r>
              <a:t>Key Metrics:  ₹180 Crores AUM   |   75 Affluent Families   |   Fee-Only Model</a:t>
            </a:r>
          </a:p>
          <a:p>
            <a:pPr>
              <a:spcAft>
                <a:spcPts val="1200"/>
              </a:spcAft>
              <a:defRPr sz="1400">
                <a:solidFill>
                  <a:srgbClr val="475569"/>
                </a:solidFill>
              </a:defRPr>
            </a:pPr>
            <a:r>
              <a:t>• Role: Non-discretionary investment formulation, asset allocation, and rebalancing.</a:t>
            </a:r>
            <a:br/>
            <a:r>
              <a:t>• Pain Point: Surging equity markets triggered 15%+ allocation drift. Needs immediate consent without administrative phone chasing or legal exposure.</a:t>
            </a:r>
            <a:br/>
            <a:r>
              <a:t>• Statutory Need: Mandated 5-year audit trail for rationale under SEBI Regulation 19.</a:t>
            </a:r>
          </a:p>
          <a:p>
            <a:pPr>
              <a:defRPr i="1" sz="1300">
                <a:solidFill>
                  <a:srgbClr val="4F46E5"/>
                </a:solidFill>
              </a:defRPr>
            </a:pPr>
            <a:r>
              <a:t>“I cannot risk my SEBI licence on unrecorded phone calls or casual text messages. When markets drift, I need a verifiable, locked consent record in under an hour.”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828800"/>
            <a:ext cx="52120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A192F"/>
                </a:solidFill>
              </a:defRPr>
            </a:pPr>
            <a:r>
              <a:t>ROHAN MEHTA  [RM]</a:t>
            </a:r>
          </a:p>
          <a:p>
            <a:pPr>
              <a:spcAft>
                <a:spcPts val="1000"/>
              </a:spcAft>
              <a:defRPr sz="1300">
                <a:solidFill>
                  <a:srgbClr val="059669"/>
                </a:solidFill>
              </a:defRPr>
            </a:pPr>
            <a:r>
              <a:t>Managing Director, Auto-Tech Firm, Pune (Masked PAN: XXXXX1234F)</a:t>
            </a:r>
          </a:p>
          <a:p>
            <a:pPr>
              <a:spcAft>
                <a:spcPts val="800"/>
              </a:spcAft>
              <a:defRPr b="1" sz="1300">
                <a:solidFill>
                  <a:srgbClr val="1E293B"/>
                </a:solidFill>
              </a:defRPr>
            </a:pPr>
            <a:r>
              <a:t>Key Metrics:  ₹4.2 Crore Portfolio   |   2-Minute Review Limit   |   Mobile-First</a:t>
            </a:r>
          </a:p>
          <a:p>
            <a:pPr>
              <a:spcAft>
                <a:spcPts val="1200"/>
              </a:spcAft>
              <a:defRPr sz="1400">
                <a:solidFill>
                  <a:srgbClr val="475569"/>
                </a:solidFill>
              </a:defRPr>
            </a:pPr>
            <a:r>
              <a:t>• Role: Busy corporate executive reviewing financial proposals on smartphone.</a:t>
            </a:r>
            <a:br/>
            <a:r>
              <a:t>• Pain Point: Refuses to read lengthy PDF attachments or guess year-end capital gains taxes while travelling between meetings.</a:t>
            </a:r>
            <a:br/>
            <a:r>
              <a:t>• Expectation: 2-minute mobile authorization flow with exact rupee tax impact before agreeing.</a:t>
            </a:r>
          </a:p>
          <a:p>
            <a:pPr>
              <a:defRPr i="1" sz="1300">
                <a:solidFill>
                  <a:srgbClr val="059669"/>
                </a:solidFill>
              </a:defRPr>
            </a:pPr>
            <a:r>
              <a:t>“Tell me exactly what we are buying and selling, why we are doing it, and what my tax bill is. If it takes more than 2 minutes on my phone, I will postpone it.”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3 of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FRICTION &amp; RISK ANALYSIS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Four Critical Vulnerabilities of Legacy Approval Channels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Analyzing the legal, financial, and operational penalties of informal processes.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92808"/>
            <a:ext cx="1014984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E11D48"/>
                </a:solidFill>
              </a:defRPr>
            </a:pPr>
            <a:r>
              <a:t>SEBI Regulation 19 Compliance Exposure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Failing to maintain contemporaneous records of investment advice, rationale, and documented client agreement for 5 years leaves advisers vulnerable during mandatory inspections and enforcement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81528"/>
            <a:ext cx="1014984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D97706"/>
                </a:solidFill>
              </a:defRPr>
            </a:pPr>
            <a:r>
              <a:t>Advance Tax Penal Interest (Sec 208, 234B &amp; 234C)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Selling equities without advance tax warnings triggers 1% monthly penal interest if net tax liability reaches ₹10,000; requires planning under Section 234C capital gains installment relief proviso.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70248"/>
            <a:ext cx="1014984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4F46E5"/>
                </a:solidFill>
              </a:defRPr>
            </a:pPr>
            <a:r>
              <a:t>Electronic Evidence Inadmissibility (BSA Sec 63 / Sec 65B)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Under Section 63 of Bharatiya Sakshya Adhiniyam, 2023, raw text screenshots lack server hash continuity and device provenance required for judicial and regulatory admissibility.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4924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458968"/>
            <a:ext cx="1014984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A192F"/>
                </a:solidFill>
              </a:defRPr>
            </a:pPr>
            <a:r>
              <a:t>Operational Delay &amp; Market Slippage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Chasing clients across phone calls and emails causes days of delay, during which market prices drift and optimal rebalancing windows evaporate.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4 of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PLATFORM ARCHITECTURE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FinConsent Solution Overview: The Four Core Pillars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An integrated statutory infrastructure bridging advisory formulation and client mobile consent.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4297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01168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D97706"/>
                </a:solidFill>
              </a:defRPr>
            </a:pPr>
            <a:r>
              <a:t>1. Pre-Trade Tax Transparency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Dynamic Finance Act 2024 tax engine. Real-time STCG (20%) and LTCG (12.5% + 4% cess) computation with quarterly advance tax alerts under Section 208 / 234C.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4297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201168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4F46E5"/>
                </a:solidFill>
              </a:defRPr>
            </a:pPr>
            <a:r>
              <a:t>2. Dual-Envelope Encryption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AES-256-GCM encryption with dual key wrapping and isolated Server Master Key. Financial data remains encrypted at rest until client unlocks via PAN last 4 + DOB.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68880" cy="4297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201168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059669"/>
                </a:solidFill>
              </a:defRPr>
            </a:pPr>
            <a:r>
              <a:t>3. Secure Mobile Consent Rail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Direct password-protected 256-bit magic links. Responsive smartphone layout, mandate clarification chat, and secure email/in-app 6-digit OTP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4688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201168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0A192F"/>
                </a:solidFill>
              </a:defRPr>
            </a:pPr>
            <a:r>
              <a:t>4. Section 63 BSA Audit Ledger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Append-only forward SHA-256 hash chaining. Emits digitally fingerprinted Regulation 19 compliance dossiers with IP, User-Agent, and IST timestamps.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5 of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NARRATIVE FLOW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End-to-End User Journey: Advisor, Platform &amp; Client Lanes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Chronological sequence mapping advisory formulation to statutory compliance archive.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500">
                <a:solidFill>
                  <a:srgbClr val="0A192F"/>
                </a:solidFill>
              </a:defRPr>
            </a:pPr>
            <a:r>
              <a:t>ADVISOR LANE (RIA: Suresh Narayanan)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1. Detects 15% equity drift in Rohan's portfolio  ➜  2. Drafts sell and buy baskets with statutory rationale  ➜  3. Dispatches encrypted mandate with 48h market window  ➜  6. Clarifies questions in chat rail.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728655" cy="12801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401568"/>
            <a:ext cx="101498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500">
                <a:solidFill>
                  <a:srgbClr val="4F46E5"/>
                </a:solidFill>
              </a:defRPr>
            </a:pPr>
            <a:r>
              <a:t>FINCONSENT ENGINE (Platform Core)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Calculates ₹11,440 capital gains tax estimate  ➜  Derives dual-envelope AES-256-GCM keys  ➜  Delivers magic link  ➜  Issues 6-digit OTP (5m TTL)  ➜  Chains SHA-256 audit ledger.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64608"/>
            <a:ext cx="101498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500">
                <a:solidFill>
                  <a:srgbClr val="059669"/>
                </a:solidFill>
              </a:defRPr>
            </a:pPr>
            <a:r>
              <a:t>CLIENT LANE (HNI: Rohan Mehta)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4. Receives link on smartphone  ➜  5. Unlocks proposal via PAN last 4 + DOB  ➜  Reviews drift &amp; tax  ➜  7. Asks question in chat  ➜  8. Accepts declarations &amp; enters 6-digit OTP  ➜  Receives signed receipt.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6 of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PROCESS ARCHITECTURE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Statutory State Progression: Happy Path &amp; Exception Boundaries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Deterministic finite-state machine governing advisory recommendations and legal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59669"/>
                </a:solidFill>
              </a:defRPr>
            </a:pPr>
            <a:r>
              <a:t>MAIN STATUTORY JOURNEY (Deterministic Progression to Legal Lock)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[DRAFT]  Advisor formulates trade baskets &amp; rationale</a:t>
            </a:r>
            <a:br/>
            <a:r>
              <a:t>  ➜  [SENT]  Encrypted magic link dispatched with 48-hour cutoff window</a:t>
            </a:r>
            <a:br/>
            <a:r>
              <a:t>  ➜  [VIEWED / IN REVIEW]  Client unlocks via PAN+DOB; full tax &amp; drift displayed</a:t>
            </a:r>
            <a:br/>
            <a:r>
              <a:t>  ➜  [CONSENTED]  3 statutory declarations accepted &amp; 6-digit OTP verified</a:t>
            </a:r>
            <a:br/>
            <a:r>
              <a:t>  ➜  [EVIDENCE LOCKED]  SHA-256 chained receipt emitted; trade executed via broker.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7286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5196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E11D48"/>
                </a:solidFill>
              </a:defRPr>
            </a:pPr>
            <a:r>
              <a:t>TERMINAL EXCEPTION BOUNDARIES (Strict Safety Limits)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EXPIRED STATE: If 48-hour cutoff window elapses prior to OTP entry, proposal becomes permanently inaccessible (HTTP 410 Gone) to prevent stale market execution.</a:t>
            </a:r>
            <a:br/>
            <a:r>
              <a:t>• REVOKED STATE: Advisor can click 'Revoke Link' at any moment if market volatility alters optimal rebalance strategy, immediately terminating client access.</a:t>
            </a:r>
            <a:br/>
            <a:r>
              <a:t>• LOCKED OUT STATE: 3 consecutive failed OTP attempts immediately locks authorization and burns the token (HTTP 429), defending against brute force.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7 of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RIA WORKSPACE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The Advisor (RIA) Experience: Formulation &amp; Real-Time Control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Prudent Wealth Advisory center showing active practice mandates and countdown timers.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90195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190195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9019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ria-dashboard-firm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5047488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18134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Figure 8.1: Authenticated RIA Dashboard showing portfolio overview and practice mandates.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422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93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A192F"/>
                </a:solidFill>
              </a:defRPr>
            </a:pPr>
            <a:r>
              <a:t>Advisor Capabilities &amp; Controls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[1] Practice Workspace: Scoped view displaying active mandates (Draft, Sent, Viewed, Consented, Expired, Revoked) with live 48-hour countdown badges.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[2] Client Registry: Client management enforcing valid PAN syntax ([A-Z]{5}[0-9]{4}[A-Z]), masked presentation (XXXXX1234F), and mobile formatting.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[3] Rebalance Formulation: Simultaneous formulation of current vs target allocations, sell baskets, buy baskets, and investment rationale.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[4] Emergency Revocation: One-click 'Revoke Link' feature allows advisers to immediately cancel dispatched proposals if market conditions shift.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8 of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CLIENT INTERFACE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The Client Experience: Mobile-First Transparency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Rohan Mehta's smartphone review interface designed for executive clarity on the go.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737360"/>
            <a:ext cx="2560320" cy="457200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-client-review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847088"/>
            <a:ext cx="2414016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6364224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Figure 9.1: Rohan Mehta's Mobile Proposal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737360"/>
            <a:ext cx="73152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92024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A192F"/>
                </a:solidFill>
              </a:defRPr>
            </a:pPr>
            <a:r>
              <a:t>Key Client-Facing Elements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[1] Direct Magic Link Convenience: Clients tap the link received via email without remembering portal passwords or downloading an app.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[2] Allocation Drift Visualization: High-contrast visual bars illustrate how portfolio risk is being restored (Equity scaling from 65% down to 50%).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[3] Transparent Trade Baskets: Exact share quantities, current market value, ISIN numbers, and rationale displayed clearly (Tata Motors, HDFC Bank -&gt; Bharat Bond, Gold ETF).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[4] Pre-Computed Tax Liability: Displays estimated rupee liability (₹11,440) so the client understands net financial impact before consenting.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9 of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DATA PRIVACY GATE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Mandate Security: Password-Protected Access Gate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Zero sensitive financial disclosure prior to client identity verification.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2560320" cy="457200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client_password_requ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847088"/>
            <a:ext cx="2414016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364224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Figure 10.1: Client Password Gate on Mobile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737360"/>
            <a:ext cx="7498079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920240"/>
            <a:ext cx="6949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PAN + DOB Password Mechanism &amp; PBKDF2 Sequence</a:t>
            </a:r>
          </a:p>
          <a:p>
            <a:pPr>
              <a:spcAft>
                <a:spcPts val="1200"/>
              </a:spcAft>
              <a:defRPr b="1" sz="1300">
                <a:solidFill>
                  <a:srgbClr val="4F46E5"/>
                </a:solidFill>
              </a:defRPr>
            </a:pPr>
            <a:r>
              <a:t>Sequence:  Magic Link  ➜  Password Entry (PAN Last 4 + DOB)  ➜  PBKDF2 Key Derivation  ➜  DEK Unwrap  ➜  AES-256-GCM Decrypt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</a:defRPr>
            </a:pPr>
            <a:r>
              <a:t>• Zero PII Exposure Prior to Unlock: If a link is leaked or forwarded, the recipient sees only the adviser firm name. Zero holdings or tax figures are emitted.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</a:defRPr>
            </a:pPr>
            <a:r>
              <a:t>• Deterministic Verification PIN: Password formatted as Last 4 PAN digits + Date of Birth (DDMMYYYY). Example: Rohan's PAN XXXXX1234F + 14/08/1978 = 123414081978.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</a:defRPr>
            </a:pPr>
            <a:r>
              <a:t>• PBKDF2 Key Derivation: Derives 256-bit cryptographic key using 100,000 SHA-256 iterations to unwrap the Data Encryption Key (DEK).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</a:defRPr>
            </a:pPr>
            <a:r>
              <a:t>• Strict Online Rate Limiting: Defended online by sliding-window rate limiters (5 failed attempts -&gt; 15 min lockout) and offline by salted PBKDF2.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10 of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MULTI-TENANCY &amp; RBAC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Authentication, Authorization &amp; Tenant Isolation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Architectural barriers guaranteeing strict multi-tenant privacy across advisory practices.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90195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190195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9019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-cross-ria-denied-foreign-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5047488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18134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Figure 11.1: Security Evidence — Cross-tenant access rejected with HTTP 403 Forbidden.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422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93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A192F"/>
                </a:solidFill>
              </a:defRPr>
            </a:pPr>
            <a:r>
              <a:t>Tenancy Invariants &amp; Controls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Firm Tenancy Scoping: Every database query for clients, mandates, and audit logs is strictly partitioned by authenticated firm ID (req.user.firmName).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Zero Cross-RIA Data Leakage: RIA 1 attempting to query Client or Mandate of RIA 2 receives an immediate HTTP 403 Forbidden with zero data disclosure.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Role-Based Access Control (RBAC): Strict segregation across sebi-ria, hni-client, compliance_officer, admin, and guest personas.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Privilege Escalation Defense: Client users navigating to advisor creation or billing routes are intercepted by React ProtectedRoute and Express middleware.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11 of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CRYPTOGRAPHIC CORE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Data Security Architecture &amp; Dual-Envelope Encryption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Institutional cryptographic defense protecting financial mandates at rest and in transit.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Payload Encryption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• Algorithm: AES-256-GCM</a:t>
            </a:r>
            <a:br/>
            <a:r>
              <a:t>• Unique Key: 256-bit random Data Encryption Key (DEK) per mandate</a:t>
            </a:r>
            <a:br/>
            <a:r>
              <a:t>• IV: 12-byte random initialization vector</a:t>
            </a:r>
            <a:br/>
            <a:r>
              <a:t>• Auth Tag: 16-byte authentication tag ensuring anti-tampering.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328416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201168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4F46E5"/>
                </a:solidFill>
              </a:defRPr>
            </a:pPr>
            <a:r>
              <a:t>Dual Key Wrapping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• Server Wrapping: DEK encrypted with isolated Server Master Key (SERVER_MASTER_KEY) for RIA dashboard access.</a:t>
            </a:r>
            <a:br/>
            <a:r>
              <a:t>• Client Wrapping: DEK encrypted with PBKDF2(PAN_last_4 + DOB, 100k rounds).</a:t>
            </a:r>
            <a:br/>
            <a:r>
              <a:t>• Zero Plaintext: Neither plaintext DEK nor password stored in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328416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201168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59669"/>
                </a:solidFill>
              </a:defRPr>
            </a:pPr>
            <a:r>
              <a:t>Transit &amp; Storage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• Magic Token Hashing: 256-bit token stored strictly as SHA-256 digest in database.</a:t>
            </a:r>
            <a:br/>
            <a:r>
              <a:t>• In-Transit Security: Forced TLS 1.3 with Helmet HSTS (1-year max-age: 31,536,000s).</a:t>
            </a:r>
            <a:br/>
            <a:r>
              <a:t>• Sanitized Logs: Credentials, OTPs, and tokens scrubbed from all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12 of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CONSENT VERIFICATION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OTP &amp; Consent Integrity: Anti-Tamper Authorization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Statutory verification guaranteeing explicit non-discretionary client approval.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90195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190195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9019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-client-otp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5047488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18134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Figure 13.1: 6-Digit Mobile OTP Modal with 5-minute statutory timer.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422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93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A192F"/>
                </a:solidFill>
              </a:defRPr>
            </a:pPr>
            <a:r>
              <a:t>Statutory Authorization Safeguards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Mandatory Declarations: Clients must actively check 3 statutory declarations (Regulation 19 Informed Consent, Capital Gains Acceptance, Section 63 BSA Evidence).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Dynamic 6-Digit OTP: Generated via CSPRNG with 5-minute Time-To-Live (TTL); delivered via registered email and in-app display (SMS disabled by policy).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3-Attempt Brute-Force Lockout: Maximum 3 attempts allowed. A 3rd failed attempt immediately locks verification and burns the token (HTTP 429).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Single-Use Atomic Revocation: The instant consent succeeds, the magic token is burned. Re-accessing returns HTTP 410 Gone, preventing replay attacks.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13 of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AUDIT INFRASTRUCTURE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Audit Trail &amp; Compliance Evidence: Cryptographic Proof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Chained SHA-256 audit ledger meeting Section 63 BSA and SEBI Regulation 19 standards.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90195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190195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9019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consent_locked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5047488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18134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Figure 14.1: Section 63 BSA / Section 65B Compliance Receipt.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422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93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A192F"/>
                </a:solidFill>
              </a:defRPr>
            </a:pPr>
            <a:r>
              <a:t>Legal Admissibility &amp; Hash Chaining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Forward Hash Chaining: Each log entry hashes the previous record: payloadHash = SHA256(prevHash + timestamp + event + payload). Any retroactive tampering breaks the entire chain.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Section 63 BSA Certificate: Captures client device IP (RFC 5737 203.0.113.12), browser User-Agent, exact IST timestamp, and masked PAN (XXXXX1234F).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5-Year Regulatory Preservation: Designed to satisfy SEBI Regulation 19 mandatory 5-year retention requirements for investment advice and rationale.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Verified Disaster Recovery: Non-destructive drill restored 1,460 audit logs with zero broken cryptographic hash links.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14 of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STATE MACHINE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Mandate Lifecycle &amp; State Model: Server-Enforced Transitions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Finite-state machine guaranteeing deterministic transitions with zero client-side bypass.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A192F"/>
                </a:solidFill>
                <a:latin typeface="Consolas"/>
              </a:defRPr>
            </a:pPr>
            <a:r>
              <a:t>               ┌────────────────────────────────────────────────────────┐</a:t>
            </a:r>
            <a:br/>
            <a:r>
              <a:t>               │                                                        │</a:t>
            </a:r>
            <a:br/>
            <a:r>
              <a:t>               ▼                                                        │</a:t>
            </a:r>
            <a:br/>
            <a:r>
              <a:t>          ┌─────────┐            RIA Dispatches Link       ┌──────────┐ │</a:t>
            </a:r>
            <a:br/>
            <a:r>
              <a:t>          │  DRAFT  │ ───────────────────────────────────&gt; │   SENT   │ │</a:t>
            </a:r>
            <a:br/>
            <a:r>
              <a:t>          └─────────┘                                      └──────────┘ │</a:t>
            </a:r>
            <a:br/>
            <a:r>
              <a:t>               │                                                │       │</a:t>
            </a:r>
            <a:br/>
            <a:r>
              <a:t>               │                                                │ Client Inputs</a:t>
            </a:r>
            <a:br/>
            <a:r>
              <a:t>               │                                                │ PAN + DOB Password</a:t>
            </a:r>
            <a:br/>
            <a:r>
              <a:t>               │                                                ▼       │</a:t>
            </a:r>
            <a:br/>
            <a:r>
              <a:t>               │                                           ┌──────────┐ │</a:t>
            </a:r>
            <a:br/>
            <a:r>
              <a:t>               │                                           │  VIEWED  │ │ (In Review)</a:t>
            </a:r>
            <a:br/>
            <a:r>
              <a:t>               │                                           └──────────┘ │</a:t>
            </a:r>
            <a:br/>
            <a:r>
              <a:t>               │                                                │       │</a:t>
            </a:r>
            <a:br/>
            <a:r>
              <a:t>               │                                                │ 1. Accept Declarations</a:t>
            </a:r>
            <a:br/>
            <a:r>
              <a:t>               │ 48-Hour Cutoff                                 │ 2. Verify 6-Digit OTP</a:t>
            </a:r>
            <a:br/>
            <a:r>
              <a:t>               │ Elapsed                                        ▼       │</a:t>
            </a:r>
            <a:br/>
            <a:r>
              <a:t>               │                                           ┌───────────┐│</a:t>
            </a:r>
            <a:br/>
            <a:r>
              <a:t>               ├─────────────────────────────────────────&gt; │ CONSENTED ││ (Immutable Lock)</a:t>
            </a:r>
            <a:br/>
            <a:r>
              <a:t>               │                                           └───────────┘│</a:t>
            </a:r>
            <a:br/>
            <a:r>
              <a:t>               │                                                        │</a:t>
            </a:r>
            <a:br/>
            <a:r>
              <a:t>               │ Advisory Revocation / Market Drift                     │</a:t>
            </a:r>
            <a:br/>
            <a:r>
              <a:t>               ▼                                                        │</a:t>
            </a:r>
            <a:br/>
            <a:r>
              <a:t>          ┌─────────┐                                                   │</a:t>
            </a:r>
            <a:br/>
            <a:r>
              <a:t>          │ REVOKED │ &lt;─────────────────────────────────────────────────┘ (Manual RIA Revoke)</a:t>
            </a:r>
            <a:br/>
            <a:r>
              <a:t>          └─────────┘</a:t>
            </a:r>
            <a:br/>
            <a:r>
              <a:t>               ▲</a:t>
            </a:r>
            <a:br/>
            <a:r>
              <a:t>               │ Cutoff Elapsed Prior to Consent</a:t>
            </a:r>
            <a:br/>
            <a:r>
              <a:t>          ┌─────────┐</a:t>
            </a:r>
            <a:br/>
            <a:r>
              <a:t>          │ EXPIRED │ (48h Window Elapsed)</a:t>
            </a:r>
            <a:br/>
            <a:r>
              <a:t>          └─────────┘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15 of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DISCUSSION RAIL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Mandate-Specific Chat: Advisory Clarification vs. Consent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Why in-app discussion is vital for client trust, but legally distinct from trade consent.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90195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190195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9019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client_chat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5047488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18134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Figure 16.1: Rohan posts an inquiry regarding Tata Motors in the password-protected chat.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422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93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A192F"/>
                </a:solidFill>
              </a:defRPr>
            </a:pPr>
            <a:r>
              <a:t>Separation of Communication &amp; Consent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Real-Time Contextual Discussion: Allows clients to ask specific allocation or yield questions directly within the mandate context, eliminating scattered WhatsApp threads.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Complete Audit Archiving: Every message posted by client or advisor is committed to the immutable audit log under CHAT_MESSAGE_SENT.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⚠️ CHAT DOES NOT CONSTITUTE CONSENT: Under SEBI Regulation 19, informal dialogue ('Yes go ahead', 'Proceed') CANNOT authorize transactions.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Uncompromising Consent Rail: Trade authorization strictly requires formal statutory declaration checkboxes followed by 6-digit OTP verification.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16 of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TAX ENGINE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Tax-Impact Transparency: Finance Act 2024 Engine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Pre-trade capital gains tax visibility eliminating investor surprise liabilities.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5669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280160"/>
                <a:gridCol w="118872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Statutory Rate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Taxable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Estimated Tax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STCG (Tata Motors)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20.0% (Sec 111A)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₹55,000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₹11,000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LTCG (HDFC Bank)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12.5% (Sec 112A)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₹1,25,000 (Exempt)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Health &amp; Educ. 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4.0% on Base 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On ₹11,000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₹440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</a:defRPr>
                      </a:pPr>
                      <a:r>
                        <a:t>Total Estimated Tax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</a:defRPr>
                      </a:pPr>
                      <a:r>
                        <a:t>Finance Act 2024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</a:defRPr>
                      </a:pPr>
                      <a:r>
                        <a:t>Pre-Trade Calc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A192F"/>
                          </a:solidFill>
                        </a:defRPr>
                      </a:pPr>
                      <a:r>
                        <a:t>₹11,440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• Tax Note: Excludes individual surcharges (up to 15% on equity capital gains) and prior carried-forward losses. Annual LTCG exemption of ₹1,25,000 applied under Section 112A.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7850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2011680"/>
            <a:ext cx="4297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D97706"/>
                </a:solidFill>
              </a:defRPr>
            </a:pPr>
            <a:r>
              <a:t>Quarterly Advance Tax Schedule (Sec 208 &amp; 234C)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• 1st Installment (15%): On or before 15th June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• 2nd Installment (45%): On or before 15th September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• 3rd Installment (75%): On or before 15th December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• 4th Installment (100%): On or before 15th March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Proviso to Section 234C: Relieves penal interest for installments prior to the capital gains realization date if remaining tax is paid in subsequent installments.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17 of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ACCESSIBILITY &amp; I18N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Multilingual Localization Capability: 8 Languages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Delivering advisory transparency in regional and international languages.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A192F"/>
                </a:solidFill>
              </a:defRPr>
            </a:pPr>
            <a:r>
              <a:t>8 Fully Supported Languages Across Client &amp; Advisor Portals</a:t>
            </a:r>
          </a:p>
          <a:p>
            <a:pPr>
              <a:spcAft>
                <a:spcPts val="800"/>
              </a:spcAft>
              <a:defRPr b="1" sz="1500">
                <a:solidFill>
                  <a:srgbClr val="4F46E5"/>
                </a:solidFill>
              </a:defRPr>
            </a:pPr>
            <a:r>
              <a:t>[ English (en) ]    [ हिंदी (hi) ]    [ தமிழ் (ta) ]    [ বাংলা (bn) ]</a:t>
            </a:r>
            <a:br/>
            <a:r>
              <a:t>[ ગુજરાતી (gu) ]    [ Deutsch (de) ]    [ 日本語 (ja) ]    [ 한국어 (ko)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10728655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59669"/>
                </a:solidFill>
              </a:defRPr>
            </a:pPr>
            <a:r>
              <a:t>Financial Invariant: Standardized ASCII Numerals Across All Locales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Western Arabic Digits (0-9): Under regulatory standards, all rupee amounts (₹), trade quantities, percentages, and ISIN codes remain strictly in ASCII English numerals across all locales, eliminating ambiguity during legal disputes.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Universal Accessibility: HNIs review proposals, disclosures, and receipts in their preferred language while financial terms remain standardized.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Seamless Profile Toggling: Advisers and clients switch languages seamlessly via navigation bar or profile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18 of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SYSTEM TOPOLOGY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Technical Architecture: Security &amp; Service Boundaries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High-level system topology illustrating frontend, API, security engine, and storage tiers.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A192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          CLIENT &amp; ADVISOR CLIENTS                             │</a:t>
            </a:r>
            <a:br/>
            <a:r>
              <a:t>│   • Desktop Advisory Hub (React 18 / MUI / Vite)       • Mobile Client Review (360px)  │</a:t>
            </a:r>
            <a:br/>
            <a:r>
              <a:t>└───────────────────────────────────────────▲────────────────────────────────────────────┘</a:t>
            </a:r>
            <a:br/>
            <a:r>
              <a:t>                                            │ HTTPS / TLS 1.3 (Helmet HSTS)</a:t>
            </a:r>
            <a:br/>
            <a:r>
              <a:t>┌───────────────────────────────────────────▼────────────────────────────────────────────┐</a:t>
            </a:r>
            <a:br/>
            <a:r>
              <a:t>│                             API GATEWAY &amp; SECURITY MIDDLEWARE                          │</a:t>
            </a:r>
            <a:br/>
            <a:r>
              <a:t>│   • Express REST API (Node.js ESM)                     • CORS Strict Whitelist         │</a:t>
            </a:r>
            <a:br/>
            <a:r>
              <a:t>│   • JWT Auth &amp; TOTP Staff MFA                          • Distributed Sliding Rate Limit│</a:t>
            </a:r>
            <a:br/>
            <a:r>
              <a:t>│   • Tenancy Scoping Middleware (Firm Isolation)        • Input Sanitization &amp; Masking  │</a:t>
            </a:r>
            <a:br/>
            <a:r>
              <a:t>└───────────────────────────────────────────▲────────────────────────────────────────────┘</a:t>
            </a:r>
            <a:br/>
            <a:r>
              <a:t>                                            │</a:t>
            </a:r>
            <a:br/>
            <a:r>
              <a:t>┌───────────────────────────────────────────▼────────────────────────────────────────────┐</a:t>
            </a:r>
            <a:br/>
            <a:r>
              <a:t>│                             FINCONSENT CORE BUSINESS ENGINES                           │</a:t>
            </a:r>
            <a:br/>
            <a:r>
              <a:t>│   • Mandate State Machine Engine                       • Finance Act 2024 Tax Engine   │</a:t>
            </a:r>
            <a:br/>
            <a:r>
              <a:t>│   • Dual-Envelope AES-256-GCM Crypto Engine            • PBKDF2 Client Key Derivation  │</a:t>
            </a:r>
            <a:br/>
            <a:r>
              <a:t>│   • In-App Mandate Clarification Chat Rail             • OTP Verification &amp; Lockout    │</a:t>
            </a:r>
            <a:br/>
            <a:r>
              <a:t>└───────────────────────────────────────────▲────────────────────────────────────────────┘</a:t>
            </a:r>
            <a:br/>
            <a:r>
              <a:t>                                            │</a:t>
            </a:r>
            <a:br/>
            <a:r>
              <a:t>┌───────────────────────────────────────────▼────────────────────────────────────────────┐</a:t>
            </a:r>
            <a:br/>
            <a:r>
              <a:t>│                               PERSISTENT DATA &amp; AUDIT TIERS                            │</a:t>
            </a:r>
            <a:br/>
            <a:r>
              <a:t>│   • MongoDB Atlas (AWS Mumbai ap-south-1)              • Dedicated SERVER_MASTER_KEY   │</a:t>
            </a:r>
            <a:br/>
            <a:r>
              <a:t>│   • Append-Only SHA-256 Chained Audit Ledger           • Point-in-Time Recovery (PITR)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19 of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THREAT MODELING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Security Threat Scenarios &amp; Evidenced Protections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Proven runtime boundary enforcement against malicious and accidental vectors.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90195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190195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9019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7-otp-lockout-after-3-fail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5047488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18134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Figure 20.1: Security Evidence — OTP lockout engaged after 3 failed verification attempts.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422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93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A192F"/>
                </a:solidFill>
              </a:defRPr>
            </a:pPr>
            <a:r>
              <a:t>Threat Modeling &amp; Architectural Defenses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Credential Stuffing &amp; OTP Brute-Force: Sliding-window rate limiters block rapid bursts; 3 failed OTPs permanently lock the token (HTTP 429).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Cross-Tenant IDOR &amp; Privilege Escalation: Tampering with mandate or client UUIDs across RIA practices rejected with HTTP 403 Forbidden.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Expired / Replay Attacks: Opening links past the 48-hour cutoff or after successful consent returns HTTP 410 Gone / Revoked.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Token Sniffing &amp; Database Breaches: Plaintext magic tokens are never persisted in the database (stored strictly as SHA-256 hashes).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20 of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EVIDENCE BASE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Operational &amp; Testing Validation: Grounded in Real Runs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Concrete evidence demonstrating zero regressions across automated and browser tests.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01168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4400">
                <a:solidFill>
                  <a:srgbClr val="059669"/>
                </a:solidFill>
              </a:defRPr>
            </a:pPr>
            <a:r>
              <a:t>230 / 230</a:t>
            </a:r>
          </a:p>
          <a:p>
            <a:pPr>
              <a:spcAft>
                <a:spcPts val="1000"/>
              </a:spcAft>
              <a:defRPr b="1" sz="1500">
                <a:solidFill>
                  <a:srgbClr val="0A192F"/>
                </a:solidFill>
              </a:defRPr>
            </a:pPr>
            <a:r>
              <a:t>Automated Tests Passing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t>17 test suites running across tax calculation, security, RBAC, i18n, and API regressions (100% pass rate).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201168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5200">
                <a:solidFill>
                  <a:srgbClr val="4F46E5"/>
                </a:solidFill>
              </a:defRPr>
            </a:pPr>
            <a:r>
              <a:t>81</a:t>
            </a:r>
          </a:p>
          <a:p>
            <a:pPr>
              <a:spcAft>
                <a:spcPts val="1000"/>
              </a:spcAft>
              <a:defRPr b="1" sz="1500">
                <a:solidFill>
                  <a:srgbClr val="0A192F"/>
                </a:solidFill>
              </a:defRPr>
            </a:pPr>
            <a:r>
              <a:t>Screenshots Captured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t>42 baseline, 25 security, and 14 mandate-security screenshots verifying desktop and mobile viewports.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688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201168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4400">
                <a:solidFill>
                  <a:srgbClr val="0A192F"/>
                </a:solidFill>
              </a:defRPr>
            </a:pPr>
            <a:r>
              <a:t>1,460</a:t>
            </a:r>
          </a:p>
          <a:p>
            <a:pPr>
              <a:spcAft>
                <a:spcPts val="1000"/>
              </a:spcAft>
              <a:defRPr b="1" sz="1500">
                <a:solidFill>
                  <a:srgbClr val="0A192F"/>
                </a:solidFill>
              </a:defRPr>
            </a:pPr>
            <a:r>
              <a:t>Records Disaster Drill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t>Synthetic non-destructive restore drill verified 1,460 audit logs with zero broken cryptographic hash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4688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201168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5200">
                <a:solidFill>
                  <a:srgbClr val="D97706"/>
                </a:solidFill>
              </a:defRPr>
            </a:pPr>
            <a:r>
              <a:t>0</a:t>
            </a:r>
          </a:p>
          <a:p>
            <a:pPr>
              <a:spcAft>
                <a:spcPts val="1000"/>
              </a:spcAft>
              <a:defRPr b="1" sz="1500">
                <a:solidFill>
                  <a:srgbClr val="0A192F"/>
                </a:solidFill>
              </a:defRPr>
            </a:pPr>
            <a:r>
              <a:t>Broken Hash Chains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t>Full mathematical continuity verified across all state changes, guaranteeing tamper-evident audit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21 of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INFRASTRUCTURE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Deployment Architecture: Indian Data Sovereignty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Compliance with SEBI Cybersecurity Framework (CSCRF) and DPDP directives.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59669"/>
                </a:solidFill>
              </a:defRPr>
            </a:pPr>
            <a:r>
              <a:t>Territorial Data Residency (ap-south-1)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All primary databases, cryptographic keys, and audit ledgers reside exclusively in AWS Asia Pacific (Mumbai) region (ap-south-1) to comply with SEBI CSCRF and DPDP Act directives.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82880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0975" y="1965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4F46E5"/>
                </a:solidFill>
              </a:defRPr>
            </a:pPr>
            <a:r>
              <a:t>Multi-Stage Production Containers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Hardened Docker multi-stage build packaging optimized Vite static assets and hardened Express Node.js ESM runtime with zero external runtime package installations.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A192F"/>
                </a:solidFill>
              </a:defRPr>
            </a:pPr>
            <a:r>
              <a:t>Orchestration &amp; Health Probes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Production container environment with automated /api/health and /api/ready probes reporting database connectivity, readiness, and active tenancy health.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411480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4251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D97706"/>
                </a:solidFill>
              </a:defRPr>
            </a:pPr>
            <a:r>
              <a:t>Cryptographic Key Isolation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Server Master Key (SERVER_MASTER_KEY) isolated from application authentication secrets (JWT_SECRET); zero third-party advertising tracking or analytics beacons.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22 of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BUSINESS IMPACT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Business Value &amp; Practice Impact for Advisory Firms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Quantifiable efficiency, compliance security, and investor satisfaction gains.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4297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059669"/>
                </a:solidFill>
              </a:defRPr>
            </a:pPr>
            <a:r>
              <a:t>100% Inspection-Ready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Instantly downloadable Section 63 BSA / Section 65B compliance dossiers provide contemporaneous regulatory evidence.</a:t>
            </a:r>
            <a:br/>
            <a:br/>
            <a:r>
              <a:t>• Replaces weeks of manual audit trail compilation with instantaneous verification.</a:t>
            </a:r>
            <a:br/>
            <a:r>
              <a:t>• Safeguards RIA practice and principal officers against claims of unauthorized or discretionary trading.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328416" cy="4297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201168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97706"/>
                </a:solidFill>
              </a:defRPr>
            </a:pPr>
            <a:r>
              <a:t>Zero Tax Shocks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Complete pre-trade capital gains tax visibility eliminates investor surprise liabilities.</a:t>
            </a:r>
            <a:br/>
            <a:br/>
            <a:r>
              <a:t>• Proactively alerts clients to quarterly advance tax obligations under Section 208 and 234C.</a:t>
            </a:r>
            <a:br/>
            <a:r>
              <a:t>• Elevates advisory relationship from administrative chasing to high-trust strategic wealth planning.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328416" cy="4297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201168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4F46E5"/>
                </a:solidFill>
              </a:defRPr>
            </a:pPr>
            <a:r>
              <a:t>&lt; 2h Turnaround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Accelerates client review and consent turnaround to under 2 hours on mobile.</a:t>
            </a:r>
            <a:br/>
            <a:br/>
            <a:r>
              <a:t>• Minimizes market slippage during high-volatility rebalancing windows.</a:t>
            </a:r>
            <a:br/>
            <a:r>
              <a:t>• Secure password-protected magic link delivery without requiring client app installation.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23 of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THE TRANSFORMATION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The Transformation: What Changes for Advisor and Client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Comparing legacy advisory friction with FinConsent's institutional digital rail.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931920"/>
                <a:gridCol w="4236415"/>
              </a:tblGrid>
              <a:tr h="859536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Advisory Dimension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Legacy Process (Informal / Dispersed)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FinConsent Institutional Rail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A192F"/>
                          </a:solidFill>
                        </a:defRPr>
                      </a:pPr>
                      <a:r>
                        <a:t>Trade Authorization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1D48"/>
                          </a:solidFill>
                        </a:defRPr>
                      </a:pPr>
                      <a:r>
                        <a:t>✗ Fragmented WhatsApp texts or email replies; rejected during SEBI inspection.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F46E5"/>
                          </a:solidFill>
                        </a:defRPr>
                      </a:pPr>
                      <a:r>
                        <a:t>✓ Explicit statutory declarations + 6-digit OTP verification with 48h market window.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A192F"/>
                          </a:solidFill>
                        </a:defRPr>
                      </a:pPr>
                      <a:r>
                        <a:t>Capital Gains Tax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1D48"/>
                          </a:solidFill>
                        </a:defRPr>
                      </a:pPr>
                      <a:r>
                        <a:t>✗ Post-trade surprise tax bill; penal interest under Sections 208 &amp; 234B/C.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F46E5"/>
                          </a:solidFill>
                        </a:defRPr>
                      </a:pPr>
                      <a:r>
                        <a:t>✓ Pre-trade Finance Act 2024 calculation with quarterly advance tax alert.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A192F"/>
                          </a:solidFill>
                        </a:defRPr>
                      </a:pPr>
                      <a:r>
                        <a:t>Client Security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1D48"/>
                          </a:solidFill>
                        </a:defRPr>
                      </a:pPr>
                      <a:r>
                        <a:t>✗ Confidential trade details sent over plain WhatsApp or email attachments.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F46E5"/>
                          </a:solidFill>
                        </a:defRPr>
                      </a:pPr>
                      <a:r>
                        <a:t>✓ Dual-envelope AES-256-GCM encryption with PAN+DOB client password gate.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A192F"/>
                          </a:solidFill>
                        </a:defRPr>
                      </a:pPr>
                      <a:r>
                        <a:t>Audit &amp; Legal Trail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1D48"/>
                          </a:solidFill>
                        </a:defRPr>
                      </a:pPr>
                      <a:r>
                        <a:t>✗ Scattered screenshots and PDFs; inadmissible under Section 63 BSA.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F46E5"/>
                          </a:solidFill>
                        </a:defRPr>
                      </a:pPr>
                      <a:r>
                        <a:t>✓ Append-only forward SHA-256 ledger emitting certified Section 63 BSA compliance dossier.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24 of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APPENDIX A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Technical Deep-Dive: Cryptographic Invariants &amp; Key Derivation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Formal mathematical specifications for envelope encryption and PBKDF2 KDF.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A192F"/>
                </a:solidFill>
              </a:defRPr>
            </a:pPr>
            <a:r>
              <a:t>Cryptographic Implementation Specifications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Symmetric Cipher: AES-256-GCM (Galois/Counter Mode) with 12-byte random IV and 16-byte authentication tag ensuring anti-tampering.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Key Derivation Function: PBKDF2 with SHA-256 digest, 100,000 rounds in production (1,000 in test mode), and 16-byte random salt.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Key Derivation Input: Normalized string concatenation of PAN last 4 digits + DOB in DDMMYYYY format (e.g. '123414081978').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Dual Wrapping Invariant: Server DEK wrapped with isolated SERVER_MASTER_KEY; Client DEK wrapped with Client Derived Key.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Zero Secret Storage: The database never persists client plaintext passwords, unencrypted DEKs, or plaintext magic tokens.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25 of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APPENDIX B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Technical Deep-Dive: Role-Based Authorization Matrix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Detailed API permission matrix with monospaced endpoints and coloured permission chips.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560320"/>
                <a:gridCol w="2681935"/>
              </a:tblGrid>
              <a:tr h="7162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API Route / Resource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RIA (sebi-ria)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Client (hni-client)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Compliance Officer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92F"/>
                          </a:solidFill>
                          <a:latin typeface="Consolas"/>
                        </a:defRPr>
                      </a:pPr>
                      <a:r>
                        <a:t>/api/mandates (POST / Create)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ALLOWED (Scoped to firm)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1D48"/>
                          </a:solidFill>
                        </a:defRPr>
                      </a:pPr>
                      <a:r>
                        <a:t>FORBIDDEN (HTTP 403)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1D48"/>
                          </a:solidFill>
                        </a:defRPr>
                      </a:pPr>
                      <a:r>
                        <a:t>FORBIDDEN (Read-only)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92F"/>
                          </a:solidFill>
                          <a:latin typeface="Consolas"/>
                        </a:defRPr>
                      </a:pPr>
                      <a:r>
                        <a:t>/api/mandates/:id/dispatch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ALLOWED (Own mandates only)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1D48"/>
                          </a:solidFill>
                        </a:defRPr>
                      </a:pPr>
                      <a:r>
                        <a:t>FORBIDDEN (HTTP 403)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1D48"/>
                          </a:solidFill>
                        </a:defRPr>
                      </a:pPr>
                      <a:r>
                        <a:t>FORBIDDEN (Read-only)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92F"/>
                          </a:solidFill>
                          <a:latin typeface="Consolas"/>
                        </a:defRPr>
                      </a:pPr>
                      <a:r>
                        <a:t>/api/public/mandates/:t/unlock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N/A (Uses dashboard)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ALLOWED (Valid password)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N/A (Uses compliance hub)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92F"/>
                          </a:solidFill>
                          <a:latin typeface="Consolas"/>
                        </a:defRPr>
                      </a:pPr>
                      <a:r>
                        <a:t>/api/public/mandates/:t/verify-otp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1D48"/>
                          </a:solidFill>
                        </a:defRPr>
                      </a:pPr>
                      <a:r>
                        <a:t>FORBIDDEN (HTTP 403)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ALLOWED (Valid 6-digit OTP)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1D48"/>
                          </a:solidFill>
                        </a:defRPr>
                      </a:pPr>
                      <a:r>
                        <a:t>FORBIDDEN (HTTP 403)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A192F"/>
                          </a:solidFill>
                          <a:latin typeface="Consolas"/>
                        </a:defRPr>
                      </a:pPr>
                      <a:r>
                        <a:t>/api/requests (Scrutiny Hub)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ALLOWED (Submit requests)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ALLOWED (View own requests)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ALLOWED (Full Adjudication)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26 of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APPENDIX C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Technical Deep-Dive: Audit Schema &amp; Section 63 BSA Admissibility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Evidentiary record structures required by Indian legal standards.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A192F"/>
                </a:solidFill>
              </a:defRPr>
            </a:pPr>
            <a:r>
              <a:t>Section 63 BSA Mandatory Evidentiary Attributions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1. Origin Identification: Client IP Address (RFC 5737 203.0.113.12) and browser User-Agent recorded at execution time.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2. Synchronized Timestamp: Server-side NTP timestamping localized to Indian Standard Time (IST).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3. Hash Integrity Seal: SHA-256 payloadHash computed over the immutable consent certificate.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4. Device Custody Proof: Evidence that the computer system was operating properly during record generation.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5. Regulation 19 Admissibility: Cryptographically chained forward hashes guarantee zero retroactive modifications.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27 of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APPENDIX D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Operational Considerations: Implemented State vs. Roadmap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Clear demarcation between current production capabilities and future roadmap milestones.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59669"/>
                </a:solidFill>
              </a:defRPr>
            </a:pPr>
            <a:r>
              <a:t>Implemented Capabilities (Now)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✓ Full non-discretionary mandate formulation &amp; tax engine</a:t>
            </a:r>
            <a:br/>
            <a:r>
              <a:t>✓ AES-256-GCM dual-envelope encryption &amp; PBKDF2 password gate</a:t>
            </a:r>
            <a:br/>
            <a:r>
              <a:t>✓ 256-bit magic links with SHA-256 database hashing &amp; 48h cutoff</a:t>
            </a:r>
            <a:br/>
            <a:r>
              <a:t>✓ In-app mandate chat with explicit non-consent separation</a:t>
            </a:r>
            <a:br/>
            <a:r>
              <a:t>✓ Section 63 BSA compliance receipts with SHA-256 hash chaining</a:t>
            </a:r>
            <a:br/>
            <a:r>
              <a:t>✓ Multi-tenant isolation, RBAC, staff TOTP MFA, and rate limiting</a:t>
            </a:r>
            <a:br/>
            <a:r>
              <a:t>✓ 8 supported languages with English ASCII numerals.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828800"/>
            <a:ext cx="52120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0975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4F46E5"/>
                </a:solidFill>
              </a:defRPr>
            </a:pPr>
            <a:r>
              <a:t>Documented Scope &amp; Future Roadmap (Next)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• Production TRAI DLT SMS Gateway: Current setup delivers OTP via email/in-app; commercial SMS requires TRAI DLT aggregator.</a:t>
            </a:r>
            <a:br/>
            <a:r>
              <a:t>• WhatsApp Channel Delivery: Secure email magic links active; WhatsApp Business API delivery on product roadmap.</a:t>
            </a:r>
            <a:br/>
            <a:r>
              <a:t>• CloudHSM Key Management: Envelope Server Master Key isolated in env config; AWS CloudHSM/KMS recommended for banking tiers.</a:t>
            </a:r>
            <a:br/>
            <a:r>
              <a:t>• Direct Broker Execution: FinConsent intentionally halts at locked consent; API execution via brokers on future roadmap.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28 of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F46E5"/>
                </a:solidFill>
                <a:latin typeface="Calibri"/>
              </a:defRPr>
            </a:pPr>
            <a:r>
              <a:t>PILOT PROPOSAL &amp; NEXT STEPS</a:t>
            </a:r>
          </a:p>
          <a:p>
            <a:pPr>
              <a:spcAft>
                <a:spcPts val="300"/>
              </a:spcAft>
              <a:defRPr sz="3200" b="1">
                <a:solidFill>
                  <a:srgbClr val="0A192F"/>
                </a:solidFill>
                <a:latin typeface="Calibri"/>
              </a:defRPr>
            </a:pPr>
            <a:r>
              <a:t>Institutional Pilot Proposal &amp; Implementation Roadmap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Structured 4-week pilot deployment for fee-only advisory practices with verified commercial terms.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4-Week Phased Implementation Roadmap</a:t>
            </a:r>
          </a:p>
          <a:p>
            <a:pPr>
              <a:spcAft>
                <a:spcPts val="600"/>
              </a:spcAft>
              <a:defRPr sz="1350">
                <a:solidFill>
                  <a:srgbClr val="475569"/>
                </a:solidFill>
              </a:defRPr>
            </a:pPr>
            <a:r>
              <a:t>• Week 1: Governance &amp; Setup: Configure SEBI INA registration number (e.g. INA000088921), firm compliance officer contacts, and staff TOTP MFA.</a:t>
            </a:r>
          </a:p>
          <a:p>
            <a:pPr>
              <a:spcAft>
                <a:spcPts val="600"/>
              </a:spcAft>
              <a:defRPr sz="1350">
                <a:solidFill>
                  <a:srgbClr val="475569"/>
                </a:solidFill>
              </a:defRPr>
            </a:pPr>
            <a:r>
              <a:t>• Week 2: Client Roster Ingestion: Import client profiles with validated PAN syntax (XXXXX1234F), DOB attributes, and rebalance templates.</a:t>
            </a:r>
          </a:p>
          <a:p>
            <a:pPr>
              <a:spcAft>
                <a:spcPts val="600"/>
              </a:spcAft>
              <a:defRPr sz="1350">
                <a:solidFill>
                  <a:srgbClr val="475569"/>
                </a:solidFill>
              </a:defRPr>
            </a:pPr>
            <a:r>
              <a:t>• Week 3: Controlled Pilot Rebalance: Execute live mandates with 10–25 client families; demonstrate pre-trade tax visibility and mobile OTP consent.</a:t>
            </a:r>
          </a:p>
          <a:p>
            <a:pPr>
              <a:spcAft>
                <a:spcPts val="600"/>
              </a:spcAft>
              <a:defRPr sz="1350">
                <a:solidFill>
                  <a:srgbClr val="475569"/>
                </a:solidFill>
              </a:defRPr>
            </a:pPr>
            <a:r>
              <a:t>• Week 4: Compliance Review &amp; Scale: Audit Section 63 BSA receipts with firm Compliance Officer; transition practice to automated FinConsent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828800"/>
            <a:ext cx="52120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0975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4F46E5"/>
                </a:solidFill>
              </a:defRPr>
            </a:pPr>
            <a:r>
              <a:t>Verified Commercial Terms &amp; Inquiries</a:t>
            </a:r>
          </a:p>
          <a:p>
            <a:pPr>
              <a:spcAft>
                <a:spcPts val="600"/>
              </a:spcAft>
              <a:defRPr b="1" sz="2400">
                <a:solidFill>
                  <a:srgbClr val="0A192F"/>
                </a:solidFill>
              </a:defRPr>
            </a:pPr>
            <a:r>
              <a:t>₹2,499 / Month  (+ 18% GST)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• Pro Practice Plan: Includes up to 100 active mandates/month, unlimited client roster, complete tax engine, and 5-year audit ledger retention.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• Zero Execution Surcharges: FinConsent charges zero basis points (bps) or AUM percentages. Pure software utility model.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• Demonstration Workspace: Prudent Wealth Advisory (SEBI Reg: INA000088921) with synthetic demonstration data.</a:t>
            </a:r>
          </a:p>
          <a:p>
            <a:pPr>
              <a:spcAft>
                <a:spcPts val="600"/>
              </a:spcAft>
              <a:defRPr sz="1350">
                <a:solidFill>
                  <a:srgbClr val="1E293B"/>
                </a:solidFill>
              </a:defRPr>
            </a:pPr>
            <a:r>
              <a:t>• Official Inquiries &amp; Onboarding: compliance@finconsent.in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FinConsent | Statutory RIA Infrastructure  •  Slide 29 of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FinConsent — Statutory Trade Authorization &amp; Tax Infrastructure</dc:title>
  <dc:subject>SEBI Regulation 19 Compliance &amp; WealthTech Architecture</dc:subject>
  <dc:creator>FinConsent Engineering</dc:creator>
  <cp:keywords/>
  <dc:description>Client-facing 29-slide presentation with verified compliance evidence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