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FinConsent is purpose-built statutory software for Registered Investment Advisers managing non-discretionary portfolios in India. It bridges investment formulation and client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SEBI registered advisers manage crores under non-discretionary agreements, yet 80% still collect approvals over WhatsApp or email. This slide highlights the three systemic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our two personas: Suresh, the compliant adviser managing family wealth, and Rohan, the busy client who requires crisp mobile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that each risk maps directly to Indian statutory codes: SEBI Regulation 19, Income Tax Act Section 234C, and BSA Section 63.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four foundational pillars: Pre-trade Tax, Dual-envelope Encryption, Mobile Consent Rail, and BSA Section 63 Audit Ledger.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how the three actor lanes interact: Suresh initiates, FinConsent secures and computes, and Rohan authorizes on his mobile device.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transitions in FinConsent are strictly unidirectional. Once Consented or Expired, a mandate cannot be edited or revived.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8.1 shows the RIA dashboard. Note the 48-hour countdown badges. Advisers retain full control, including instant revocation.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Rohan's actual smartphone review screen. Note how the allocation drift and pre-computed ₹11,440 tax bill are visible before consent.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10.1 shows our password gate. The magic link alone reveals nothing. The client must enter their PAN last 4 and DOB to derive the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11.1 demonstrates our tenant isolation test. When an advisor from Firm A attempts to access Firm B's mandate, the API rejects with 403.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Dual-envelope encryption ensures that even if database records are compromised, financial payloads cannot be decrypted without the Server Master Key or client password.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13.1 displays the client OTP modal. Notice the 3 statutory checkboxes that must be acknowledged before the 6-digit OTP can be verified.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14.1 shows the Section 63 BSA compliance receipt generated at the exact millisecond consent is locked.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restored Graphviz state diagram illustrates the immutable lifecycle transitions: Draft to Sent, Viewed upon password entry, Consented upon OTP verification, or terminated via Expiry or RIA Revocation.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Figure 16.1, Rohan asks: 'Why sell Tata Motors now?'. Suresh clarifies directly inside the secure mandate. Crucially, chat dialogue never substitutes for OTP consent.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native table shows the verified tax model: ₹11,000 STCG + ₹0 LTCG (exempt under ₹1.25L) + ₹440 cess = ₹11,440. On the right is the advance tax installment calendar.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FinConsent supports 8 languages while strictly enforcing ASCII numerals for all financial figures to avoid dispute ambiguities.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architectural topology illustrates our 4-tier separation between frontend, API gateway, core engines, and persistent data tiers in AWS Mumbai.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20.1 shows our automated security test verifying that after 3 failed OTP attempts, verification is permanently locked.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230 Vitest tests pass with 0 regressions. 81 screenshots verify UI across roles, and 1,460 audit records verified in disaster recovery.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sovereignty is absolute: all data resides in AWS Mumbai (ap-south-1). No data leaves Indian territory.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is threefold: 100% inspection-ready compliance, zero client tax shocks, and consent turnaround in under two hours.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highlights the operational leap across authorization, tax visibility, data security, and evidentiary admissibility.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introduces the technical appendices, detailing formal cryptographic proofs, RBAC matrices, and legal evidentiary standards.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outlines the formal cryptographic specifications: AES-256-GCM, 100,000 rounds of PBKDF2, and zero plaintext secret storage.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provides the role-based access matrix. Every API endpoint enforces strict authorization 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C details the exact criteria required under Section 63 of Bharatiya Sakshya Adhiniyam, 2023 for electronic records to be admitted in court.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D provides transparency on implemented features versus roadmap enhancements like WhatsApp delivery and direct broker execution.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begin, we propose a 4-week pilot starting with 10-25 families. The Pro Practice plan is ₹2,499/month with zero AUM surcharges. Inquiries: compliance@finconsent.in.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7132320" cy="4754880"/>
          </a:xfrm>
          <a:prstGeom prst="rect">
            <a:avLst/>
          </a:prstGeom>
          <a:noFill/>
        </p:spPr>
        <p:txBody>
          <a:bodyPr wrap="square">
            <a:spAutoFit/>
          </a:bodyPr>
          <a:lstStyle/>
          <a:p>
            <a:pPr>
              <a:spcAft>
                <a:spcPts val="800"/>
              </a:spcAft>
              <a:defRPr sz="4800" b="1">
                <a:solidFill>
                  <a:srgbClr val="FFFFFF"/>
                </a:solidFill>
                <a:latin typeface="Calibri"/>
              </a:defRPr>
            </a:pPr>
            <a:r>
              <a:t>FINCONSENT</a:t>
            </a:r>
          </a:p>
          <a:p>
            <a:pPr>
              <a:spcAft>
                <a:spcPts val="2000"/>
              </a:spcAft>
              <a:defRPr sz="2400" b="1">
                <a:solidFill>
                  <a:srgbClr val="A5B4FC"/>
                </a:solidFill>
                <a:latin typeface="Calibri"/>
              </a:defRPr>
            </a:pPr>
            <a:r>
              <a:t>Enterprise Advisory Proposal Consent &amp; Tax Infrastructure for Indian RIAs</a:t>
            </a:r>
          </a:p>
          <a:p>
            <a:pPr>
              <a:spcAft>
                <a:spcPts val="3200"/>
              </a:spcAft>
              <a:defRPr sz="1500">
                <a:solidFill>
                  <a:srgbClr val="E2E8F0"/>
                </a:solidFill>
                <a:latin typeface="Calibri"/>
              </a:defRPr>
            </a:pPr>
            <a:r>
              <a:t>Engineered specifically to operationalize SEBI (Investment Advisers) Regulations, 2013 Regulation 19 compliance, eliminate pre-trade capital gains tax surprises under Finance Act 2024, and establish immutable Section 63 Bharatiya Sakshya Adhiniyam, 2023 (BSA) electronic evidence.</a:t>
            </a:r>
          </a:p>
          <a:p>
            <a:pPr>
              <a:defRPr sz="1300">
                <a:solidFill>
                  <a:srgbClr val="94A3B8"/>
                </a:solidFill>
              </a:defRPr>
            </a:pPr>
            <a:r>
              <a:t>SEBI Regulation 19 Compliant   |   Finance Act 2024 Tax Engine   |   BSA §63 Cryptographic Receipts</a:t>
            </a:r>
          </a:p>
        </p:txBody>
      </p:sp>
      <p:sp>
        <p:nvSpPr>
          <p:cNvPr id="4" name="Rounded Rectangle 3"/>
          <p:cNvSpPr/>
          <p:nvPr/>
        </p:nvSpPr>
        <p:spPr>
          <a:xfrm>
            <a:off x="8412480" y="1005840"/>
            <a:ext cx="2926080" cy="4846320"/>
          </a:xfrm>
          <a:prstGeom prst="roundRect">
            <a:avLst/>
          </a:prstGeom>
          <a:solidFill>
            <a:srgbClr val="0A19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_mobile_unlock_screen.png"/>
          <p:cNvPicPr>
            <a:picLocks noChangeAspect="1"/>
          </p:cNvPicPr>
          <p:nvPr/>
        </p:nvPicPr>
        <p:blipFill>
          <a:blip r:embed="rId2"/>
          <a:stretch>
            <a:fillRect/>
          </a:stretch>
        </p:blipFill>
        <p:spPr>
          <a:xfrm>
            <a:off x="8485632" y="1115568"/>
            <a:ext cx="2779776" cy="4626864"/>
          </a:xfrm>
          <a:prstGeom prst="rect">
            <a:avLst/>
          </a:prstGeom>
        </p:spPr>
      </p:pic>
      <p:sp>
        <p:nvSpPr>
          <p:cNvPr id="6" name="TextBox 5"/>
          <p:cNvSpPr txBox="1"/>
          <p:nvPr/>
        </p:nvSpPr>
        <p:spPr>
          <a:xfrm>
            <a:off x="8412480" y="5888736"/>
            <a:ext cx="2926080" cy="201168"/>
          </a:xfrm>
          <a:prstGeom prst="rect">
            <a:avLst/>
          </a:prstGeom>
          <a:noFill/>
        </p:spPr>
        <p:txBody>
          <a:bodyPr wrap="square" lIns="0" tIns="0" rIns="0" bIns="0">
            <a:spAutoFit/>
          </a:bodyPr>
          <a:lstStyle/>
          <a:p>
            <a:pPr algn="ctr">
              <a:defRPr sz="950">
                <a:solidFill>
                  <a:srgbClr val="475569"/>
                </a:solidFill>
              </a:defRPr>
            </a:pPr>
            <a:r>
              <a:t>Rohan Mehta's Mobile Verification Screen</a:t>
            </a:r>
          </a:p>
        </p:txBody>
      </p:sp>
      <p:sp>
        <p:nvSpPr>
          <p:cNvPr id="7" name="TextBox 6"/>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 of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EXECUTIVE AGENDA &amp; INDUSTRY CONTEXT</a:t>
            </a:r>
          </a:p>
          <a:p>
            <a:pPr>
              <a:spcAft>
                <a:spcPts val="300"/>
              </a:spcAft>
              <a:defRPr sz="3200" b="1">
                <a:solidFill>
                  <a:srgbClr val="0A192F"/>
                </a:solidFill>
                <a:latin typeface="Calibri"/>
              </a:defRPr>
            </a:pPr>
            <a:r>
              <a:t>The Operational Crisis Facing Indian Investment Advisers</a:t>
            </a:r>
          </a:p>
          <a:p>
            <a:pPr>
              <a:defRPr sz="1400">
                <a:solidFill>
                  <a:srgbClr val="475569"/>
                </a:solidFill>
                <a:latin typeface="Calibri"/>
              </a:defRPr>
            </a:pPr>
            <a:r>
              <a:t>Why legacy approval methods fail both regulatory audits and investor trust.</a:t>
            </a:r>
          </a:p>
        </p:txBody>
      </p:sp>
      <p:sp>
        <p:nvSpPr>
          <p:cNvPr id="4" name="Rounded Rectangle 3"/>
          <p:cNvSpPr/>
          <p:nvPr/>
        </p:nvSpPr>
        <p:spPr>
          <a:xfrm>
            <a:off x="731520" y="1828800"/>
            <a:ext cx="10728655"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05840" y="2057400"/>
            <a:ext cx="365760" cy="365760"/>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08760" y="1938528"/>
            <a:ext cx="9814255" cy="1005840"/>
          </a:xfrm>
          <a:prstGeom prst="rect">
            <a:avLst/>
          </a:prstGeom>
          <a:noFill/>
        </p:spPr>
        <p:txBody>
          <a:bodyPr wrap="square">
            <a:spAutoFit/>
          </a:bodyPr>
          <a:lstStyle/>
          <a:p>
            <a:pPr>
              <a:spcAft>
                <a:spcPts val="400"/>
              </a:spcAft>
              <a:defRPr b="1" sz="1550">
                <a:solidFill>
                  <a:srgbClr val="E11D48"/>
                </a:solidFill>
              </a:defRPr>
            </a:pPr>
            <a:r>
              <a:t>1. Informal Communication &amp; Evidentiary Fragmentation</a:t>
            </a:r>
          </a:p>
          <a:p>
            <a:pPr>
              <a:defRPr sz="1400">
                <a:solidFill>
                  <a:srgbClr val="1E293B"/>
                </a:solidFill>
              </a:defRPr>
            </a:pPr>
            <a:r>
              <a:t>Advisers frequently communicate rebalancing proposals over chat or email. While discoverable, these unstructured records fragment rationale and create administrative collation overhead during SEBI Regulation 19 audits, failing Section 63 BSA electronic admissibility standards.</a:t>
            </a:r>
          </a:p>
        </p:txBody>
      </p:sp>
      <p:sp>
        <p:nvSpPr>
          <p:cNvPr id="7" name="Rounded Rectangle 6"/>
          <p:cNvSpPr/>
          <p:nvPr/>
        </p:nvSpPr>
        <p:spPr>
          <a:xfrm>
            <a:off x="731520" y="3291840"/>
            <a:ext cx="10728655"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3520440"/>
            <a:ext cx="365760" cy="36576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3401568"/>
            <a:ext cx="9814255" cy="1005840"/>
          </a:xfrm>
          <a:prstGeom prst="rect">
            <a:avLst/>
          </a:prstGeom>
          <a:noFill/>
        </p:spPr>
        <p:txBody>
          <a:bodyPr wrap="square">
            <a:spAutoFit/>
          </a:bodyPr>
          <a:lstStyle/>
          <a:p>
            <a:pPr>
              <a:spcAft>
                <a:spcPts val="400"/>
              </a:spcAft>
              <a:defRPr b="1" sz="1550">
                <a:solidFill>
                  <a:srgbClr val="D97706"/>
                </a:solidFill>
              </a:defRPr>
            </a:pPr>
            <a:r>
              <a:t>2. Post-Trade Capital Gains Tax Shocks (Investor Friction)</a:t>
            </a:r>
          </a:p>
          <a:p>
            <a:pPr>
              <a:defRPr sz="1400">
                <a:solidFill>
                  <a:srgbClr val="1E293B"/>
                </a:solidFill>
              </a:defRPr>
            </a:pPr>
            <a:r>
              <a:t>Finance Act 2024 increased STCG to 20% and LTCG to 12.5% (+ 4% cess). When rebalancing occurs without pre-trade tax visibility, investors are blindsided by unexpected tax liabilities and penalty interest under Section 208 and 234C where liability reaches ₹10,000.</a:t>
            </a:r>
          </a:p>
        </p:txBody>
      </p:sp>
      <p:sp>
        <p:nvSpPr>
          <p:cNvPr id="10" name="Rounded Rectangle 9"/>
          <p:cNvSpPr/>
          <p:nvPr/>
        </p:nvSpPr>
        <p:spPr>
          <a:xfrm>
            <a:off x="731520" y="4754880"/>
            <a:ext cx="10728655"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05840" y="4983480"/>
            <a:ext cx="365760" cy="365760"/>
          </a:xfrm>
          <a:prstGeom prst="ellipse">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4864608"/>
            <a:ext cx="9814255" cy="1005840"/>
          </a:xfrm>
          <a:prstGeom prst="rect">
            <a:avLst/>
          </a:prstGeom>
          <a:noFill/>
        </p:spPr>
        <p:txBody>
          <a:bodyPr wrap="square">
            <a:spAutoFit/>
          </a:bodyPr>
          <a:lstStyle/>
          <a:p>
            <a:pPr>
              <a:spcAft>
                <a:spcPts val="400"/>
              </a:spcAft>
              <a:defRPr b="1" sz="1550">
                <a:solidFill>
                  <a:srgbClr val="0A192F"/>
                </a:solidFill>
              </a:defRPr>
            </a:pPr>
            <a:r>
              <a:t>3. Fragmented Audit Trails (Inadmissible in Disputes)</a:t>
            </a:r>
          </a:p>
          <a:p>
            <a:pPr>
              <a:defRPr sz="1400">
                <a:solidFill>
                  <a:srgbClr val="1E293B"/>
                </a:solidFill>
              </a:defRPr>
            </a:pPr>
            <a:r>
              <a:t>Advice, rationale, client responses, and execution logs live in disconnected silos. Compiling annual compliance records takes weeks. Raw screenshots lack cryptographic hash continuity and device provenance, rendering them contestable before regulatory authorities.</a:t>
            </a:r>
          </a:p>
        </p:txBody>
      </p:sp>
      <p:sp>
        <p:nvSpPr>
          <p:cNvPr id="13" name="TextBox 12"/>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 of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USER PERSONAS &amp; OPERATIONAL CONTEXT</a:t>
            </a:r>
          </a:p>
          <a:p>
            <a:pPr>
              <a:spcAft>
                <a:spcPts val="300"/>
              </a:spcAft>
              <a:defRPr sz="3200" b="1">
                <a:solidFill>
                  <a:srgbClr val="0A192F"/>
                </a:solidFill>
                <a:latin typeface="Calibri"/>
              </a:defRPr>
            </a:pPr>
            <a:r>
              <a:t>Grounding Compliance in Human Realities: Suresh &amp; Rohan</a:t>
            </a:r>
          </a:p>
          <a:p>
            <a:pPr>
              <a:defRPr sz="1400">
                <a:solidFill>
                  <a:srgbClr val="475569"/>
                </a:solidFill>
                <a:latin typeface="Calibri"/>
              </a:defRPr>
            </a:pPr>
            <a:r>
              <a:t>A fee-only RIA managing family wealth and an executive demanding frictionless transparency.</a:t>
            </a:r>
          </a:p>
        </p:txBody>
      </p:sp>
      <p:sp>
        <p:nvSpPr>
          <p:cNvPr id="4" name="Rounded Rectangle 3"/>
          <p:cNvSpPr/>
          <p:nvPr/>
        </p:nvSpPr>
        <p:spPr>
          <a:xfrm>
            <a:off x="731520" y="1828800"/>
            <a:ext cx="521208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011680"/>
            <a:ext cx="4754880" cy="3931920"/>
          </a:xfrm>
          <a:prstGeom prst="rect">
            <a:avLst/>
          </a:prstGeom>
          <a:noFill/>
        </p:spPr>
        <p:txBody>
          <a:bodyPr wrap="square">
            <a:spAutoFit/>
          </a:bodyPr>
          <a:lstStyle/>
          <a:p>
            <a:pPr>
              <a:defRPr b="1" sz="1700">
                <a:solidFill>
                  <a:srgbClr val="0A192F"/>
                </a:solidFill>
              </a:defRPr>
            </a:pPr>
            <a:r>
              <a:t>SURESH NARAYANAN  [SN]</a:t>
            </a:r>
          </a:p>
          <a:p>
            <a:pPr>
              <a:spcAft>
                <a:spcPts val="800"/>
              </a:spcAft>
              <a:defRPr sz="1250">
                <a:solidFill>
                  <a:srgbClr val="4F46E5"/>
                </a:solidFill>
              </a:defRPr>
            </a:pPr>
            <a:r>
              <a:t>Principal Officer &amp; Founder, Prudent Wealth Advisory (SEBI Reg: INA000088921)</a:t>
            </a:r>
          </a:p>
          <a:p>
            <a:pPr>
              <a:spcAft>
                <a:spcPts val="800"/>
              </a:spcAft>
              <a:defRPr b="1" sz="1250">
                <a:solidFill>
                  <a:srgbClr val="1E293B"/>
                </a:solidFill>
              </a:defRPr>
            </a:pPr>
            <a:r>
              <a:t>Key Metrics:  ₹180 Crores AUM   |   75 Affluent Families   |   Fee-Only Model</a:t>
            </a:r>
          </a:p>
          <a:p>
            <a:pPr marL="342900" indent="-228600">
              <a:spcAft>
                <a:spcPts val="600"/>
              </a:spcAft>
              <a:buChar char="•"/>
            </a:pPr>
            <a:r>
              <a:rPr b="1" sz="1350">
                <a:solidFill>
                  <a:srgbClr val="0A192F"/>
                </a:solidFill>
                <a:latin typeface="Calibri"/>
              </a:rPr>
              <a:t>Role: </a:t>
            </a:r>
            <a:r>
              <a:rPr b="0" sz="1350">
                <a:solidFill>
                  <a:srgbClr val="475569"/>
                </a:solidFill>
                <a:latin typeface="Calibri"/>
              </a:rPr>
              <a:t>Non-discretionary investment formulation, asset allocation, and rebalancing.</a:t>
            </a:r>
          </a:p>
          <a:p>
            <a:pPr marL="342900" indent="-228600">
              <a:spcAft>
                <a:spcPts val="600"/>
              </a:spcAft>
              <a:buChar char="•"/>
            </a:pPr>
            <a:r>
              <a:rPr b="1" sz="1350">
                <a:solidFill>
                  <a:srgbClr val="0A192F"/>
                </a:solidFill>
                <a:latin typeface="Calibri"/>
              </a:rPr>
              <a:t>Pain Point: </a:t>
            </a:r>
            <a:r>
              <a:rPr b="0" sz="1350">
                <a:solidFill>
                  <a:srgbClr val="475569"/>
                </a:solidFill>
                <a:latin typeface="Calibri"/>
              </a:rPr>
              <a:t>Surging equity markets triggered 15%+ allocation drift. Needs immediate consent without administrative phone chasing.</a:t>
            </a:r>
          </a:p>
          <a:p>
            <a:pPr marL="342900" indent="-228600">
              <a:spcAft>
                <a:spcPts val="600"/>
              </a:spcAft>
              <a:buChar char="•"/>
            </a:pPr>
            <a:r>
              <a:rPr b="1" sz="1350">
                <a:solidFill>
                  <a:srgbClr val="0A192F"/>
                </a:solidFill>
                <a:latin typeface="Calibri"/>
              </a:rPr>
              <a:t>Statutory Need: </a:t>
            </a:r>
            <a:r>
              <a:rPr b="0" sz="1350">
                <a:solidFill>
                  <a:srgbClr val="475569"/>
                </a:solidFill>
                <a:latin typeface="Calibri"/>
              </a:rPr>
              <a:t>Mandated 5-year audit trail for rationale under SEBI Regulation 19.</a:t>
            </a:r>
          </a:p>
          <a:p>
            <a:pPr>
              <a:spcBef>
                <a:spcPts val="800"/>
              </a:spcBef>
              <a:defRPr i="1" sz="1250">
                <a:solidFill>
                  <a:srgbClr val="4F46E5"/>
                </a:solidFill>
              </a:defRPr>
            </a:pPr>
            <a:r>
              <a:t>“I cannot risk my SEBI licence on unrecorded phone calls or casual text messages. When markets drift, I need a verifiable, locked consent record in under an hour.”</a:t>
            </a:r>
          </a:p>
        </p:txBody>
      </p:sp>
      <p:sp>
        <p:nvSpPr>
          <p:cNvPr id="6" name="Rounded Rectangle 5"/>
          <p:cNvSpPr/>
          <p:nvPr/>
        </p:nvSpPr>
        <p:spPr>
          <a:xfrm>
            <a:off x="6248095" y="1828800"/>
            <a:ext cx="521208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6695" y="2011680"/>
            <a:ext cx="4754880" cy="3931920"/>
          </a:xfrm>
          <a:prstGeom prst="rect">
            <a:avLst/>
          </a:prstGeom>
          <a:noFill/>
        </p:spPr>
        <p:txBody>
          <a:bodyPr wrap="square">
            <a:spAutoFit/>
          </a:bodyPr>
          <a:lstStyle/>
          <a:p>
            <a:pPr>
              <a:defRPr b="1" sz="1700">
                <a:solidFill>
                  <a:srgbClr val="0A192F"/>
                </a:solidFill>
              </a:defRPr>
            </a:pPr>
            <a:r>
              <a:t>ROHAN MEHTA  [RM]</a:t>
            </a:r>
          </a:p>
          <a:p>
            <a:pPr>
              <a:spcAft>
                <a:spcPts val="800"/>
              </a:spcAft>
              <a:defRPr sz="1250">
                <a:solidFill>
                  <a:srgbClr val="059669"/>
                </a:solidFill>
              </a:defRPr>
            </a:pPr>
            <a:r>
              <a:t>Managing Director, Auto-Tech Firm, Pune (Masked PAN: XXXXX1234F)</a:t>
            </a:r>
          </a:p>
          <a:p>
            <a:pPr>
              <a:spcAft>
                <a:spcPts val="800"/>
              </a:spcAft>
              <a:defRPr b="1" sz="1250">
                <a:solidFill>
                  <a:srgbClr val="1E293B"/>
                </a:solidFill>
              </a:defRPr>
            </a:pPr>
            <a:r>
              <a:t>Key Metrics:  ₹4.2 Crore Portfolio   |   2-Minute Review Limit   |   Mobile-First</a:t>
            </a:r>
          </a:p>
          <a:p>
            <a:pPr marL="342900" indent="-228600">
              <a:spcAft>
                <a:spcPts val="600"/>
              </a:spcAft>
              <a:buChar char="•"/>
            </a:pPr>
            <a:r>
              <a:rPr b="1" sz="1350">
                <a:solidFill>
                  <a:srgbClr val="0A192F"/>
                </a:solidFill>
                <a:latin typeface="Calibri"/>
              </a:rPr>
              <a:t>Role: </a:t>
            </a:r>
            <a:r>
              <a:rPr b="0" sz="1350">
                <a:solidFill>
                  <a:srgbClr val="475569"/>
                </a:solidFill>
                <a:latin typeface="Calibri"/>
              </a:rPr>
              <a:t>Busy corporate executive reviewing financial proposals on smartphone between meetings.</a:t>
            </a:r>
          </a:p>
          <a:p>
            <a:pPr marL="342900" indent="-228600">
              <a:spcAft>
                <a:spcPts val="600"/>
              </a:spcAft>
              <a:buChar char="•"/>
            </a:pPr>
            <a:r>
              <a:rPr b="1" sz="1350">
                <a:solidFill>
                  <a:srgbClr val="0A192F"/>
                </a:solidFill>
                <a:latin typeface="Calibri"/>
              </a:rPr>
              <a:t>Pain Point: </a:t>
            </a:r>
            <a:r>
              <a:rPr b="0" sz="1350">
                <a:solidFill>
                  <a:srgbClr val="475569"/>
                </a:solidFill>
                <a:latin typeface="Calibri"/>
              </a:rPr>
              <a:t>Refuses to read lengthy PDF attachments or guess year-end capital gains taxes while travelling.</a:t>
            </a:r>
          </a:p>
          <a:p>
            <a:pPr marL="342900" indent="-228600">
              <a:spcAft>
                <a:spcPts val="600"/>
              </a:spcAft>
              <a:buChar char="•"/>
            </a:pPr>
            <a:r>
              <a:rPr b="1" sz="1350">
                <a:solidFill>
                  <a:srgbClr val="0A192F"/>
                </a:solidFill>
                <a:latin typeface="Calibri"/>
              </a:rPr>
              <a:t>Expectation: </a:t>
            </a:r>
            <a:r>
              <a:rPr b="0" sz="1350">
                <a:solidFill>
                  <a:srgbClr val="475569"/>
                </a:solidFill>
                <a:latin typeface="Calibri"/>
              </a:rPr>
              <a:t>2-minute mobile authorization flow with exact rupee tax impact before agreeing.</a:t>
            </a:r>
          </a:p>
          <a:p>
            <a:pPr>
              <a:spcBef>
                <a:spcPts val="800"/>
              </a:spcBef>
              <a:defRPr i="1" sz="1250">
                <a:solidFill>
                  <a:srgbClr val="059669"/>
                </a:solidFill>
              </a:defRPr>
            </a:pPr>
            <a:r>
              <a:t>“Tell me exactly what we are buying and selling, why we are doing it, and what my tax bill is. If it takes more than 2 minutes on my phone, I will postpone it.”</a:t>
            </a:r>
          </a:p>
        </p:txBody>
      </p:sp>
      <p:sp>
        <p:nvSpPr>
          <p:cNvPr id="8" name="TextBox 7"/>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3 of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FRICTION &amp; RISK ANALYSIS</a:t>
            </a:r>
          </a:p>
          <a:p>
            <a:pPr>
              <a:spcAft>
                <a:spcPts val="300"/>
              </a:spcAft>
              <a:defRPr sz="3200" b="1">
                <a:solidFill>
                  <a:srgbClr val="0A192F"/>
                </a:solidFill>
                <a:latin typeface="Calibri"/>
              </a:defRPr>
            </a:pPr>
            <a:r>
              <a:t>Four Critical Vulnerabilities of Legacy Approval Channels</a:t>
            </a:r>
          </a:p>
          <a:p>
            <a:pPr>
              <a:defRPr sz="1400">
                <a:solidFill>
                  <a:srgbClr val="475569"/>
                </a:solidFill>
                <a:latin typeface="Calibri"/>
              </a:defRPr>
            </a:pPr>
            <a:r>
              <a:t>Analyzing the legal, financial, and operational penalties of informal processes.</a:t>
            </a:r>
          </a:p>
        </p:txBody>
      </p:sp>
      <p:sp>
        <p:nvSpPr>
          <p:cNvPr id="4" name="Rounded Rectangle 3"/>
          <p:cNvSpPr/>
          <p:nvPr/>
        </p:nvSpPr>
        <p:spPr>
          <a:xfrm>
            <a:off x="731520" y="1783080"/>
            <a:ext cx="10728655" cy="1051560"/>
          </a:xfrm>
          <a:prstGeom prst="roundRect">
            <a:avLst/>
          </a:prstGeom>
          <a:solidFill>
            <a:srgbClr val="F8FAFC"/>
          </a:solidFill>
          <a:ln w="127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92808"/>
            <a:ext cx="10149840" cy="832104"/>
          </a:xfrm>
          <a:prstGeom prst="rect">
            <a:avLst/>
          </a:prstGeom>
          <a:noFill/>
        </p:spPr>
        <p:txBody>
          <a:bodyPr wrap="square">
            <a:spAutoFit/>
          </a:bodyPr>
          <a:lstStyle/>
          <a:p>
            <a:pPr>
              <a:defRPr b="1" sz="1500">
                <a:solidFill>
                  <a:srgbClr val="E11D48"/>
                </a:solidFill>
              </a:defRPr>
            </a:pPr>
            <a:r>
              <a:t>SEBI Regulation 19 Compliance Exposure</a:t>
            </a:r>
          </a:p>
          <a:p>
            <a:pPr>
              <a:defRPr sz="1400">
                <a:solidFill>
                  <a:srgbClr val="1E293B"/>
                </a:solidFill>
              </a:defRPr>
            </a:pPr>
            <a:r>
              <a:t>Failing to maintain contemporaneous records of investment advice, rationale, and documented client agreement for 5 years leaves advisers vulnerable during mandatory inspections and enforcement actions.</a:t>
            </a:r>
          </a:p>
        </p:txBody>
      </p:sp>
      <p:sp>
        <p:nvSpPr>
          <p:cNvPr id="6" name="Rounded Rectangle 5"/>
          <p:cNvSpPr/>
          <p:nvPr/>
        </p:nvSpPr>
        <p:spPr>
          <a:xfrm>
            <a:off x="731520" y="2971800"/>
            <a:ext cx="10728655" cy="105156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081528"/>
            <a:ext cx="10149840" cy="832104"/>
          </a:xfrm>
          <a:prstGeom prst="rect">
            <a:avLst/>
          </a:prstGeom>
          <a:noFill/>
        </p:spPr>
        <p:txBody>
          <a:bodyPr wrap="square">
            <a:spAutoFit/>
          </a:bodyPr>
          <a:lstStyle/>
          <a:p>
            <a:pPr>
              <a:defRPr b="1" sz="1500">
                <a:solidFill>
                  <a:srgbClr val="D97706"/>
                </a:solidFill>
              </a:defRPr>
            </a:pPr>
            <a:r>
              <a:t>Advance Tax Penal Interest (Sec 208, 234B &amp; 234C)</a:t>
            </a:r>
          </a:p>
          <a:p>
            <a:pPr>
              <a:defRPr sz="1400">
                <a:solidFill>
                  <a:srgbClr val="1E293B"/>
                </a:solidFill>
              </a:defRPr>
            </a:pPr>
            <a:r>
              <a:t>Selling equities without advance tax warnings triggers 1% monthly penal interest if net tax liability reaches ₹10,000; requires planning under Section 234C capital gains installment relief proviso.</a:t>
            </a:r>
          </a:p>
        </p:txBody>
      </p:sp>
      <p:sp>
        <p:nvSpPr>
          <p:cNvPr id="8" name="Rounded Rectangle 7"/>
          <p:cNvSpPr/>
          <p:nvPr/>
        </p:nvSpPr>
        <p:spPr>
          <a:xfrm>
            <a:off x="731520" y="4160520"/>
            <a:ext cx="10728655" cy="105156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270248"/>
            <a:ext cx="10149840" cy="832104"/>
          </a:xfrm>
          <a:prstGeom prst="rect">
            <a:avLst/>
          </a:prstGeom>
          <a:noFill/>
        </p:spPr>
        <p:txBody>
          <a:bodyPr wrap="square">
            <a:spAutoFit/>
          </a:bodyPr>
          <a:lstStyle/>
          <a:p>
            <a:pPr>
              <a:defRPr b="1" sz="1500">
                <a:solidFill>
                  <a:srgbClr val="4F46E5"/>
                </a:solidFill>
              </a:defRPr>
            </a:pPr>
            <a:r>
              <a:t>Electronic Evidence Inadmissibility (BSA Sec 63 / Sec 65B)</a:t>
            </a:r>
          </a:p>
          <a:p>
            <a:pPr>
              <a:defRPr sz="1400">
                <a:solidFill>
                  <a:srgbClr val="1E293B"/>
                </a:solidFill>
              </a:defRPr>
            </a:pPr>
            <a:r>
              <a:t>Under Section 63 of Bharatiya Sakshya Adhiniyam, 2023, raw text screenshots lack server hash continuity and device provenance required for judicial and regulatory admissibility.</a:t>
            </a:r>
          </a:p>
        </p:txBody>
      </p:sp>
      <p:sp>
        <p:nvSpPr>
          <p:cNvPr id="10" name="Rounded Rectangle 9"/>
          <p:cNvSpPr/>
          <p:nvPr/>
        </p:nvSpPr>
        <p:spPr>
          <a:xfrm>
            <a:off x="731520" y="5349240"/>
            <a:ext cx="10728655" cy="1051560"/>
          </a:xfrm>
          <a:prstGeom prst="roundRect">
            <a:avLst/>
          </a:prstGeom>
          <a:solidFill>
            <a:srgbClr val="F8FAFC"/>
          </a:solidFill>
          <a:ln w="12700">
            <a:solidFill>
              <a:srgbClr val="0A1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58968"/>
            <a:ext cx="10149840" cy="832104"/>
          </a:xfrm>
          <a:prstGeom prst="rect">
            <a:avLst/>
          </a:prstGeom>
          <a:noFill/>
        </p:spPr>
        <p:txBody>
          <a:bodyPr wrap="square">
            <a:spAutoFit/>
          </a:bodyPr>
          <a:lstStyle/>
          <a:p>
            <a:pPr>
              <a:defRPr b="1" sz="1500">
                <a:solidFill>
                  <a:srgbClr val="0A192F"/>
                </a:solidFill>
              </a:defRPr>
            </a:pPr>
            <a:r>
              <a:t>Operational Delay &amp; Market Slippage</a:t>
            </a:r>
          </a:p>
          <a:p>
            <a:pPr>
              <a:defRPr sz="1400">
                <a:solidFill>
                  <a:srgbClr val="1E293B"/>
                </a:solidFill>
              </a:defRPr>
            </a:pPr>
            <a:r>
              <a:t>Chasing clients across phone calls and emails causes days of delay, during which market prices drift and optimal rebalancing windows evaporate.</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4 of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PLATFORM ARCHITECTURE</a:t>
            </a:r>
          </a:p>
          <a:p>
            <a:pPr>
              <a:spcAft>
                <a:spcPts val="300"/>
              </a:spcAft>
              <a:defRPr sz="3200" b="1">
                <a:solidFill>
                  <a:srgbClr val="0A192F"/>
                </a:solidFill>
                <a:latin typeface="Calibri"/>
              </a:defRPr>
            </a:pPr>
            <a:r>
              <a:t>FinConsent Solution Overview: The Four Core Pillars</a:t>
            </a:r>
          </a:p>
          <a:p>
            <a:pPr>
              <a:defRPr sz="1400">
                <a:solidFill>
                  <a:srgbClr val="475569"/>
                </a:solidFill>
                <a:latin typeface="Calibri"/>
              </a:defRPr>
            </a:pPr>
            <a:r>
              <a:t>An integrated statutory infrastructure bridging advisory formulation and client mobile consent.</a:t>
            </a:r>
          </a:p>
        </p:txBody>
      </p:sp>
      <p:sp>
        <p:nvSpPr>
          <p:cNvPr id="4" name="Rounded Rectangle 3"/>
          <p:cNvSpPr/>
          <p:nvPr/>
        </p:nvSpPr>
        <p:spPr>
          <a:xfrm>
            <a:off x="2560320" y="1737360"/>
            <a:ext cx="7071055" cy="1005840"/>
          </a:xfrm>
          <a:prstGeom prst="roundRect">
            <a:avLst/>
          </a:prstGeom>
          <a:solidFill>
            <a:srgbClr val="0A192F"/>
          </a:solidFill>
          <a:ln w="12700">
            <a:solidFill>
              <a:srgbClr val="0A1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0" y="1828800"/>
            <a:ext cx="6705295" cy="822960"/>
          </a:xfrm>
          <a:prstGeom prst="rect">
            <a:avLst/>
          </a:prstGeom>
          <a:noFill/>
        </p:spPr>
        <p:txBody>
          <a:bodyPr wrap="square">
            <a:spAutoFit/>
          </a:bodyPr>
          <a:lstStyle/>
          <a:p>
            <a:pPr algn="ctr">
              <a:defRPr b="1" sz="1600">
                <a:solidFill>
                  <a:srgbClr val="FFFFFF"/>
                </a:solidFill>
              </a:defRPr>
            </a:pPr>
            <a:r>
              <a:t>FINCONSENT CORE STATUTORY PLATFORM</a:t>
            </a:r>
          </a:p>
          <a:p>
            <a:pPr algn="ctr">
              <a:defRPr sz="1300">
                <a:solidFill>
                  <a:srgbClr val="A5B4FC"/>
                </a:solidFill>
              </a:defRPr>
            </a:pPr>
            <a:r>
              <a:t>Unified Architecture for SEBI Reg 19  |  Finance Act 2024  |  BSA 2023 Sec 63</a:t>
            </a:r>
          </a:p>
        </p:txBody>
      </p:sp>
      <p:sp>
        <p:nvSpPr>
          <p:cNvPr id="6" name="Rounded Rectangle 5"/>
          <p:cNvSpPr/>
          <p:nvPr/>
        </p:nvSpPr>
        <p:spPr>
          <a:xfrm>
            <a:off x="731520" y="2971800"/>
            <a:ext cx="2468880" cy="320040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108960"/>
            <a:ext cx="2139696" cy="2834640"/>
          </a:xfrm>
          <a:prstGeom prst="rect">
            <a:avLst/>
          </a:prstGeom>
          <a:noFill/>
        </p:spPr>
        <p:txBody>
          <a:bodyPr wrap="square">
            <a:spAutoFit/>
          </a:bodyPr>
          <a:lstStyle/>
          <a:p>
            <a:pPr>
              <a:spcAft>
                <a:spcPts val="1000"/>
              </a:spcAft>
              <a:defRPr b="1" sz="1500">
                <a:solidFill>
                  <a:srgbClr val="D97706"/>
                </a:solidFill>
              </a:defRPr>
            </a:pPr>
            <a:r>
              <a:t>1. Pre-Trade Tax Engine</a:t>
            </a:r>
          </a:p>
          <a:p>
            <a:pPr>
              <a:defRPr sz="1350">
                <a:solidFill>
                  <a:srgbClr val="1E293B"/>
                </a:solidFill>
              </a:defRPr>
            </a:pPr>
            <a:r>
              <a:t>Dynamic Finance Act 2024 tax computation. Real-time STCG (20%) &amp; LTCG (12.5% + 4% cess) computation with quarterly advance tax alerts under Section 208 / 234C.</a:t>
            </a:r>
          </a:p>
        </p:txBody>
      </p:sp>
      <p:sp>
        <p:nvSpPr>
          <p:cNvPr id="8" name="Rounded Rectangle 7"/>
          <p:cNvSpPr/>
          <p:nvPr/>
        </p:nvSpPr>
        <p:spPr>
          <a:xfrm>
            <a:off x="3474720" y="2971800"/>
            <a:ext cx="2468880" cy="320040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3108960"/>
            <a:ext cx="2139696" cy="2834640"/>
          </a:xfrm>
          <a:prstGeom prst="rect">
            <a:avLst/>
          </a:prstGeom>
          <a:noFill/>
        </p:spPr>
        <p:txBody>
          <a:bodyPr wrap="square">
            <a:spAutoFit/>
          </a:bodyPr>
          <a:lstStyle/>
          <a:p>
            <a:pPr>
              <a:spcAft>
                <a:spcPts val="1000"/>
              </a:spcAft>
              <a:defRPr b="1" sz="1500">
                <a:solidFill>
                  <a:srgbClr val="4F46E5"/>
                </a:solidFill>
              </a:defRPr>
            </a:pPr>
            <a:r>
              <a:t>2. Dual-Envelope Encryption</a:t>
            </a:r>
          </a:p>
          <a:p>
            <a:pPr>
              <a:defRPr sz="1350">
                <a:solidFill>
                  <a:srgbClr val="1E293B"/>
                </a:solidFill>
              </a:defRPr>
            </a:pPr>
            <a:r>
              <a:t>AES-256-GCM encryption with dual key wrapping and isolated Server Master Key. Financial data remains encrypted at rest until client unlocks via PAN last 4 + DOB.</a:t>
            </a:r>
          </a:p>
        </p:txBody>
      </p:sp>
      <p:sp>
        <p:nvSpPr>
          <p:cNvPr id="10" name="Rounded Rectangle 9"/>
          <p:cNvSpPr/>
          <p:nvPr/>
        </p:nvSpPr>
        <p:spPr>
          <a:xfrm>
            <a:off x="6217920" y="2971800"/>
            <a:ext cx="2468880" cy="320040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3108960"/>
            <a:ext cx="2139696" cy="2834640"/>
          </a:xfrm>
          <a:prstGeom prst="rect">
            <a:avLst/>
          </a:prstGeom>
          <a:noFill/>
        </p:spPr>
        <p:txBody>
          <a:bodyPr wrap="square">
            <a:spAutoFit/>
          </a:bodyPr>
          <a:lstStyle/>
          <a:p>
            <a:pPr>
              <a:spcAft>
                <a:spcPts val="1000"/>
              </a:spcAft>
              <a:defRPr b="1" sz="1500">
                <a:solidFill>
                  <a:srgbClr val="059669"/>
                </a:solidFill>
              </a:defRPr>
            </a:pPr>
            <a:r>
              <a:t>3. Mobile Consent Rail</a:t>
            </a:r>
          </a:p>
          <a:p>
            <a:pPr>
              <a:defRPr sz="1350">
                <a:solidFill>
                  <a:srgbClr val="1E293B"/>
                </a:solidFill>
              </a:defRPr>
            </a:pPr>
            <a:r>
              <a:t>Direct password-protected 256-bit magic links. Responsive smartphone layout, mandate clarification chat, and secure email/in-app 6-digit OTP verification.</a:t>
            </a:r>
          </a:p>
        </p:txBody>
      </p:sp>
      <p:sp>
        <p:nvSpPr>
          <p:cNvPr id="12" name="Rounded Rectangle 11"/>
          <p:cNvSpPr/>
          <p:nvPr/>
        </p:nvSpPr>
        <p:spPr>
          <a:xfrm>
            <a:off x="8961120" y="2971800"/>
            <a:ext cx="2468880" cy="3200400"/>
          </a:xfrm>
          <a:prstGeom prst="roundRect">
            <a:avLst/>
          </a:prstGeom>
          <a:solidFill>
            <a:srgbClr val="F8FAFC"/>
          </a:solidFill>
          <a:ln w="12700">
            <a:solidFill>
              <a:srgbClr val="0A1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25712" y="3108960"/>
            <a:ext cx="2139696" cy="2834640"/>
          </a:xfrm>
          <a:prstGeom prst="rect">
            <a:avLst/>
          </a:prstGeom>
          <a:noFill/>
        </p:spPr>
        <p:txBody>
          <a:bodyPr wrap="square">
            <a:spAutoFit/>
          </a:bodyPr>
          <a:lstStyle/>
          <a:p>
            <a:pPr>
              <a:spcAft>
                <a:spcPts val="1000"/>
              </a:spcAft>
              <a:defRPr b="1" sz="1500">
                <a:solidFill>
                  <a:srgbClr val="0A192F"/>
                </a:solidFill>
              </a:defRPr>
            </a:pPr>
            <a:r>
              <a:t>4. Section 63 BSA Ledger</a:t>
            </a:r>
          </a:p>
          <a:p>
            <a:pPr>
              <a:defRPr sz="1350">
                <a:solidFill>
                  <a:srgbClr val="1E293B"/>
                </a:solidFill>
              </a:defRPr>
            </a:pPr>
            <a:r>
              <a:t>Append-only forward SHA-256 hash chaining. Emits digitally fingerprinted Regulation 19 compliance dossiers with IP, User-Agent, and IST timestamps.</a:t>
            </a:r>
          </a:p>
        </p:txBody>
      </p:sp>
      <p:sp>
        <p:nvSpPr>
          <p:cNvPr id="14" name="TextBox 13"/>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5 of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NARRATIVE FLOW</a:t>
            </a:r>
          </a:p>
          <a:p>
            <a:pPr>
              <a:spcAft>
                <a:spcPts val="300"/>
              </a:spcAft>
              <a:defRPr sz="3200" b="1">
                <a:solidFill>
                  <a:srgbClr val="0A192F"/>
                </a:solidFill>
                <a:latin typeface="Calibri"/>
              </a:defRPr>
            </a:pPr>
            <a:r>
              <a:t>End-to-End User Journey: Advisor, Platform &amp; Client Lanes</a:t>
            </a:r>
          </a:p>
          <a:p>
            <a:pPr>
              <a:defRPr sz="1400">
                <a:solidFill>
                  <a:srgbClr val="475569"/>
                </a:solidFill>
                <a:latin typeface="Calibri"/>
              </a:defRPr>
            </a:pPr>
            <a:r>
              <a:t>Chronological sequence mapping advisory formulation to statutory compliance archive.</a:t>
            </a:r>
          </a:p>
        </p:txBody>
      </p:sp>
      <p:sp>
        <p:nvSpPr>
          <p:cNvPr id="4" name="Rounded Rectangle 3"/>
          <p:cNvSpPr/>
          <p:nvPr/>
        </p:nvSpPr>
        <p:spPr>
          <a:xfrm>
            <a:off x="731520" y="1783080"/>
            <a:ext cx="10728655"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92808"/>
            <a:ext cx="2011680" cy="1133856"/>
          </a:xfrm>
          <a:prstGeom prst="round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ADVISOR (RIA)</a:t>
            </a:r>
            <a:br/>
            <a:r>
              <a:t>Suresh Narayanan</a:t>
            </a:r>
          </a:p>
        </p:txBody>
      </p:sp>
      <p:sp>
        <p:nvSpPr>
          <p:cNvPr id="6" name="Rounded Rectangle 5"/>
          <p:cNvSpPr/>
          <p:nvPr/>
        </p:nvSpPr>
        <p:spPr>
          <a:xfrm>
            <a:off x="2971800" y="1901952"/>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1. Drift Detected</a:t>
            </a:r>
          </a:p>
          <a:p>
            <a:pPr>
              <a:defRPr sz="950">
                <a:solidFill>
                  <a:srgbClr val="475569"/>
                </a:solidFill>
              </a:defRPr>
            </a:pPr>
            <a:r>
              <a:t>Identifies 15% equity excess</a:t>
            </a:r>
          </a:p>
        </p:txBody>
      </p:sp>
      <p:sp>
        <p:nvSpPr>
          <p:cNvPr id="7" name="Right Arrow 6"/>
          <p:cNvSpPr/>
          <p:nvPr/>
        </p:nvSpPr>
        <p:spPr>
          <a:xfrm>
            <a:off x="4828032" y="2331720"/>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38343" y="1901952"/>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2. Formulation</a:t>
            </a:r>
          </a:p>
          <a:p>
            <a:pPr>
              <a:defRPr sz="950">
                <a:solidFill>
                  <a:srgbClr val="475569"/>
                </a:solidFill>
              </a:defRPr>
            </a:pPr>
            <a:r>
              <a:t>Drafts sell/buy &amp; rationale</a:t>
            </a:r>
          </a:p>
        </p:txBody>
      </p:sp>
      <p:sp>
        <p:nvSpPr>
          <p:cNvPr id="9" name="Right Arrow 8"/>
          <p:cNvSpPr/>
          <p:nvPr/>
        </p:nvSpPr>
        <p:spPr>
          <a:xfrm>
            <a:off x="6894575" y="2331720"/>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04887" y="1901952"/>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3. Dispatches Link</a:t>
            </a:r>
          </a:p>
          <a:p>
            <a:pPr>
              <a:defRPr sz="950">
                <a:solidFill>
                  <a:srgbClr val="475569"/>
                </a:solidFill>
              </a:defRPr>
            </a:pPr>
            <a:r>
              <a:t>Enforces 48h market window</a:t>
            </a:r>
          </a:p>
        </p:txBody>
      </p:sp>
      <p:sp>
        <p:nvSpPr>
          <p:cNvPr id="11" name="Right Arrow 10"/>
          <p:cNvSpPr/>
          <p:nvPr/>
        </p:nvSpPr>
        <p:spPr>
          <a:xfrm>
            <a:off x="8961119" y="2331720"/>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71431" y="1901952"/>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6. In-App Chat</a:t>
            </a:r>
          </a:p>
          <a:p>
            <a:pPr>
              <a:defRPr sz="950">
                <a:solidFill>
                  <a:srgbClr val="475569"/>
                </a:solidFill>
              </a:defRPr>
            </a:pPr>
            <a:r>
              <a:t>Clarifies allocation in rail</a:t>
            </a:r>
          </a:p>
        </p:txBody>
      </p:sp>
      <p:sp>
        <p:nvSpPr>
          <p:cNvPr id="13" name="Rounded Rectangle 12"/>
          <p:cNvSpPr/>
          <p:nvPr/>
        </p:nvSpPr>
        <p:spPr>
          <a:xfrm>
            <a:off x="731520" y="3273552"/>
            <a:ext cx="10728655"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383280"/>
            <a:ext cx="2011680" cy="1133856"/>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FINCONSENT CORE</a:t>
            </a:r>
            <a:br/>
            <a:r>
              <a:t>Platform Engine</a:t>
            </a:r>
          </a:p>
        </p:txBody>
      </p:sp>
      <p:sp>
        <p:nvSpPr>
          <p:cNvPr id="15" name="Rounded Rectangle 14"/>
          <p:cNvSpPr/>
          <p:nvPr/>
        </p:nvSpPr>
        <p:spPr>
          <a:xfrm>
            <a:off x="2971800" y="3392424"/>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4F46E5"/>
                </a:solidFill>
              </a:defRPr>
            </a:pPr>
            <a:r>
              <a:t>Pre-Trade Tax</a:t>
            </a:r>
          </a:p>
          <a:p>
            <a:pPr>
              <a:defRPr sz="950">
                <a:solidFill>
                  <a:srgbClr val="475569"/>
                </a:solidFill>
              </a:defRPr>
            </a:pPr>
            <a:r>
              <a:t>Calculates ₹11,440 liability</a:t>
            </a:r>
          </a:p>
        </p:txBody>
      </p:sp>
      <p:sp>
        <p:nvSpPr>
          <p:cNvPr id="16" name="Right Arrow 15"/>
          <p:cNvSpPr/>
          <p:nvPr/>
        </p:nvSpPr>
        <p:spPr>
          <a:xfrm>
            <a:off x="4828032" y="3822192"/>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38343" y="3392424"/>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4F46E5"/>
                </a:solidFill>
              </a:defRPr>
            </a:pPr>
            <a:r>
              <a:t>Envelope Crypto</a:t>
            </a:r>
          </a:p>
          <a:p>
            <a:pPr>
              <a:defRPr sz="950">
                <a:solidFill>
                  <a:srgbClr val="475569"/>
                </a:solidFill>
              </a:defRPr>
            </a:pPr>
            <a:r>
              <a:t>AES-256 dual key wrapping</a:t>
            </a:r>
          </a:p>
        </p:txBody>
      </p:sp>
      <p:sp>
        <p:nvSpPr>
          <p:cNvPr id="18" name="Right Arrow 17"/>
          <p:cNvSpPr/>
          <p:nvPr/>
        </p:nvSpPr>
        <p:spPr>
          <a:xfrm>
            <a:off x="6894575" y="3822192"/>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104887" y="3392424"/>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4F46E5"/>
                </a:solidFill>
              </a:defRPr>
            </a:pPr>
            <a:r>
              <a:t>6-Digit OTP Rail</a:t>
            </a:r>
          </a:p>
          <a:p>
            <a:pPr>
              <a:defRPr sz="950">
                <a:solidFill>
                  <a:srgbClr val="475569"/>
                </a:solidFill>
              </a:defRPr>
            </a:pPr>
            <a:r>
              <a:t>5m TTL &amp; 3-attempt lockout</a:t>
            </a:r>
          </a:p>
        </p:txBody>
      </p:sp>
      <p:sp>
        <p:nvSpPr>
          <p:cNvPr id="20" name="Right Arrow 19"/>
          <p:cNvSpPr/>
          <p:nvPr/>
        </p:nvSpPr>
        <p:spPr>
          <a:xfrm>
            <a:off x="8961119" y="3822192"/>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71431" y="3392424"/>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4F46E5"/>
                </a:solidFill>
              </a:defRPr>
            </a:pPr>
            <a:r>
              <a:t>Chained Ledger</a:t>
            </a:r>
          </a:p>
          <a:p>
            <a:pPr>
              <a:defRPr sz="950">
                <a:solidFill>
                  <a:srgbClr val="475569"/>
                </a:solidFill>
              </a:defRPr>
            </a:pPr>
            <a:r>
              <a:t>Forward SHA-256 BSA dossier</a:t>
            </a:r>
          </a:p>
        </p:txBody>
      </p:sp>
      <p:sp>
        <p:nvSpPr>
          <p:cNvPr id="22" name="Rounded Rectangle 21"/>
          <p:cNvSpPr/>
          <p:nvPr/>
        </p:nvSpPr>
        <p:spPr>
          <a:xfrm>
            <a:off x="731520" y="4764024"/>
            <a:ext cx="10728655"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873752"/>
            <a:ext cx="2011680" cy="1133856"/>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CLIENT (HNI)</a:t>
            </a:r>
            <a:br/>
            <a:r>
              <a:t>Rohan Mehta</a:t>
            </a:r>
          </a:p>
        </p:txBody>
      </p:sp>
      <p:sp>
        <p:nvSpPr>
          <p:cNvPr id="24" name="Rounded Rectangle 23"/>
          <p:cNvSpPr/>
          <p:nvPr/>
        </p:nvSpPr>
        <p:spPr>
          <a:xfrm>
            <a:off x="2971800" y="4882896"/>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59669"/>
                </a:solidFill>
              </a:defRPr>
            </a:pPr>
            <a:r>
              <a:t>4. Password Unlock</a:t>
            </a:r>
          </a:p>
          <a:p>
            <a:pPr>
              <a:defRPr sz="950">
                <a:solidFill>
                  <a:srgbClr val="475569"/>
                </a:solidFill>
              </a:defRPr>
            </a:pPr>
            <a:r>
              <a:t>Enters PAN last-4 + DOB</a:t>
            </a:r>
          </a:p>
        </p:txBody>
      </p:sp>
      <p:sp>
        <p:nvSpPr>
          <p:cNvPr id="25" name="Right Arrow 24"/>
          <p:cNvSpPr/>
          <p:nvPr/>
        </p:nvSpPr>
        <p:spPr>
          <a:xfrm>
            <a:off x="4828032" y="5312664"/>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38343" y="4882896"/>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59669"/>
                </a:solidFill>
              </a:defRPr>
            </a:pPr>
            <a:r>
              <a:t>5. Reviews Mandate</a:t>
            </a:r>
          </a:p>
          <a:p>
            <a:pPr>
              <a:defRPr sz="950">
                <a:solidFill>
                  <a:srgbClr val="475569"/>
                </a:solidFill>
              </a:defRPr>
            </a:pPr>
            <a:r>
              <a:t>Checks drift, baskets &amp; tax</a:t>
            </a:r>
          </a:p>
        </p:txBody>
      </p:sp>
      <p:sp>
        <p:nvSpPr>
          <p:cNvPr id="27" name="Right Arrow 26"/>
          <p:cNvSpPr/>
          <p:nvPr/>
        </p:nvSpPr>
        <p:spPr>
          <a:xfrm>
            <a:off x="6894575" y="5312664"/>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104887" y="4882896"/>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59669"/>
                </a:solidFill>
              </a:defRPr>
            </a:pPr>
            <a:r>
              <a:t>7. Enters OTP</a:t>
            </a:r>
          </a:p>
          <a:p>
            <a:pPr>
              <a:defRPr sz="950">
                <a:solidFill>
                  <a:srgbClr val="475569"/>
                </a:solidFill>
              </a:defRPr>
            </a:pPr>
            <a:r>
              <a:t>Checks 3 declarations</a:t>
            </a:r>
          </a:p>
        </p:txBody>
      </p:sp>
      <p:sp>
        <p:nvSpPr>
          <p:cNvPr id="29" name="Right Arrow 28"/>
          <p:cNvSpPr/>
          <p:nvPr/>
        </p:nvSpPr>
        <p:spPr>
          <a:xfrm>
            <a:off x="8961119" y="5312664"/>
            <a:ext cx="164592" cy="18288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71431" y="4882896"/>
            <a:ext cx="1810512" cy="11155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59669"/>
                </a:solidFill>
              </a:defRPr>
            </a:pPr>
            <a:r>
              <a:t>8. Locks Evidence</a:t>
            </a:r>
          </a:p>
          <a:p>
            <a:pPr>
              <a:defRPr sz="950">
                <a:solidFill>
                  <a:srgbClr val="475569"/>
                </a:solidFill>
              </a:defRPr>
            </a:pPr>
            <a:r>
              <a:t>Receives signed receipt</a:t>
            </a:r>
          </a:p>
        </p:txBody>
      </p:sp>
      <p:sp>
        <p:nvSpPr>
          <p:cNvPr id="31" name="TextBox 30"/>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6 of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PROCESS ARCHITECTURE</a:t>
            </a:r>
          </a:p>
          <a:p>
            <a:pPr>
              <a:spcAft>
                <a:spcPts val="300"/>
              </a:spcAft>
              <a:defRPr sz="3200" b="1">
                <a:solidFill>
                  <a:srgbClr val="0A192F"/>
                </a:solidFill>
                <a:latin typeface="Calibri"/>
              </a:defRPr>
            </a:pPr>
            <a:r>
              <a:t>Statutory State Progression: Journey &amp; Exception Paths</a:t>
            </a:r>
          </a:p>
          <a:p>
            <a:pPr>
              <a:defRPr sz="1400">
                <a:solidFill>
                  <a:srgbClr val="475569"/>
                </a:solidFill>
                <a:latin typeface="Calibri"/>
              </a:defRPr>
            </a:pPr>
            <a:r>
              <a:t>Deterministic finite-state machine governing advisory recommendations and legal evidence.</a:t>
            </a:r>
          </a:p>
        </p:txBody>
      </p:sp>
      <p:sp>
        <p:nvSpPr>
          <p:cNvPr id="4" name="Rounded Rectangle 3"/>
          <p:cNvSpPr/>
          <p:nvPr/>
        </p:nvSpPr>
        <p:spPr>
          <a:xfrm>
            <a:off x="731520" y="1783080"/>
            <a:ext cx="10728655" cy="205740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874519"/>
            <a:ext cx="10241280" cy="320040"/>
          </a:xfrm>
          <a:prstGeom prst="rect">
            <a:avLst/>
          </a:prstGeom>
          <a:noFill/>
        </p:spPr>
        <p:txBody>
          <a:bodyPr wrap="square">
            <a:spAutoFit/>
          </a:bodyPr>
          <a:lstStyle/>
          <a:p>
            <a:pPr>
              <a:defRPr b="1" sz="1250">
                <a:solidFill>
                  <a:srgbClr val="059669"/>
                </a:solidFill>
              </a:defRPr>
            </a:pPr>
            <a:r>
              <a:t>MAIN STATUTORY JOURNEY: UNIDIRECTIONAL PROGRESSION TO EVIDENCE LOCK</a:t>
            </a:r>
          </a:p>
        </p:txBody>
      </p:sp>
      <p:sp>
        <p:nvSpPr>
          <p:cNvPr id="6" name="Rounded Rectangle 5"/>
          <p:cNvSpPr/>
          <p:nvPr/>
        </p:nvSpPr>
        <p:spPr>
          <a:xfrm>
            <a:off x="960120" y="2240280"/>
            <a:ext cx="1810512" cy="1188720"/>
          </a:xfrm>
          <a:prstGeom prst="roundRect">
            <a:avLst/>
          </a:prstGeom>
          <a:solidFill>
            <a:srgbClr val="FFFFFF"/>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50">
                <a:solidFill>
                  <a:srgbClr val="475569"/>
                </a:solidFill>
              </a:defRPr>
            </a:pPr>
            <a:r>
              <a:t>1. DRAFT</a:t>
            </a:r>
          </a:p>
          <a:p>
            <a:pPr>
              <a:defRPr sz="1000">
                <a:solidFill>
                  <a:srgbClr val="1E293B"/>
                </a:solidFill>
              </a:defRPr>
            </a:pPr>
            <a:r>
              <a:t>Advisor selects drift baskets &amp; rationale</a:t>
            </a:r>
          </a:p>
        </p:txBody>
      </p:sp>
      <p:sp>
        <p:nvSpPr>
          <p:cNvPr id="7" name="Right Arrow 6"/>
          <p:cNvSpPr/>
          <p:nvPr/>
        </p:nvSpPr>
        <p:spPr>
          <a:xfrm>
            <a:off x="2825496" y="2697480"/>
            <a:ext cx="164592" cy="182880"/>
          </a:xfrm>
          <a:prstGeom prst="rightArrow">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044951" y="2240280"/>
            <a:ext cx="1810512" cy="118872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50">
                <a:solidFill>
                  <a:srgbClr val="4F46E5"/>
                </a:solidFill>
              </a:defRPr>
            </a:pPr>
            <a:r>
              <a:t>2. SENT</a:t>
            </a:r>
          </a:p>
          <a:p>
            <a:pPr>
              <a:defRPr sz="1000">
                <a:solidFill>
                  <a:srgbClr val="1E293B"/>
                </a:solidFill>
              </a:defRPr>
            </a:pPr>
            <a:r>
              <a:t>Encrypted link dispatched with 48h cutoff</a:t>
            </a:r>
          </a:p>
        </p:txBody>
      </p:sp>
      <p:sp>
        <p:nvSpPr>
          <p:cNvPr id="9" name="Right Arrow 8"/>
          <p:cNvSpPr/>
          <p:nvPr/>
        </p:nvSpPr>
        <p:spPr>
          <a:xfrm>
            <a:off x="4910327" y="2697480"/>
            <a:ext cx="164592" cy="182880"/>
          </a:xfrm>
          <a:prstGeom prst="rightArrow">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29783" y="2240280"/>
            <a:ext cx="1810512" cy="1188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50">
                <a:solidFill>
                  <a:srgbClr val="D97706"/>
                </a:solidFill>
              </a:defRPr>
            </a:pPr>
            <a:r>
              <a:t>3. VIEWED</a:t>
            </a:r>
          </a:p>
          <a:p>
            <a:pPr>
              <a:defRPr sz="1000">
                <a:solidFill>
                  <a:srgbClr val="1E293B"/>
                </a:solidFill>
              </a:defRPr>
            </a:pPr>
            <a:r>
              <a:t>Unlocked via PAN last-4 + DOB password</a:t>
            </a:r>
          </a:p>
        </p:txBody>
      </p:sp>
      <p:sp>
        <p:nvSpPr>
          <p:cNvPr id="11" name="Right Arrow 10"/>
          <p:cNvSpPr/>
          <p:nvPr/>
        </p:nvSpPr>
        <p:spPr>
          <a:xfrm>
            <a:off x="6995159" y="2697480"/>
            <a:ext cx="164592" cy="182880"/>
          </a:xfrm>
          <a:prstGeom prst="rightArrow">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14616" y="2240280"/>
            <a:ext cx="1810512" cy="11887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50">
                <a:solidFill>
                  <a:srgbClr val="059669"/>
                </a:solidFill>
              </a:defRPr>
            </a:pPr>
            <a:r>
              <a:t>4. CONSENTED</a:t>
            </a:r>
          </a:p>
          <a:p>
            <a:pPr>
              <a:defRPr sz="1000">
                <a:solidFill>
                  <a:srgbClr val="1E293B"/>
                </a:solidFill>
              </a:defRPr>
            </a:pPr>
            <a:r>
              <a:t>Declarations verified via 6-digit OTP</a:t>
            </a:r>
          </a:p>
        </p:txBody>
      </p:sp>
      <p:sp>
        <p:nvSpPr>
          <p:cNvPr id="13" name="Right Arrow 12"/>
          <p:cNvSpPr/>
          <p:nvPr/>
        </p:nvSpPr>
        <p:spPr>
          <a:xfrm>
            <a:off x="9079992" y="2697480"/>
            <a:ext cx="164592" cy="182880"/>
          </a:xfrm>
          <a:prstGeom prst="rightArrow">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299447" y="2240280"/>
            <a:ext cx="1810512" cy="1188720"/>
          </a:xfrm>
          <a:prstGeom prst="roundRect">
            <a:avLst/>
          </a:prstGeom>
          <a:solidFill>
            <a:srgbClr val="FFFFFF"/>
          </a:solidFill>
          <a:ln w="19050">
            <a:solidFill>
              <a:srgbClr val="0A192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50">
                <a:solidFill>
                  <a:srgbClr val="0A192F"/>
                </a:solidFill>
              </a:defRPr>
            </a:pPr>
            <a:r>
              <a:t>5. LOCKED</a:t>
            </a:r>
          </a:p>
          <a:p>
            <a:pPr>
              <a:defRPr sz="1000">
                <a:solidFill>
                  <a:srgbClr val="1E293B"/>
                </a:solidFill>
              </a:defRPr>
            </a:pPr>
            <a:r>
              <a:t>Chained SHA-256 BSA §63 receipt emitted</a:t>
            </a:r>
          </a:p>
        </p:txBody>
      </p:sp>
      <p:sp>
        <p:nvSpPr>
          <p:cNvPr id="15" name="Rounded Rectangle 14"/>
          <p:cNvSpPr/>
          <p:nvPr/>
        </p:nvSpPr>
        <p:spPr>
          <a:xfrm>
            <a:off x="731520" y="3977639"/>
            <a:ext cx="10728655" cy="2148840"/>
          </a:xfrm>
          <a:prstGeom prst="roundRect">
            <a:avLst/>
          </a:prstGeom>
          <a:solidFill>
            <a:srgbClr val="F8FAFC"/>
          </a:solidFill>
          <a:ln w="127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0241280" cy="320040"/>
          </a:xfrm>
          <a:prstGeom prst="rect">
            <a:avLst/>
          </a:prstGeom>
          <a:noFill/>
        </p:spPr>
        <p:txBody>
          <a:bodyPr wrap="square">
            <a:spAutoFit/>
          </a:bodyPr>
          <a:lstStyle/>
          <a:p>
            <a:pPr>
              <a:defRPr b="1" sz="1250">
                <a:solidFill>
                  <a:srgbClr val="E11D48"/>
                </a:solidFill>
              </a:defRPr>
            </a:pPr>
            <a:r>
              <a:t>TERMINAL EXCEPTION BOUNDARIES (STRICT SAFETY LIMITS &amp; ACCESS HALTS)</a:t>
            </a:r>
          </a:p>
        </p:txBody>
      </p:sp>
      <p:sp>
        <p:nvSpPr>
          <p:cNvPr id="17" name="Rounded Rectangle 16"/>
          <p:cNvSpPr/>
          <p:nvPr/>
        </p:nvSpPr>
        <p:spPr>
          <a:xfrm>
            <a:off x="960120" y="4480560"/>
            <a:ext cx="2286000" cy="128016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200">
                <a:solidFill>
                  <a:srgbClr val="4F46E5"/>
                </a:solidFill>
              </a:defRPr>
            </a:pPr>
            <a:r>
              <a:t>ACTIVE MANDATE</a:t>
            </a:r>
          </a:p>
          <a:p>
            <a:pPr>
              <a:defRPr sz="1000">
                <a:solidFill>
                  <a:srgbClr val="1E293B"/>
                </a:solidFill>
              </a:defRPr>
            </a:pPr>
            <a:r>
              <a:t>Dispatched proposal in Sent or In-Review state.</a:t>
            </a:r>
          </a:p>
        </p:txBody>
      </p:sp>
      <p:sp>
        <p:nvSpPr>
          <p:cNvPr id="18" name="Right Arrow 17"/>
          <p:cNvSpPr/>
          <p:nvPr/>
        </p:nvSpPr>
        <p:spPr>
          <a:xfrm>
            <a:off x="3337560" y="5029200"/>
            <a:ext cx="228600" cy="164592"/>
          </a:xfrm>
          <a:prstGeom prst="rightArrow">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0" y="4480560"/>
            <a:ext cx="2423160" cy="128016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b="1" sz="1100">
                <a:solidFill>
                  <a:srgbClr val="E11D48"/>
                </a:solidFill>
              </a:defRPr>
            </a:pPr>
            <a:r>
              <a:t>EXPIRED (HTTP 410)</a:t>
            </a:r>
          </a:p>
          <a:p>
            <a:pPr>
              <a:spcAft>
                <a:spcPts val="200"/>
              </a:spcAft>
              <a:defRPr b="1" sz="950">
                <a:solidFill>
                  <a:srgbClr val="0A192F"/>
                </a:solidFill>
              </a:defRPr>
            </a:pPr>
            <a:r>
              <a:t>48-Hour Cutoff Elapses</a:t>
            </a:r>
          </a:p>
          <a:p>
            <a:pPr>
              <a:defRPr sz="900">
                <a:solidFill>
                  <a:srgbClr val="475569"/>
                </a:solidFill>
              </a:defRPr>
            </a:pPr>
            <a:r>
              <a:t>Proposal permanently invalidated to prevent stale execution.</a:t>
            </a:r>
          </a:p>
        </p:txBody>
      </p:sp>
      <p:sp>
        <p:nvSpPr>
          <p:cNvPr id="20" name="Right Arrow 19"/>
          <p:cNvSpPr/>
          <p:nvPr/>
        </p:nvSpPr>
        <p:spPr>
          <a:xfrm>
            <a:off x="5897880" y="5029200"/>
            <a:ext cx="228600" cy="164592"/>
          </a:xfrm>
          <a:prstGeom prst="rightArrow">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7920" y="4480560"/>
            <a:ext cx="2423160" cy="128016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b="1" sz="1100">
                <a:solidFill>
                  <a:srgbClr val="E11D48"/>
                </a:solidFill>
              </a:defRPr>
            </a:pPr>
            <a:r>
              <a:t>REVOKED (HTTP 410)</a:t>
            </a:r>
          </a:p>
          <a:p>
            <a:pPr>
              <a:spcAft>
                <a:spcPts val="200"/>
              </a:spcAft>
              <a:defRPr b="1" sz="950">
                <a:solidFill>
                  <a:srgbClr val="0A192F"/>
                </a:solidFill>
              </a:defRPr>
            </a:pPr>
            <a:r>
              <a:t>Advisor Retracts Mandate</a:t>
            </a:r>
          </a:p>
          <a:p>
            <a:pPr>
              <a:defRPr sz="900">
                <a:solidFill>
                  <a:srgbClr val="475569"/>
                </a:solidFill>
              </a:defRPr>
            </a:pPr>
            <a:r>
              <a:t>Emergency cancellation if market volatility alters investment drift.</a:t>
            </a:r>
          </a:p>
        </p:txBody>
      </p:sp>
      <p:sp>
        <p:nvSpPr>
          <p:cNvPr id="22" name="Right Arrow 21"/>
          <p:cNvSpPr/>
          <p:nvPr/>
        </p:nvSpPr>
        <p:spPr>
          <a:xfrm>
            <a:off x="8458200" y="5029200"/>
            <a:ext cx="228600" cy="164592"/>
          </a:xfrm>
          <a:prstGeom prst="rightArrow">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778240" y="4480560"/>
            <a:ext cx="2423160" cy="128016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b="1" sz="1100">
                <a:solidFill>
                  <a:srgbClr val="E11D48"/>
                </a:solidFill>
              </a:defRPr>
            </a:pPr>
            <a:r>
              <a:t>LOCKED OUT (HTTP 429)</a:t>
            </a:r>
          </a:p>
          <a:p>
            <a:pPr>
              <a:spcAft>
                <a:spcPts val="200"/>
              </a:spcAft>
              <a:defRPr b="1" sz="950">
                <a:solidFill>
                  <a:srgbClr val="0A192F"/>
                </a:solidFill>
              </a:defRPr>
            </a:pPr>
            <a:r>
              <a:t>3 Failed OTP Attempts</a:t>
            </a:r>
          </a:p>
          <a:p>
            <a:pPr>
              <a:defRPr sz="900">
                <a:solidFill>
                  <a:srgbClr val="475569"/>
                </a:solidFill>
              </a:defRPr>
            </a:pPr>
            <a:r>
              <a:t>Token burned immediately to neutralize brute-force attacks.</a:t>
            </a:r>
          </a:p>
        </p:txBody>
      </p:sp>
      <p:sp>
        <p:nvSpPr>
          <p:cNvPr id="24" name="TextBox 23"/>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7 of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RIA WORKSPACE</a:t>
            </a:r>
          </a:p>
          <a:p>
            <a:pPr>
              <a:spcAft>
                <a:spcPts val="300"/>
              </a:spcAft>
              <a:defRPr sz="3200" b="1">
                <a:solidFill>
                  <a:srgbClr val="0A192F"/>
                </a:solidFill>
                <a:latin typeface="Calibri"/>
              </a:defRPr>
            </a:pPr>
            <a:r>
              <a:t>The Advisor (RIA) Experience: Formulation &amp; Real-Time Control</a:t>
            </a:r>
          </a:p>
          <a:p>
            <a:pPr>
              <a:defRPr sz="1400">
                <a:solidFill>
                  <a:srgbClr val="475569"/>
                </a:solidFill>
                <a:latin typeface="Calibri"/>
              </a:defRPr>
            </a:pPr>
            <a:r>
              <a:t>Prudent Wealth Advisory center showing active practice mandates and countdown timers.</a:t>
            </a:r>
          </a:p>
        </p:txBody>
      </p:sp>
      <p:sp>
        <p:nvSpPr>
          <p:cNvPr id="4" name="Rounded Rectangle 3"/>
          <p:cNvSpPr/>
          <p:nvPr/>
        </p:nvSpPr>
        <p:spPr>
          <a:xfrm>
            <a:off x="731520" y="1783080"/>
            <a:ext cx="5120640" cy="42519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6232"/>
            <a:ext cx="73152" cy="73152"/>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9264" y="1856232"/>
            <a:ext cx="73152" cy="7315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856232"/>
            <a:ext cx="73152" cy="7315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1-ria-dashboard-firm-workspace.png"/>
          <p:cNvPicPr>
            <a:picLocks noChangeAspect="1"/>
          </p:cNvPicPr>
          <p:nvPr/>
        </p:nvPicPr>
        <p:blipFill>
          <a:blip r:embed="rId2"/>
          <a:stretch>
            <a:fillRect/>
          </a:stretch>
        </p:blipFill>
        <p:spPr>
          <a:xfrm>
            <a:off x="768096" y="2002536"/>
            <a:ext cx="5047488" cy="3995928"/>
          </a:xfrm>
          <a:prstGeom prst="rect">
            <a:avLst/>
          </a:prstGeom>
        </p:spPr>
      </p:pic>
      <p:sp>
        <p:nvSpPr>
          <p:cNvPr id="9" name="TextBox 8"/>
          <p:cNvSpPr txBox="1"/>
          <p:nvPr/>
        </p:nvSpPr>
        <p:spPr>
          <a:xfrm>
            <a:off x="731520" y="6071616"/>
            <a:ext cx="5120640" cy="201168"/>
          </a:xfrm>
          <a:prstGeom prst="rect">
            <a:avLst/>
          </a:prstGeom>
          <a:noFill/>
        </p:spPr>
        <p:txBody>
          <a:bodyPr wrap="square" lIns="0" tIns="0" rIns="0" bIns="0">
            <a:spAutoFit/>
          </a:bodyPr>
          <a:lstStyle/>
          <a:p>
            <a:pPr>
              <a:defRPr sz="950">
                <a:solidFill>
                  <a:srgbClr val="475569"/>
                </a:solidFill>
              </a:defRPr>
            </a:pPr>
            <a:r>
              <a:t>Figure 8.1: Authenticated RIA Dashboard showing portfolio overview and practice mandates.</a:t>
            </a:r>
          </a:p>
        </p:txBody>
      </p:sp>
      <p:sp>
        <p:nvSpPr>
          <p:cNvPr id="10" name="Rounded Rectangle 9"/>
          <p:cNvSpPr/>
          <p:nvPr/>
        </p:nvSpPr>
        <p:spPr>
          <a:xfrm>
            <a:off x="6217920" y="1783080"/>
            <a:ext cx="5242255" cy="4251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65960"/>
            <a:ext cx="4754880" cy="3931920"/>
          </a:xfrm>
          <a:prstGeom prst="rect">
            <a:avLst/>
          </a:prstGeom>
          <a:noFill/>
        </p:spPr>
        <p:txBody>
          <a:bodyPr wrap="square">
            <a:spAutoFit/>
          </a:bodyPr>
          <a:lstStyle/>
          <a:p>
            <a:pPr>
              <a:spcAft>
                <a:spcPts val="1000"/>
              </a:spcAft>
              <a:defRPr b="1" sz="1600">
                <a:solidFill>
                  <a:srgbClr val="0A192F"/>
                </a:solidFill>
              </a:defRPr>
            </a:pPr>
            <a:r>
              <a:t>Advisor Capabilities &amp; Controls</a:t>
            </a:r>
          </a:p>
          <a:p>
            <a:pPr marL="342900" indent="-228600">
              <a:spcAft>
                <a:spcPts val="600"/>
              </a:spcAft>
              <a:buChar char="•"/>
            </a:pPr>
            <a:r>
              <a:rPr b="1" sz="1350">
                <a:solidFill>
                  <a:srgbClr val="0A192F"/>
                </a:solidFill>
                <a:latin typeface="Calibri"/>
              </a:rPr>
              <a:t>[1] Practice Workspace: </a:t>
            </a:r>
            <a:r>
              <a:rPr b="0" sz="1350">
                <a:solidFill>
                  <a:srgbClr val="475569"/>
                </a:solidFill>
                <a:latin typeface="Calibri"/>
              </a:rPr>
              <a:t>Scoped view displaying active mandates (Draft, Sent, Viewed, Consented, Expired, Revoked) with live 48-hour countdown badges.</a:t>
            </a:r>
          </a:p>
          <a:p>
            <a:pPr marL="342900" indent="-228600">
              <a:spcAft>
                <a:spcPts val="600"/>
              </a:spcAft>
              <a:buChar char="•"/>
            </a:pPr>
            <a:r>
              <a:rPr b="1" sz="1350">
                <a:solidFill>
                  <a:srgbClr val="0A192F"/>
                </a:solidFill>
                <a:latin typeface="Calibri"/>
              </a:rPr>
              <a:t>[2] Client Registry: </a:t>
            </a:r>
            <a:r>
              <a:rPr b="0" sz="1350">
                <a:solidFill>
                  <a:srgbClr val="475569"/>
                </a:solidFill>
                <a:latin typeface="Calibri"/>
              </a:rPr>
              <a:t>Client management enforcing valid PAN syntax ([A-Z]{5}[0-9]{4}[A-Z]), masked presentation (XXXXX1234F), and mobile formatting.</a:t>
            </a:r>
          </a:p>
          <a:p>
            <a:pPr marL="342900" indent="-228600">
              <a:spcAft>
                <a:spcPts val="600"/>
              </a:spcAft>
              <a:buChar char="•"/>
            </a:pPr>
            <a:r>
              <a:rPr b="1" sz="1350">
                <a:solidFill>
                  <a:srgbClr val="0A192F"/>
                </a:solidFill>
                <a:latin typeface="Calibri"/>
              </a:rPr>
              <a:t>[3] Rebalance Formulation: </a:t>
            </a:r>
            <a:r>
              <a:rPr b="0" sz="1350">
                <a:solidFill>
                  <a:srgbClr val="475569"/>
                </a:solidFill>
                <a:latin typeface="Calibri"/>
              </a:rPr>
              <a:t>Simultaneous formulation of current vs target allocations, sell baskets, buy baskets, and investment rationale.</a:t>
            </a:r>
          </a:p>
          <a:p>
            <a:pPr marL="342900" indent="-228600">
              <a:spcAft>
                <a:spcPts val="600"/>
              </a:spcAft>
              <a:buChar char="•"/>
            </a:pPr>
            <a:r>
              <a:rPr b="1" sz="1350">
                <a:solidFill>
                  <a:srgbClr val="0A192F"/>
                </a:solidFill>
                <a:latin typeface="Calibri"/>
              </a:rPr>
              <a:t>[4] Emergency Revocation: </a:t>
            </a:r>
            <a:r>
              <a:rPr b="0" sz="1350">
                <a:solidFill>
                  <a:srgbClr val="475569"/>
                </a:solidFill>
                <a:latin typeface="Calibri"/>
              </a:rPr>
              <a:t>One-click 'Revoke Link' feature allows advisers to immediately cancel dispatched proposals if market conditions shift.</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8 of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CLIENT INTERFACE</a:t>
            </a:r>
          </a:p>
          <a:p>
            <a:pPr>
              <a:spcAft>
                <a:spcPts val="300"/>
              </a:spcAft>
              <a:defRPr sz="3200" b="1">
                <a:solidFill>
                  <a:srgbClr val="0A192F"/>
                </a:solidFill>
                <a:latin typeface="Calibri"/>
              </a:defRPr>
            </a:pPr>
            <a:r>
              <a:t>The Client Experience: Mobile-First Transparency</a:t>
            </a:r>
          </a:p>
          <a:p>
            <a:pPr>
              <a:defRPr sz="1400">
                <a:solidFill>
                  <a:srgbClr val="475569"/>
                </a:solidFill>
                <a:latin typeface="Calibri"/>
              </a:defRPr>
            </a:pPr>
            <a:r>
              <a:t>Rohan Mehta's smartphone review interface designed for executive clarity on the go.</a:t>
            </a:r>
          </a:p>
        </p:txBody>
      </p:sp>
      <p:sp>
        <p:nvSpPr>
          <p:cNvPr id="4" name="Rounded Rectangle 3"/>
          <p:cNvSpPr/>
          <p:nvPr/>
        </p:nvSpPr>
        <p:spPr>
          <a:xfrm>
            <a:off x="1097280" y="1691640"/>
            <a:ext cx="2468880" cy="4251960"/>
          </a:xfrm>
          <a:prstGeom prst="roundRect">
            <a:avLst/>
          </a:prstGeom>
          <a:solidFill>
            <a:srgbClr val="0A19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client-review-mobile.png"/>
          <p:cNvPicPr>
            <a:picLocks noChangeAspect="1"/>
          </p:cNvPicPr>
          <p:nvPr/>
        </p:nvPicPr>
        <p:blipFill>
          <a:blip r:embed="rId2"/>
          <a:stretch>
            <a:fillRect/>
          </a:stretch>
        </p:blipFill>
        <p:spPr>
          <a:xfrm>
            <a:off x="1170432" y="1801368"/>
            <a:ext cx="2322576" cy="4032504"/>
          </a:xfrm>
          <a:prstGeom prst="rect">
            <a:avLst/>
          </a:prstGeom>
        </p:spPr>
      </p:pic>
      <p:sp>
        <p:nvSpPr>
          <p:cNvPr id="6" name="TextBox 5"/>
          <p:cNvSpPr txBox="1"/>
          <p:nvPr/>
        </p:nvSpPr>
        <p:spPr>
          <a:xfrm>
            <a:off x="1097280" y="5980176"/>
            <a:ext cx="2468880" cy="201168"/>
          </a:xfrm>
          <a:prstGeom prst="rect">
            <a:avLst/>
          </a:prstGeom>
          <a:noFill/>
        </p:spPr>
        <p:txBody>
          <a:bodyPr wrap="square" lIns="0" tIns="0" rIns="0" bIns="0">
            <a:spAutoFit/>
          </a:bodyPr>
          <a:lstStyle/>
          <a:p>
            <a:pPr algn="ctr">
              <a:defRPr sz="950">
                <a:solidFill>
                  <a:srgbClr val="475569"/>
                </a:solidFill>
              </a:defRPr>
            </a:pPr>
            <a:r>
              <a:t>Figure 9.1: Rohan Mehta's Mobile Screen</a:t>
            </a:r>
          </a:p>
        </p:txBody>
      </p:sp>
      <p:sp>
        <p:nvSpPr>
          <p:cNvPr id="7" name="Rounded Rectangle 6"/>
          <p:cNvSpPr/>
          <p:nvPr/>
        </p:nvSpPr>
        <p:spPr>
          <a:xfrm>
            <a:off x="4114800" y="1691640"/>
            <a:ext cx="7315200" cy="4434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874519"/>
            <a:ext cx="6858000" cy="4069080"/>
          </a:xfrm>
          <a:prstGeom prst="rect">
            <a:avLst/>
          </a:prstGeom>
          <a:noFill/>
        </p:spPr>
        <p:txBody>
          <a:bodyPr wrap="square">
            <a:spAutoFit/>
          </a:bodyPr>
          <a:lstStyle/>
          <a:p>
            <a:pPr>
              <a:spcAft>
                <a:spcPts val="1000"/>
              </a:spcAft>
              <a:defRPr b="1" sz="1600">
                <a:solidFill>
                  <a:srgbClr val="0A192F"/>
                </a:solidFill>
              </a:defRPr>
            </a:pPr>
            <a:r>
              <a:t>Key Client-Facing Elements</a:t>
            </a:r>
          </a:p>
          <a:p>
            <a:pPr marL="342900" indent="-228600">
              <a:spcAft>
                <a:spcPts val="600"/>
              </a:spcAft>
              <a:buChar char="•"/>
            </a:pPr>
            <a:r>
              <a:rPr b="1" sz="1350">
                <a:solidFill>
                  <a:srgbClr val="0A192F"/>
                </a:solidFill>
                <a:latin typeface="Calibri"/>
              </a:rPr>
              <a:t>[1] Direct Magic Link Convenience: </a:t>
            </a:r>
            <a:r>
              <a:rPr b="0" sz="1350">
                <a:solidFill>
                  <a:srgbClr val="475569"/>
                </a:solidFill>
                <a:latin typeface="Calibri"/>
              </a:rPr>
              <a:t>Clients tap the link received via email without remembering portal passwords or downloading an app.</a:t>
            </a:r>
          </a:p>
          <a:p>
            <a:pPr marL="342900" indent="-228600">
              <a:spcAft>
                <a:spcPts val="600"/>
              </a:spcAft>
              <a:buChar char="•"/>
            </a:pPr>
            <a:r>
              <a:rPr b="1" sz="1350">
                <a:solidFill>
                  <a:srgbClr val="0A192F"/>
                </a:solidFill>
                <a:latin typeface="Calibri"/>
              </a:rPr>
              <a:t>[2] Allocation Drift Visualization: </a:t>
            </a:r>
            <a:r>
              <a:rPr b="0" sz="1350">
                <a:solidFill>
                  <a:srgbClr val="475569"/>
                </a:solidFill>
                <a:latin typeface="Calibri"/>
              </a:rPr>
              <a:t>High-contrast visual bars illustrate how portfolio risk is being restored (Equity scaling from 65% down to 50%).</a:t>
            </a:r>
          </a:p>
          <a:p>
            <a:pPr marL="342900" indent="-228600">
              <a:spcAft>
                <a:spcPts val="600"/>
              </a:spcAft>
              <a:buChar char="•"/>
            </a:pPr>
            <a:r>
              <a:rPr b="1" sz="1350">
                <a:solidFill>
                  <a:srgbClr val="0A192F"/>
                </a:solidFill>
                <a:latin typeface="Calibri"/>
              </a:rPr>
              <a:t>[3] Transparent Trade Baskets: </a:t>
            </a:r>
            <a:r>
              <a:rPr b="0" sz="1350">
                <a:solidFill>
                  <a:srgbClr val="475569"/>
                </a:solidFill>
                <a:latin typeface="Calibri"/>
              </a:rPr>
              <a:t>Exact share quantities, market values, ISIN numbers, and rationale displayed clearly (Tata Motors, HDFC Bank -&gt; Bharat Bond, Gold ETF).</a:t>
            </a:r>
          </a:p>
          <a:p>
            <a:pPr marL="342900" indent="-228600">
              <a:spcAft>
                <a:spcPts val="600"/>
              </a:spcAft>
              <a:buChar char="•"/>
            </a:pPr>
            <a:r>
              <a:rPr b="1" sz="1350">
                <a:solidFill>
                  <a:srgbClr val="0A192F"/>
                </a:solidFill>
                <a:latin typeface="Calibri"/>
              </a:rPr>
              <a:t>[4] Pre-Computed Tax Liability: </a:t>
            </a:r>
            <a:r>
              <a:rPr b="0" sz="1350">
                <a:solidFill>
                  <a:srgbClr val="475569"/>
                </a:solidFill>
                <a:latin typeface="Calibri"/>
              </a:rPr>
              <a:t>Displays estimated rupee liability (₹11,440) so the client understands net financial impact before consenting.</a:t>
            </a:r>
          </a:p>
        </p:txBody>
      </p:sp>
      <p:sp>
        <p:nvSpPr>
          <p:cNvPr id="9" name="TextBox 8"/>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9 of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DATA PRIVACY GATE</a:t>
            </a:r>
          </a:p>
          <a:p>
            <a:pPr>
              <a:spcAft>
                <a:spcPts val="300"/>
              </a:spcAft>
              <a:defRPr sz="3200" b="1">
                <a:solidFill>
                  <a:srgbClr val="0A192F"/>
                </a:solidFill>
                <a:latin typeface="Calibri"/>
              </a:defRPr>
            </a:pPr>
            <a:r>
              <a:t>Mandate Security: Password-Protected Access Gate</a:t>
            </a:r>
          </a:p>
          <a:p>
            <a:pPr>
              <a:defRPr sz="1400">
                <a:solidFill>
                  <a:srgbClr val="475569"/>
                </a:solidFill>
                <a:latin typeface="Calibri"/>
              </a:defRPr>
            </a:pPr>
            <a:r>
              <a:t>Zero sensitive financial disclosure prior to client identity verification.</a:t>
            </a:r>
          </a:p>
        </p:txBody>
      </p:sp>
      <p:sp>
        <p:nvSpPr>
          <p:cNvPr id="4" name="Rounded Rectangle 3"/>
          <p:cNvSpPr/>
          <p:nvPr/>
        </p:nvSpPr>
        <p:spPr>
          <a:xfrm>
            <a:off x="914400" y="1691640"/>
            <a:ext cx="2468880" cy="4251960"/>
          </a:xfrm>
          <a:prstGeom prst="roundRect">
            <a:avLst/>
          </a:prstGeom>
          <a:solidFill>
            <a:srgbClr val="0A19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_mobile_unlock_screen.png"/>
          <p:cNvPicPr>
            <a:picLocks noChangeAspect="1"/>
          </p:cNvPicPr>
          <p:nvPr/>
        </p:nvPicPr>
        <p:blipFill>
          <a:blip r:embed="rId2"/>
          <a:stretch>
            <a:fillRect/>
          </a:stretch>
        </p:blipFill>
        <p:spPr>
          <a:xfrm>
            <a:off x="987552" y="1801368"/>
            <a:ext cx="2322576" cy="4032504"/>
          </a:xfrm>
          <a:prstGeom prst="rect">
            <a:avLst/>
          </a:prstGeom>
        </p:spPr>
      </p:pic>
      <p:sp>
        <p:nvSpPr>
          <p:cNvPr id="6" name="TextBox 5"/>
          <p:cNvSpPr txBox="1"/>
          <p:nvPr/>
        </p:nvSpPr>
        <p:spPr>
          <a:xfrm>
            <a:off x="914400" y="5980176"/>
            <a:ext cx="2468880" cy="201168"/>
          </a:xfrm>
          <a:prstGeom prst="rect">
            <a:avLst/>
          </a:prstGeom>
          <a:noFill/>
        </p:spPr>
        <p:txBody>
          <a:bodyPr wrap="square" lIns="0" tIns="0" rIns="0" bIns="0">
            <a:spAutoFit/>
          </a:bodyPr>
          <a:lstStyle/>
          <a:p>
            <a:pPr algn="ctr">
              <a:defRPr sz="950">
                <a:solidFill>
                  <a:srgbClr val="475569"/>
                </a:solidFill>
              </a:defRPr>
            </a:pPr>
            <a:r>
              <a:t>Figure 10.1: Client Password Gate on Mobile</a:t>
            </a:r>
          </a:p>
        </p:txBody>
      </p:sp>
      <p:sp>
        <p:nvSpPr>
          <p:cNvPr id="7" name="Rounded Rectangle 6"/>
          <p:cNvSpPr/>
          <p:nvPr/>
        </p:nvSpPr>
        <p:spPr>
          <a:xfrm>
            <a:off x="3931920" y="1737360"/>
            <a:ext cx="7498079" cy="4434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920240"/>
            <a:ext cx="7040880" cy="4069080"/>
          </a:xfrm>
          <a:prstGeom prst="rect">
            <a:avLst/>
          </a:prstGeom>
          <a:noFill/>
        </p:spPr>
        <p:txBody>
          <a:bodyPr wrap="square">
            <a:spAutoFit/>
          </a:bodyPr>
          <a:lstStyle/>
          <a:p>
            <a:pPr>
              <a:spcAft>
                <a:spcPts val="600"/>
              </a:spcAft>
              <a:defRPr b="1" sz="1600">
                <a:solidFill>
                  <a:srgbClr val="0A192F"/>
                </a:solidFill>
              </a:defRPr>
            </a:pPr>
            <a:r>
              <a:t>PAN + DOB Password Mechanism &amp; PBKDF2 Sequence</a:t>
            </a:r>
          </a:p>
          <a:p>
            <a:pPr>
              <a:spcAft>
                <a:spcPts val="1000"/>
              </a:spcAft>
              <a:defRPr b="1" sz="1250">
                <a:solidFill>
                  <a:srgbClr val="4F46E5"/>
                </a:solidFill>
              </a:defRPr>
            </a:pPr>
            <a:r>
              <a:t>Sequence: Magic Link ➜ Password Entry (PAN Last 4 + DOB) ➜ PBKDF2 Key Derivation ➜ DEK Unwrap ➜ Decrypt</a:t>
            </a:r>
          </a:p>
          <a:p>
            <a:pPr marL="342900" indent="-228600">
              <a:spcAft>
                <a:spcPts val="600"/>
              </a:spcAft>
              <a:buChar char="•"/>
            </a:pPr>
            <a:r>
              <a:rPr b="1" sz="1300">
                <a:solidFill>
                  <a:srgbClr val="0A192F"/>
                </a:solidFill>
                <a:latin typeface="Calibri"/>
              </a:rPr>
              <a:t>Zero PII Exposure Prior to Unlock: </a:t>
            </a:r>
            <a:r>
              <a:rPr b="0" sz="1300">
                <a:solidFill>
                  <a:srgbClr val="475569"/>
                </a:solidFill>
                <a:latin typeface="Calibri"/>
              </a:rPr>
              <a:t>If a link is leaked or forwarded, recipient sees only firm name; zero holdings or tax figures are emitted.</a:t>
            </a:r>
          </a:p>
          <a:p>
            <a:pPr marL="342900" indent="-228600">
              <a:spcAft>
                <a:spcPts val="600"/>
              </a:spcAft>
              <a:buChar char="•"/>
            </a:pPr>
            <a:r>
              <a:rPr b="1" sz="1300">
                <a:solidFill>
                  <a:srgbClr val="0A192F"/>
                </a:solidFill>
                <a:latin typeface="Calibri"/>
              </a:rPr>
              <a:t>Deterministic Verification PIN: </a:t>
            </a:r>
            <a:r>
              <a:rPr b="0" sz="1300">
                <a:solidFill>
                  <a:srgbClr val="475569"/>
                </a:solidFill>
                <a:latin typeface="Calibri"/>
              </a:rPr>
              <a:t>Formatted as Last 4 PAN digits + Date of Birth (DDMMYYYY). Example: Rohan's PAN XXXXX1234F + 14/08/1978 = 123414081978.</a:t>
            </a:r>
          </a:p>
          <a:p>
            <a:pPr marL="342900" indent="-228600">
              <a:spcAft>
                <a:spcPts val="600"/>
              </a:spcAft>
              <a:buChar char="•"/>
            </a:pPr>
            <a:r>
              <a:rPr b="1" sz="1300">
                <a:solidFill>
                  <a:srgbClr val="0A192F"/>
                </a:solidFill>
                <a:latin typeface="Calibri"/>
              </a:rPr>
              <a:t>PBKDF2 Key Derivation: </a:t>
            </a:r>
            <a:r>
              <a:rPr b="0" sz="1300">
                <a:solidFill>
                  <a:srgbClr val="475569"/>
                </a:solidFill>
                <a:latin typeface="Calibri"/>
              </a:rPr>
              <a:t>Derives 256-bit key using 100,000 SHA-256 iterations to unwrap Data Encryption Key (DEK).</a:t>
            </a:r>
          </a:p>
          <a:p>
            <a:pPr marL="342900" indent="-228600">
              <a:spcAft>
                <a:spcPts val="600"/>
              </a:spcAft>
              <a:buChar char="•"/>
            </a:pPr>
            <a:r>
              <a:rPr b="1" sz="1300">
                <a:solidFill>
                  <a:srgbClr val="0A192F"/>
                </a:solidFill>
                <a:latin typeface="Calibri"/>
              </a:rPr>
              <a:t>Strict Online Rate Limiting: </a:t>
            </a:r>
            <a:r>
              <a:rPr b="0" sz="1300">
                <a:solidFill>
                  <a:srgbClr val="475569"/>
                </a:solidFill>
                <a:latin typeface="Calibri"/>
              </a:rPr>
              <a:t>Defended online by sliding-window rate limiters (5 failed attempts -&gt; 15 min lockout) and offline by salted PBKDF2.</a:t>
            </a:r>
          </a:p>
        </p:txBody>
      </p:sp>
      <p:sp>
        <p:nvSpPr>
          <p:cNvPr id="9" name="TextBox 8"/>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10 of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MULTI-TENANCY &amp; RBAC</a:t>
            </a:r>
          </a:p>
          <a:p>
            <a:pPr>
              <a:spcAft>
                <a:spcPts val="300"/>
              </a:spcAft>
              <a:defRPr sz="3200" b="1">
                <a:solidFill>
                  <a:srgbClr val="0A192F"/>
                </a:solidFill>
                <a:latin typeface="Calibri"/>
              </a:defRPr>
            </a:pPr>
            <a:r>
              <a:t>Authentication, Authorization &amp; Tenant Isolation</a:t>
            </a:r>
          </a:p>
          <a:p>
            <a:pPr>
              <a:defRPr sz="1400">
                <a:solidFill>
                  <a:srgbClr val="475569"/>
                </a:solidFill>
                <a:latin typeface="Calibri"/>
              </a:defRPr>
            </a:pPr>
            <a:r>
              <a:t>Architectural barriers guaranteeing strict multi-tenant privacy across advisory practices.</a:t>
            </a:r>
          </a:p>
        </p:txBody>
      </p:sp>
      <p:sp>
        <p:nvSpPr>
          <p:cNvPr id="4" name="Rounded Rectangle 3"/>
          <p:cNvSpPr/>
          <p:nvPr/>
        </p:nvSpPr>
        <p:spPr>
          <a:xfrm>
            <a:off x="731520" y="1783080"/>
            <a:ext cx="5120640" cy="42519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6232"/>
            <a:ext cx="73152" cy="73152"/>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9264" y="1856232"/>
            <a:ext cx="73152" cy="7315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856232"/>
            <a:ext cx="73152" cy="7315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11-cross-ria-denied-foreign-client.png"/>
          <p:cNvPicPr>
            <a:picLocks noChangeAspect="1"/>
          </p:cNvPicPr>
          <p:nvPr/>
        </p:nvPicPr>
        <p:blipFill>
          <a:blip r:embed="rId2"/>
          <a:stretch>
            <a:fillRect/>
          </a:stretch>
        </p:blipFill>
        <p:spPr>
          <a:xfrm>
            <a:off x="768096" y="2002536"/>
            <a:ext cx="5047488" cy="3995928"/>
          </a:xfrm>
          <a:prstGeom prst="rect">
            <a:avLst/>
          </a:prstGeom>
        </p:spPr>
      </p:pic>
      <p:sp>
        <p:nvSpPr>
          <p:cNvPr id="9" name="TextBox 8"/>
          <p:cNvSpPr txBox="1"/>
          <p:nvPr/>
        </p:nvSpPr>
        <p:spPr>
          <a:xfrm>
            <a:off x="731520" y="6071616"/>
            <a:ext cx="5120640" cy="201168"/>
          </a:xfrm>
          <a:prstGeom prst="rect">
            <a:avLst/>
          </a:prstGeom>
          <a:noFill/>
        </p:spPr>
        <p:txBody>
          <a:bodyPr wrap="square" lIns="0" tIns="0" rIns="0" bIns="0">
            <a:spAutoFit/>
          </a:bodyPr>
          <a:lstStyle/>
          <a:p>
            <a:pPr>
              <a:defRPr sz="950">
                <a:solidFill>
                  <a:srgbClr val="475569"/>
                </a:solidFill>
              </a:defRPr>
            </a:pPr>
            <a:r>
              <a:t>Figure 11.1: Security Evidence — Cross-tenant access rejected with HTTP 403 Forbidden.</a:t>
            </a:r>
          </a:p>
        </p:txBody>
      </p:sp>
      <p:sp>
        <p:nvSpPr>
          <p:cNvPr id="10" name="Rounded Rectangle 9"/>
          <p:cNvSpPr/>
          <p:nvPr/>
        </p:nvSpPr>
        <p:spPr>
          <a:xfrm>
            <a:off x="6217920" y="1783080"/>
            <a:ext cx="5242255" cy="4251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65960"/>
            <a:ext cx="4754880" cy="3931920"/>
          </a:xfrm>
          <a:prstGeom prst="rect">
            <a:avLst/>
          </a:prstGeom>
          <a:noFill/>
        </p:spPr>
        <p:txBody>
          <a:bodyPr wrap="square">
            <a:spAutoFit/>
          </a:bodyPr>
          <a:lstStyle/>
          <a:p>
            <a:pPr>
              <a:spcAft>
                <a:spcPts val="1000"/>
              </a:spcAft>
              <a:defRPr b="1" sz="1600">
                <a:solidFill>
                  <a:srgbClr val="0A192F"/>
                </a:solidFill>
              </a:defRPr>
            </a:pPr>
            <a:r>
              <a:t>Tenancy Invariants &amp; Controls</a:t>
            </a:r>
          </a:p>
          <a:p>
            <a:pPr marL="342900" indent="-228600">
              <a:spcAft>
                <a:spcPts val="600"/>
              </a:spcAft>
              <a:buChar char="•"/>
            </a:pPr>
            <a:r>
              <a:rPr b="1" sz="1350">
                <a:solidFill>
                  <a:srgbClr val="0A192F"/>
                </a:solidFill>
                <a:latin typeface="Calibri"/>
              </a:rPr>
              <a:t>Firm Tenancy Scoping: </a:t>
            </a:r>
            <a:r>
              <a:rPr b="0" sz="1350">
                <a:solidFill>
                  <a:srgbClr val="475569"/>
                </a:solidFill>
                <a:latin typeface="Calibri"/>
              </a:rPr>
              <a:t>Every database query for clients, mandates, and audit logs is strictly partitioned by authenticated firm ID (req.user.firmName).</a:t>
            </a:r>
          </a:p>
          <a:p>
            <a:pPr marL="342900" indent="-228600">
              <a:spcAft>
                <a:spcPts val="600"/>
              </a:spcAft>
              <a:buChar char="•"/>
            </a:pPr>
            <a:r>
              <a:rPr b="1" sz="1350">
                <a:solidFill>
                  <a:srgbClr val="0A192F"/>
                </a:solidFill>
                <a:latin typeface="Calibri"/>
              </a:rPr>
              <a:t>Zero Cross-RIA Data Leakage: </a:t>
            </a:r>
            <a:r>
              <a:rPr b="0" sz="1350">
                <a:solidFill>
                  <a:srgbClr val="475569"/>
                </a:solidFill>
                <a:latin typeface="Calibri"/>
              </a:rPr>
              <a:t>RIA 1 attempting to query Client or Mandate of RIA 2 receives an immediate HTTP 403 Forbidden with zero data disclosure.</a:t>
            </a:r>
          </a:p>
          <a:p>
            <a:pPr marL="342900" indent="-228600">
              <a:spcAft>
                <a:spcPts val="600"/>
              </a:spcAft>
              <a:buChar char="•"/>
            </a:pPr>
            <a:r>
              <a:rPr b="1" sz="1350">
                <a:solidFill>
                  <a:srgbClr val="0A192F"/>
                </a:solidFill>
                <a:latin typeface="Calibri"/>
              </a:rPr>
              <a:t>Role-Based Access Control (RBAC): </a:t>
            </a:r>
            <a:r>
              <a:rPr b="0" sz="1350">
                <a:solidFill>
                  <a:srgbClr val="475569"/>
                </a:solidFill>
                <a:latin typeface="Calibri"/>
              </a:rPr>
              <a:t>Strict segregation across sebi-ria, hni-client, compliance_officer, admin, and guest personas.</a:t>
            </a:r>
          </a:p>
          <a:p>
            <a:pPr marL="342900" indent="-228600">
              <a:spcAft>
                <a:spcPts val="600"/>
              </a:spcAft>
              <a:buChar char="•"/>
            </a:pPr>
            <a:r>
              <a:rPr b="1" sz="1350">
                <a:solidFill>
                  <a:srgbClr val="0A192F"/>
                </a:solidFill>
                <a:latin typeface="Calibri"/>
              </a:rPr>
              <a:t>Privilege Escalation Defense: </a:t>
            </a:r>
            <a:r>
              <a:rPr b="0" sz="1350">
                <a:solidFill>
                  <a:srgbClr val="475569"/>
                </a:solidFill>
                <a:latin typeface="Calibri"/>
              </a:rPr>
              <a:t>Client users navigating to advisor creation or billing routes are intercepted by React ProtectedRoute and Express middleware.</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11 of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CRYPTOGRAPHIC CORE</a:t>
            </a:r>
          </a:p>
          <a:p>
            <a:pPr>
              <a:spcAft>
                <a:spcPts val="300"/>
              </a:spcAft>
              <a:defRPr sz="3200" b="1">
                <a:solidFill>
                  <a:srgbClr val="0A192F"/>
                </a:solidFill>
                <a:latin typeface="Calibri"/>
              </a:defRPr>
            </a:pPr>
            <a:r>
              <a:t>Data Security Architecture &amp; Dual-Envelope Encryption</a:t>
            </a:r>
          </a:p>
          <a:p>
            <a:pPr>
              <a:defRPr sz="1400">
                <a:solidFill>
                  <a:srgbClr val="475569"/>
                </a:solidFill>
                <a:latin typeface="Calibri"/>
              </a:defRPr>
            </a:pPr>
            <a:r>
              <a:t>Institutional cryptographic defense protecting financial mandates at rest and in transit.</a:t>
            </a:r>
          </a:p>
        </p:txBody>
      </p:sp>
      <p:sp>
        <p:nvSpPr>
          <p:cNvPr id="4" name="Rounded Rectangle 3"/>
          <p:cNvSpPr/>
          <p:nvPr/>
        </p:nvSpPr>
        <p:spPr>
          <a:xfrm>
            <a:off x="731520" y="1783080"/>
            <a:ext cx="3328416"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2962656" cy="4023360"/>
          </a:xfrm>
          <a:prstGeom prst="rect">
            <a:avLst/>
          </a:prstGeom>
          <a:noFill/>
        </p:spPr>
        <p:txBody>
          <a:bodyPr wrap="square">
            <a:spAutoFit/>
          </a:bodyPr>
          <a:lstStyle/>
          <a:p>
            <a:pPr>
              <a:spcAft>
                <a:spcPts val="800"/>
              </a:spcAft>
              <a:defRPr b="1" sz="1600">
                <a:solidFill>
                  <a:srgbClr val="0A192F"/>
                </a:solidFill>
              </a:defRPr>
            </a:pPr>
            <a:r>
              <a:t>Payload Encryption</a:t>
            </a:r>
          </a:p>
          <a:p>
            <a:pPr marL="342900" indent="-228600">
              <a:spcAft>
                <a:spcPts val="600"/>
              </a:spcAft>
              <a:buChar char="•"/>
            </a:pPr>
            <a:r>
              <a:rPr b="1" sz="1300">
                <a:solidFill>
                  <a:srgbClr val="0A192F"/>
                </a:solidFill>
                <a:latin typeface="Calibri"/>
              </a:rPr>
              <a:t>Cipher: </a:t>
            </a:r>
            <a:r>
              <a:rPr b="0" sz="1300">
                <a:solidFill>
                  <a:srgbClr val="475569"/>
                </a:solidFill>
                <a:latin typeface="Calibri"/>
              </a:rPr>
              <a:t>AES-256-GCM authenticated cipher.</a:t>
            </a:r>
          </a:p>
          <a:p>
            <a:pPr marL="342900" indent="-228600">
              <a:spcAft>
                <a:spcPts val="600"/>
              </a:spcAft>
              <a:buChar char="•"/>
            </a:pPr>
            <a:r>
              <a:rPr b="1" sz="1300">
                <a:solidFill>
                  <a:srgbClr val="0A192F"/>
                </a:solidFill>
                <a:latin typeface="Calibri"/>
              </a:rPr>
              <a:t>DEK: </a:t>
            </a:r>
            <a:r>
              <a:rPr b="0" sz="1300">
                <a:solidFill>
                  <a:srgbClr val="475569"/>
                </a:solidFill>
                <a:latin typeface="Calibri"/>
              </a:rPr>
              <a:t>256-bit random Data Encryption Key generated per mandate via CSPRNG.</a:t>
            </a:r>
          </a:p>
          <a:p>
            <a:pPr marL="342900" indent="-228600">
              <a:spcAft>
                <a:spcPts val="600"/>
              </a:spcAft>
              <a:buChar char="•"/>
            </a:pPr>
            <a:r>
              <a:rPr b="1" sz="1300">
                <a:solidFill>
                  <a:srgbClr val="0A192F"/>
                </a:solidFill>
                <a:latin typeface="Calibri"/>
              </a:rPr>
              <a:t>IV Vector: </a:t>
            </a:r>
            <a:r>
              <a:rPr b="0" sz="1300">
                <a:solidFill>
                  <a:srgbClr val="475569"/>
                </a:solidFill>
                <a:latin typeface="Calibri"/>
              </a:rPr>
              <a:t>12-byte random initialization vector.</a:t>
            </a:r>
          </a:p>
          <a:p>
            <a:pPr marL="342900" indent="-228600">
              <a:spcAft>
                <a:spcPts val="600"/>
              </a:spcAft>
              <a:buChar char="•"/>
            </a:pPr>
            <a:r>
              <a:rPr b="1" sz="1300">
                <a:solidFill>
                  <a:srgbClr val="0A192F"/>
                </a:solidFill>
                <a:latin typeface="Calibri"/>
              </a:rPr>
              <a:t>Auth Tag: </a:t>
            </a:r>
            <a:r>
              <a:rPr b="0" sz="1300">
                <a:solidFill>
                  <a:srgbClr val="475569"/>
                </a:solidFill>
                <a:latin typeface="Calibri"/>
              </a:rPr>
              <a:t>16-byte authentication tag ensuring ciphertext integrity and anti-tampering.</a:t>
            </a:r>
          </a:p>
        </p:txBody>
      </p:sp>
      <p:sp>
        <p:nvSpPr>
          <p:cNvPr id="6" name="Rounded Rectangle 5"/>
          <p:cNvSpPr/>
          <p:nvPr/>
        </p:nvSpPr>
        <p:spPr>
          <a:xfrm>
            <a:off x="4425696" y="1783080"/>
            <a:ext cx="3328416" cy="438912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965960"/>
            <a:ext cx="2962656" cy="4023360"/>
          </a:xfrm>
          <a:prstGeom prst="rect">
            <a:avLst/>
          </a:prstGeom>
          <a:noFill/>
        </p:spPr>
        <p:txBody>
          <a:bodyPr wrap="square">
            <a:spAutoFit/>
          </a:bodyPr>
          <a:lstStyle/>
          <a:p>
            <a:pPr>
              <a:spcAft>
                <a:spcPts val="800"/>
              </a:spcAft>
              <a:defRPr b="1" sz="1600">
                <a:solidFill>
                  <a:srgbClr val="4F46E5"/>
                </a:solidFill>
              </a:defRPr>
            </a:pPr>
            <a:r>
              <a:t>Dual Key Wrapping</a:t>
            </a:r>
          </a:p>
          <a:p>
            <a:pPr marL="342900" indent="-228600">
              <a:spcAft>
                <a:spcPts val="600"/>
              </a:spcAft>
              <a:buChar char="•"/>
            </a:pPr>
            <a:r>
              <a:rPr b="1" sz="1300">
                <a:solidFill>
                  <a:srgbClr val="0A192F"/>
                </a:solidFill>
                <a:latin typeface="Calibri"/>
              </a:rPr>
              <a:t>Server Wrapping: </a:t>
            </a:r>
            <a:r>
              <a:rPr b="0" sz="1300">
                <a:solidFill>
                  <a:srgbClr val="475569"/>
                </a:solidFill>
                <a:latin typeface="Calibri"/>
              </a:rPr>
              <a:t>DEK encrypted with isolated Server Master Key (SERVER_MASTER_KEY) for RIA dashboard access.</a:t>
            </a:r>
          </a:p>
          <a:p>
            <a:pPr marL="342900" indent="-228600">
              <a:spcAft>
                <a:spcPts val="600"/>
              </a:spcAft>
              <a:buChar char="•"/>
            </a:pPr>
            <a:r>
              <a:rPr b="1" sz="1300">
                <a:solidFill>
                  <a:srgbClr val="0A192F"/>
                </a:solidFill>
                <a:latin typeface="Calibri"/>
              </a:rPr>
              <a:t>Client Wrapping: </a:t>
            </a:r>
            <a:r>
              <a:rPr b="0" sz="1300">
                <a:solidFill>
                  <a:srgbClr val="475569"/>
                </a:solidFill>
                <a:latin typeface="Calibri"/>
              </a:rPr>
              <a:t>DEK encrypted with key derived from PBKDF2(PAN_last_4 + DOB, salt, 100k rounds).</a:t>
            </a:r>
          </a:p>
          <a:p>
            <a:pPr marL="342900" indent="-228600">
              <a:spcAft>
                <a:spcPts val="600"/>
              </a:spcAft>
              <a:buChar char="•"/>
            </a:pPr>
            <a:r>
              <a:rPr b="1" sz="1300">
                <a:solidFill>
                  <a:srgbClr val="0A192F"/>
                </a:solidFill>
                <a:latin typeface="Calibri"/>
              </a:rPr>
              <a:t>Zero Plaintext: </a:t>
            </a:r>
            <a:r>
              <a:rPr b="0" sz="1300">
                <a:solidFill>
                  <a:srgbClr val="475569"/>
                </a:solidFill>
                <a:latin typeface="Calibri"/>
              </a:rPr>
              <a:t>Neither plaintext DEK nor client password stored in database.</a:t>
            </a:r>
          </a:p>
        </p:txBody>
      </p:sp>
      <p:sp>
        <p:nvSpPr>
          <p:cNvPr id="8" name="Rounded Rectangle 7"/>
          <p:cNvSpPr/>
          <p:nvPr/>
        </p:nvSpPr>
        <p:spPr>
          <a:xfrm>
            <a:off x="8119872" y="1783080"/>
            <a:ext cx="3328416"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965960"/>
            <a:ext cx="2962656" cy="4023360"/>
          </a:xfrm>
          <a:prstGeom prst="rect">
            <a:avLst/>
          </a:prstGeom>
          <a:noFill/>
        </p:spPr>
        <p:txBody>
          <a:bodyPr wrap="square">
            <a:spAutoFit/>
          </a:bodyPr>
          <a:lstStyle/>
          <a:p>
            <a:pPr>
              <a:spcAft>
                <a:spcPts val="800"/>
              </a:spcAft>
              <a:defRPr b="1" sz="1600">
                <a:solidFill>
                  <a:srgbClr val="059669"/>
                </a:solidFill>
              </a:defRPr>
            </a:pPr>
            <a:r>
              <a:t>Transit &amp; Storage</a:t>
            </a:r>
          </a:p>
          <a:p>
            <a:pPr marL="342900" indent="-228600">
              <a:spcAft>
                <a:spcPts val="600"/>
              </a:spcAft>
              <a:buChar char="•"/>
            </a:pPr>
            <a:r>
              <a:rPr b="1" sz="1300">
                <a:solidFill>
                  <a:srgbClr val="0A192F"/>
                </a:solidFill>
                <a:latin typeface="Calibri"/>
              </a:rPr>
              <a:t>Token Hashing: </a:t>
            </a:r>
            <a:r>
              <a:rPr b="0" sz="1300">
                <a:solidFill>
                  <a:srgbClr val="475569"/>
                </a:solidFill>
                <a:latin typeface="Calibri"/>
              </a:rPr>
              <a:t>256-bit raw token stored in DB strictly as SHA-256 digest.</a:t>
            </a:r>
          </a:p>
          <a:p>
            <a:pPr marL="342900" indent="-228600">
              <a:spcAft>
                <a:spcPts val="600"/>
              </a:spcAft>
              <a:buChar char="•"/>
            </a:pPr>
            <a:r>
              <a:rPr b="1" sz="1300">
                <a:solidFill>
                  <a:srgbClr val="0A192F"/>
                </a:solidFill>
                <a:latin typeface="Calibri"/>
              </a:rPr>
              <a:t>In-Transit Security: </a:t>
            </a:r>
            <a:r>
              <a:rPr b="0" sz="1300">
                <a:solidFill>
                  <a:srgbClr val="475569"/>
                </a:solidFill>
                <a:latin typeface="Calibri"/>
              </a:rPr>
              <a:t>Forced TLS 1.3 with Helmet HSTS (1-year max-age: 31,536,000s).</a:t>
            </a:r>
          </a:p>
          <a:p>
            <a:pPr marL="342900" indent="-228600">
              <a:spcAft>
                <a:spcPts val="600"/>
              </a:spcAft>
              <a:buChar char="•"/>
            </a:pPr>
            <a:r>
              <a:rPr b="1" sz="1300">
                <a:solidFill>
                  <a:srgbClr val="0A192F"/>
                </a:solidFill>
                <a:latin typeface="Calibri"/>
              </a:rPr>
              <a:t>Zero Secret Logs: </a:t>
            </a:r>
            <a:r>
              <a:rPr b="0" sz="1300">
                <a:solidFill>
                  <a:srgbClr val="475569"/>
                </a:solidFill>
                <a:latin typeface="Calibri"/>
              </a:rPr>
              <a:t>Passwords, OTPs, and tokens sanitized from all logs.</a:t>
            </a:r>
          </a:p>
        </p:txBody>
      </p:sp>
      <p:sp>
        <p:nvSpPr>
          <p:cNvPr id="10" name="TextBox 9"/>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12 of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CONSENT VERIFICATION</a:t>
            </a:r>
          </a:p>
          <a:p>
            <a:pPr>
              <a:spcAft>
                <a:spcPts val="300"/>
              </a:spcAft>
              <a:defRPr sz="3200" b="1">
                <a:solidFill>
                  <a:srgbClr val="0A192F"/>
                </a:solidFill>
                <a:latin typeface="Calibri"/>
              </a:defRPr>
            </a:pPr>
            <a:r>
              <a:t>OTP &amp; Consent Integrity: Anti-Tamper Authorization</a:t>
            </a:r>
          </a:p>
          <a:p>
            <a:pPr>
              <a:defRPr sz="1400">
                <a:solidFill>
                  <a:srgbClr val="475569"/>
                </a:solidFill>
                <a:latin typeface="Calibri"/>
              </a:defRPr>
            </a:pPr>
            <a:r>
              <a:t>Statutory verification guaranteeing explicit non-discretionary client approval.</a:t>
            </a:r>
          </a:p>
        </p:txBody>
      </p:sp>
      <p:sp>
        <p:nvSpPr>
          <p:cNvPr id="4" name="Rounded Rectangle 3"/>
          <p:cNvSpPr/>
          <p:nvPr/>
        </p:nvSpPr>
        <p:spPr>
          <a:xfrm>
            <a:off x="731520" y="1783080"/>
            <a:ext cx="5120640" cy="42519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6232"/>
            <a:ext cx="73152" cy="73152"/>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9264" y="1856232"/>
            <a:ext cx="73152" cy="7315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856232"/>
            <a:ext cx="73152" cy="7315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6-client-otp-modal.png"/>
          <p:cNvPicPr>
            <a:picLocks noChangeAspect="1"/>
          </p:cNvPicPr>
          <p:nvPr/>
        </p:nvPicPr>
        <p:blipFill>
          <a:blip r:embed="rId2"/>
          <a:stretch>
            <a:fillRect/>
          </a:stretch>
        </p:blipFill>
        <p:spPr>
          <a:xfrm>
            <a:off x="768096" y="2002536"/>
            <a:ext cx="5047488" cy="3995928"/>
          </a:xfrm>
          <a:prstGeom prst="rect">
            <a:avLst/>
          </a:prstGeom>
        </p:spPr>
      </p:pic>
      <p:sp>
        <p:nvSpPr>
          <p:cNvPr id="9" name="TextBox 8"/>
          <p:cNvSpPr txBox="1"/>
          <p:nvPr/>
        </p:nvSpPr>
        <p:spPr>
          <a:xfrm>
            <a:off x="731520" y="6071616"/>
            <a:ext cx="5120640" cy="201168"/>
          </a:xfrm>
          <a:prstGeom prst="rect">
            <a:avLst/>
          </a:prstGeom>
          <a:noFill/>
        </p:spPr>
        <p:txBody>
          <a:bodyPr wrap="square" lIns="0" tIns="0" rIns="0" bIns="0">
            <a:spAutoFit/>
          </a:bodyPr>
          <a:lstStyle/>
          <a:p>
            <a:pPr>
              <a:defRPr sz="950">
                <a:solidFill>
                  <a:srgbClr val="475569"/>
                </a:solidFill>
              </a:defRPr>
            </a:pPr>
            <a:r>
              <a:t>Figure 13.1: 6-Digit Mobile OTP Modal with 5-minute statutory timer.</a:t>
            </a:r>
          </a:p>
        </p:txBody>
      </p:sp>
      <p:sp>
        <p:nvSpPr>
          <p:cNvPr id="10" name="Rounded Rectangle 9"/>
          <p:cNvSpPr/>
          <p:nvPr/>
        </p:nvSpPr>
        <p:spPr>
          <a:xfrm>
            <a:off x="6217920" y="1783080"/>
            <a:ext cx="5242255" cy="4251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65960"/>
            <a:ext cx="4754880" cy="3931920"/>
          </a:xfrm>
          <a:prstGeom prst="rect">
            <a:avLst/>
          </a:prstGeom>
          <a:noFill/>
        </p:spPr>
        <p:txBody>
          <a:bodyPr wrap="square">
            <a:spAutoFit/>
          </a:bodyPr>
          <a:lstStyle/>
          <a:p>
            <a:pPr>
              <a:spcAft>
                <a:spcPts val="1000"/>
              </a:spcAft>
              <a:defRPr b="1" sz="1600">
                <a:solidFill>
                  <a:srgbClr val="0A192F"/>
                </a:solidFill>
              </a:defRPr>
            </a:pPr>
            <a:r>
              <a:t>Statutory Authorization Safeguards</a:t>
            </a:r>
          </a:p>
          <a:p>
            <a:pPr marL="342900" indent="-228600">
              <a:spcAft>
                <a:spcPts val="600"/>
              </a:spcAft>
              <a:buChar char="•"/>
            </a:pPr>
            <a:r>
              <a:rPr b="1" sz="1350">
                <a:solidFill>
                  <a:srgbClr val="0A192F"/>
                </a:solidFill>
                <a:latin typeface="Calibri"/>
              </a:rPr>
              <a:t>Mandatory Declarations: </a:t>
            </a:r>
            <a:r>
              <a:rPr b="0" sz="1350">
                <a:solidFill>
                  <a:srgbClr val="475569"/>
                </a:solidFill>
                <a:latin typeface="Calibri"/>
              </a:rPr>
              <a:t>Clients must actively check 3 statutory declarations (Regulation 19 Informed Consent, Capital Gains Acceptance, Section 63 BSA Evidence).</a:t>
            </a:r>
          </a:p>
          <a:p>
            <a:pPr marL="342900" indent="-228600">
              <a:spcAft>
                <a:spcPts val="600"/>
              </a:spcAft>
              <a:buChar char="•"/>
            </a:pPr>
            <a:r>
              <a:rPr b="1" sz="1350">
                <a:solidFill>
                  <a:srgbClr val="0A192F"/>
                </a:solidFill>
                <a:latin typeface="Calibri"/>
              </a:rPr>
              <a:t>Dynamic 6-Digit OTP: </a:t>
            </a:r>
            <a:r>
              <a:rPr b="0" sz="1350">
                <a:solidFill>
                  <a:srgbClr val="475569"/>
                </a:solidFill>
                <a:latin typeface="Calibri"/>
              </a:rPr>
              <a:t>Generated via CSPRNG with 5-minute TTL; delivered via registered email and in-app display (SMS disabled by policy).</a:t>
            </a:r>
          </a:p>
          <a:p>
            <a:pPr marL="342900" indent="-228600">
              <a:spcAft>
                <a:spcPts val="600"/>
              </a:spcAft>
              <a:buChar char="•"/>
            </a:pPr>
            <a:r>
              <a:rPr b="1" sz="1350">
                <a:solidFill>
                  <a:srgbClr val="0A192F"/>
                </a:solidFill>
                <a:latin typeface="Calibri"/>
              </a:rPr>
              <a:t>3-Attempt Brute-Force Lockout: </a:t>
            </a:r>
            <a:r>
              <a:rPr b="0" sz="1350">
                <a:solidFill>
                  <a:srgbClr val="475569"/>
                </a:solidFill>
                <a:latin typeface="Calibri"/>
              </a:rPr>
              <a:t>Maximum 3 verification attempts permitted. A 3rd failed attempt immediately locks verification and burns token (HTTP 429).</a:t>
            </a:r>
          </a:p>
          <a:p>
            <a:pPr marL="342900" indent="-228600">
              <a:spcAft>
                <a:spcPts val="600"/>
              </a:spcAft>
              <a:buChar char="•"/>
            </a:pPr>
            <a:r>
              <a:rPr b="1" sz="1350">
                <a:solidFill>
                  <a:srgbClr val="0A192F"/>
                </a:solidFill>
                <a:latin typeface="Calibri"/>
              </a:rPr>
              <a:t>Single-Use Atomic Revocation: </a:t>
            </a:r>
            <a:r>
              <a:rPr b="0" sz="1350">
                <a:solidFill>
                  <a:srgbClr val="475569"/>
                </a:solidFill>
                <a:latin typeface="Calibri"/>
              </a:rPr>
              <a:t>The instant consent succeeds, the magic token is burned. Re-accessing returns HTTP 410 Gone, preventing replay attacks.</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13 of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AUDIT INFRASTRUCTURE</a:t>
            </a:r>
          </a:p>
          <a:p>
            <a:pPr>
              <a:spcAft>
                <a:spcPts val="300"/>
              </a:spcAft>
              <a:defRPr sz="3200" b="1">
                <a:solidFill>
                  <a:srgbClr val="0A192F"/>
                </a:solidFill>
                <a:latin typeface="Calibri"/>
              </a:defRPr>
            </a:pPr>
            <a:r>
              <a:t>Audit Trail &amp; Compliance Evidence: Cryptographic Proof</a:t>
            </a:r>
          </a:p>
          <a:p>
            <a:pPr>
              <a:defRPr sz="1400">
                <a:solidFill>
                  <a:srgbClr val="475569"/>
                </a:solidFill>
                <a:latin typeface="Calibri"/>
              </a:defRPr>
            </a:pPr>
            <a:r>
              <a:t>Chained SHA-256 audit ledger meeting Section 63 BSA and SEBI Regulation 19 standards.</a:t>
            </a:r>
          </a:p>
        </p:txBody>
      </p:sp>
      <p:sp>
        <p:nvSpPr>
          <p:cNvPr id="4" name="Rounded Rectangle 3"/>
          <p:cNvSpPr/>
          <p:nvPr/>
        </p:nvSpPr>
        <p:spPr>
          <a:xfrm>
            <a:off x="731520" y="1783080"/>
            <a:ext cx="5120640" cy="42519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6232"/>
            <a:ext cx="73152" cy="73152"/>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9264" y="1856232"/>
            <a:ext cx="73152" cy="7315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856232"/>
            <a:ext cx="73152" cy="7315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6_consent_locked_evidence.png"/>
          <p:cNvPicPr>
            <a:picLocks noChangeAspect="1"/>
          </p:cNvPicPr>
          <p:nvPr/>
        </p:nvPicPr>
        <p:blipFill>
          <a:blip r:embed="rId2"/>
          <a:stretch>
            <a:fillRect/>
          </a:stretch>
        </p:blipFill>
        <p:spPr>
          <a:xfrm>
            <a:off x="768096" y="2002536"/>
            <a:ext cx="5047488" cy="3995928"/>
          </a:xfrm>
          <a:prstGeom prst="rect">
            <a:avLst/>
          </a:prstGeom>
        </p:spPr>
      </p:pic>
      <p:sp>
        <p:nvSpPr>
          <p:cNvPr id="9" name="TextBox 8"/>
          <p:cNvSpPr txBox="1"/>
          <p:nvPr/>
        </p:nvSpPr>
        <p:spPr>
          <a:xfrm>
            <a:off x="731520" y="6071616"/>
            <a:ext cx="5120640" cy="201168"/>
          </a:xfrm>
          <a:prstGeom prst="rect">
            <a:avLst/>
          </a:prstGeom>
          <a:noFill/>
        </p:spPr>
        <p:txBody>
          <a:bodyPr wrap="square" lIns="0" tIns="0" rIns="0" bIns="0">
            <a:spAutoFit/>
          </a:bodyPr>
          <a:lstStyle/>
          <a:p>
            <a:pPr>
              <a:defRPr sz="950">
                <a:solidFill>
                  <a:srgbClr val="475569"/>
                </a:solidFill>
              </a:defRPr>
            </a:pPr>
            <a:r>
              <a:t>Figure 14.1: Section 63 BSA / Section 65B Compliance Receipt.</a:t>
            </a:r>
          </a:p>
        </p:txBody>
      </p:sp>
      <p:sp>
        <p:nvSpPr>
          <p:cNvPr id="10" name="Rounded Rectangle 9"/>
          <p:cNvSpPr/>
          <p:nvPr/>
        </p:nvSpPr>
        <p:spPr>
          <a:xfrm>
            <a:off x="6217920" y="1783080"/>
            <a:ext cx="5242255" cy="4251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65960"/>
            <a:ext cx="4754880" cy="3931920"/>
          </a:xfrm>
          <a:prstGeom prst="rect">
            <a:avLst/>
          </a:prstGeom>
          <a:noFill/>
        </p:spPr>
        <p:txBody>
          <a:bodyPr wrap="square">
            <a:spAutoFit/>
          </a:bodyPr>
          <a:lstStyle/>
          <a:p>
            <a:pPr>
              <a:spcAft>
                <a:spcPts val="1000"/>
              </a:spcAft>
              <a:defRPr b="1" sz="1600">
                <a:solidFill>
                  <a:srgbClr val="0A192F"/>
                </a:solidFill>
              </a:defRPr>
            </a:pPr>
            <a:r>
              <a:t>Legal Admissibility &amp; Hash Chaining</a:t>
            </a:r>
          </a:p>
          <a:p>
            <a:pPr marL="342900" indent="-228600">
              <a:spcAft>
                <a:spcPts val="600"/>
              </a:spcAft>
              <a:buChar char="•"/>
            </a:pPr>
            <a:r>
              <a:rPr b="1" sz="1350">
                <a:solidFill>
                  <a:srgbClr val="0A192F"/>
                </a:solidFill>
                <a:latin typeface="Calibri"/>
              </a:rPr>
              <a:t>Forward Hash Chaining: </a:t>
            </a:r>
            <a:r>
              <a:rPr b="0" sz="1350">
                <a:solidFill>
                  <a:srgbClr val="475569"/>
                </a:solidFill>
                <a:latin typeface="Calibri"/>
              </a:rPr>
              <a:t>Each log entry hashes the previous record: payloadHash = SHA256(prevHash + timestamp + event + payload). Any retroactive tampering breaks chain.</a:t>
            </a:r>
          </a:p>
          <a:p>
            <a:pPr marL="342900" indent="-228600">
              <a:spcAft>
                <a:spcPts val="600"/>
              </a:spcAft>
              <a:buChar char="•"/>
            </a:pPr>
            <a:r>
              <a:rPr b="1" sz="1350">
                <a:solidFill>
                  <a:srgbClr val="0A192F"/>
                </a:solidFill>
                <a:latin typeface="Calibri"/>
              </a:rPr>
              <a:t>Section 63 BSA Certificate: </a:t>
            </a:r>
            <a:r>
              <a:rPr b="0" sz="1350">
                <a:solidFill>
                  <a:srgbClr val="475569"/>
                </a:solidFill>
                <a:latin typeface="Calibri"/>
              </a:rPr>
              <a:t>Captures client device IP (RFC 5737 203.0.113.12), browser User-Agent, exact IST timestamp, and masked PAN (XXXXX1234F).</a:t>
            </a:r>
          </a:p>
          <a:p>
            <a:pPr marL="342900" indent="-228600">
              <a:spcAft>
                <a:spcPts val="600"/>
              </a:spcAft>
              <a:buChar char="•"/>
            </a:pPr>
            <a:r>
              <a:rPr b="1" sz="1350">
                <a:solidFill>
                  <a:srgbClr val="0A192F"/>
                </a:solidFill>
                <a:latin typeface="Calibri"/>
              </a:rPr>
              <a:t>5-Year Regulatory Preservation: </a:t>
            </a:r>
            <a:r>
              <a:rPr b="0" sz="1350">
                <a:solidFill>
                  <a:srgbClr val="475569"/>
                </a:solidFill>
                <a:latin typeface="Calibri"/>
              </a:rPr>
              <a:t>Designed to satisfy SEBI Regulation 19 mandatory 5-year retention requirements for investment advice and rationale.</a:t>
            </a:r>
          </a:p>
          <a:p>
            <a:pPr marL="342900" indent="-228600">
              <a:spcAft>
                <a:spcPts val="600"/>
              </a:spcAft>
              <a:buChar char="•"/>
            </a:pPr>
            <a:r>
              <a:rPr b="1" sz="1350">
                <a:solidFill>
                  <a:srgbClr val="0A192F"/>
                </a:solidFill>
                <a:latin typeface="Calibri"/>
              </a:rPr>
              <a:t>Verified Disaster Recovery: </a:t>
            </a:r>
            <a:r>
              <a:rPr b="0" sz="1350">
                <a:solidFill>
                  <a:srgbClr val="475569"/>
                </a:solidFill>
                <a:latin typeface="Calibri"/>
              </a:rPr>
              <a:t>Non-destructive drill restored 1,460 audit logs with zero broken cryptographic hash links.</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14 of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STATE MACHINE</a:t>
            </a:r>
          </a:p>
          <a:p>
            <a:pPr>
              <a:spcAft>
                <a:spcPts val="300"/>
              </a:spcAft>
              <a:defRPr sz="3200" b="1">
                <a:solidFill>
                  <a:srgbClr val="0A192F"/>
                </a:solidFill>
                <a:latin typeface="Calibri"/>
              </a:defRPr>
            </a:pPr>
            <a:r>
              <a:t>Mandate Lifecycle &amp; State Model: Server-Enforced Transitions</a:t>
            </a:r>
          </a:p>
          <a:p>
            <a:pPr>
              <a:defRPr sz="1400">
                <a:solidFill>
                  <a:srgbClr val="475569"/>
                </a:solidFill>
                <a:latin typeface="Calibri"/>
              </a:defRPr>
            </a:pPr>
            <a:r>
              <a:t>Finite-state machine guaranteeing deterministic transitions with zero client-side bypass.</a:t>
            </a:r>
          </a:p>
        </p:txBody>
      </p:sp>
      <p:pic>
        <p:nvPicPr>
          <p:cNvPr id="4" name="Picture 3" descr="process-flow.png"/>
          <p:cNvPicPr>
            <a:picLocks noChangeAspect="1"/>
          </p:cNvPicPr>
          <p:nvPr/>
        </p:nvPicPr>
        <p:blipFill>
          <a:blip r:embed="rId2"/>
          <a:stretch>
            <a:fillRect/>
          </a:stretch>
        </p:blipFill>
        <p:spPr>
          <a:xfrm>
            <a:off x="1380744" y="1783080"/>
            <a:ext cx="9418320" cy="4343400"/>
          </a:xfrm>
          <a:prstGeom prst="rect">
            <a:avLst/>
          </a:prstGeom>
        </p:spPr>
      </p:pic>
      <p:sp>
        <p:nvSpPr>
          <p:cNvPr id="5" name="TextBox 4"/>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15 of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DISCUSSION RAIL</a:t>
            </a:r>
          </a:p>
          <a:p>
            <a:pPr>
              <a:spcAft>
                <a:spcPts val="300"/>
              </a:spcAft>
              <a:defRPr sz="3200" b="1">
                <a:solidFill>
                  <a:srgbClr val="0A192F"/>
                </a:solidFill>
                <a:latin typeface="Calibri"/>
              </a:defRPr>
            </a:pPr>
            <a:r>
              <a:t>Mandate-Specific Chat: Advisory Clarification vs. Consent</a:t>
            </a:r>
          </a:p>
          <a:p>
            <a:pPr>
              <a:defRPr sz="1400">
                <a:solidFill>
                  <a:srgbClr val="475569"/>
                </a:solidFill>
                <a:latin typeface="Calibri"/>
              </a:defRPr>
            </a:pPr>
            <a:r>
              <a:t>Why in-app discussion is vital for client trust, but legally distinct from trade consent.</a:t>
            </a:r>
          </a:p>
        </p:txBody>
      </p:sp>
      <p:sp>
        <p:nvSpPr>
          <p:cNvPr id="4" name="Rounded Rectangle 3"/>
          <p:cNvSpPr/>
          <p:nvPr/>
        </p:nvSpPr>
        <p:spPr>
          <a:xfrm>
            <a:off x="914400" y="1691640"/>
            <a:ext cx="2468880" cy="4251960"/>
          </a:xfrm>
          <a:prstGeom prst="roundRect">
            <a:avLst/>
          </a:prstGeom>
          <a:solidFill>
            <a:srgbClr val="0A19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9_mobile_chat_discussion.png"/>
          <p:cNvPicPr>
            <a:picLocks noChangeAspect="1"/>
          </p:cNvPicPr>
          <p:nvPr/>
        </p:nvPicPr>
        <p:blipFill>
          <a:blip r:embed="rId2"/>
          <a:stretch>
            <a:fillRect/>
          </a:stretch>
        </p:blipFill>
        <p:spPr>
          <a:xfrm>
            <a:off x="987552" y="1801368"/>
            <a:ext cx="2322576" cy="4032504"/>
          </a:xfrm>
          <a:prstGeom prst="rect">
            <a:avLst/>
          </a:prstGeom>
        </p:spPr>
      </p:pic>
      <p:sp>
        <p:nvSpPr>
          <p:cNvPr id="6" name="TextBox 5"/>
          <p:cNvSpPr txBox="1"/>
          <p:nvPr/>
        </p:nvSpPr>
        <p:spPr>
          <a:xfrm>
            <a:off x="914400" y="5980176"/>
            <a:ext cx="2468880" cy="201168"/>
          </a:xfrm>
          <a:prstGeom prst="rect">
            <a:avLst/>
          </a:prstGeom>
          <a:noFill/>
        </p:spPr>
        <p:txBody>
          <a:bodyPr wrap="square" lIns="0" tIns="0" rIns="0" bIns="0">
            <a:spAutoFit/>
          </a:bodyPr>
          <a:lstStyle/>
          <a:p>
            <a:pPr algn="ctr">
              <a:defRPr sz="950">
                <a:solidFill>
                  <a:srgbClr val="475569"/>
                </a:solidFill>
              </a:defRPr>
            </a:pPr>
            <a:r>
              <a:t>Figure 16.1: Rohan posts an inquiry regarding Tata Motors.</a:t>
            </a:r>
          </a:p>
        </p:txBody>
      </p:sp>
      <p:sp>
        <p:nvSpPr>
          <p:cNvPr id="7" name="Rounded Rectangle 6"/>
          <p:cNvSpPr/>
          <p:nvPr/>
        </p:nvSpPr>
        <p:spPr>
          <a:xfrm>
            <a:off x="3931920" y="1691640"/>
            <a:ext cx="7498079" cy="4434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874519"/>
            <a:ext cx="7040880" cy="4069080"/>
          </a:xfrm>
          <a:prstGeom prst="rect">
            <a:avLst/>
          </a:prstGeom>
          <a:noFill/>
        </p:spPr>
        <p:txBody>
          <a:bodyPr wrap="square">
            <a:spAutoFit/>
          </a:bodyPr>
          <a:lstStyle/>
          <a:p>
            <a:pPr>
              <a:spcAft>
                <a:spcPts val="1000"/>
              </a:spcAft>
              <a:defRPr b="1" sz="1600">
                <a:solidFill>
                  <a:srgbClr val="0A192F"/>
                </a:solidFill>
              </a:defRPr>
            </a:pPr>
            <a:r>
              <a:t>Separation of Communication &amp; Consent</a:t>
            </a:r>
          </a:p>
          <a:p>
            <a:pPr marL="342900" indent="-228600">
              <a:spcAft>
                <a:spcPts val="600"/>
              </a:spcAft>
              <a:buChar char="•"/>
            </a:pPr>
            <a:r>
              <a:rPr b="1" sz="1350">
                <a:solidFill>
                  <a:srgbClr val="0A192F"/>
                </a:solidFill>
                <a:latin typeface="Calibri"/>
              </a:rPr>
              <a:t>Real-Time Contextual Discussion: </a:t>
            </a:r>
            <a:r>
              <a:rPr b="0" sz="1350">
                <a:solidFill>
                  <a:srgbClr val="475569"/>
                </a:solidFill>
                <a:latin typeface="Calibri"/>
              </a:rPr>
              <a:t>Allows clients to ask specific allocation or yield questions directly within mandate context, eliminating scattered WhatsApp threads.</a:t>
            </a:r>
          </a:p>
          <a:p>
            <a:pPr marL="342900" indent="-228600">
              <a:spcAft>
                <a:spcPts val="600"/>
              </a:spcAft>
              <a:buChar char="•"/>
            </a:pPr>
            <a:r>
              <a:rPr b="1" sz="1350">
                <a:solidFill>
                  <a:srgbClr val="0A192F"/>
                </a:solidFill>
                <a:latin typeface="Calibri"/>
              </a:rPr>
              <a:t>Complete Audit Archiving: </a:t>
            </a:r>
            <a:r>
              <a:rPr b="0" sz="1350">
                <a:solidFill>
                  <a:srgbClr val="475569"/>
                </a:solidFill>
                <a:latin typeface="Calibri"/>
              </a:rPr>
              <a:t>Every message posted by client or advisor is committed to immutable audit log under CHAT_MESSAGE_SENT.</a:t>
            </a:r>
          </a:p>
          <a:p>
            <a:pPr marL="342900" indent="-228600">
              <a:spcAft>
                <a:spcPts val="600"/>
              </a:spcAft>
              <a:buChar char="•"/>
            </a:pPr>
            <a:r>
              <a:rPr b="1" sz="1350">
                <a:solidFill>
                  <a:srgbClr val="0A192F"/>
                </a:solidFill>
                <a:latin typeface="Calibri"/>
              </a:rPr>
              <a:t>⚠️ CHAT DOES NOT CONSTITUTE CONSENT: </a:t>
            </a:r>
            <a:r>
              <a:rPr b="0" sz="1350">
                <a:solidFill>
                  <a:srgbClr val="475569"/>
                </a:solidFill>
                <a:latin typeface="Calibri"/>
              </a:rPr>
              <a:t>Under SEBI Regulation 19, informal dialogue ('Yes go ahead', 'Proceed') CANNOT authorize transactions.</a:t>
            </a:r>
          </a:p>
          <a:p>
            <a:pPr marL="342900" indent="-228600">
              <a:spcAft>
                <a:spcPts val="600"/>
              </a:spcAft>
              <a:buChar char="•"/>
            </a:pPr>
            <a:r>
              <a:rPr b="1" sz="1350">
                <a:solidFill>
                  <a:srgbClr val="0A192F"/>
                </a:solidFill>
                <a:latin typeface="Calibri"/>
              </a:rPr>
              <a:t>Uncompromising Consent Rail: </a:t>
            </a:r>
            <a:r>
              <a:rPr b="0" sz="1350">
                <a:solidFill>
                  <a:srgbClr val="475569"/>
                </a:solidFill>
                <a:latin typeface="Calibri"/>
              </a:rPr>
              <a:t>Trade authorization strictly requires formal statutory declaration checkboxes followed by 6-digit OTP verification.</a:t>
            </a:r>
          </a:p>
        </p:txBody>
      </p:sp>
      <p:sp>
        <p:nvSpPr>
          <p:cNvPr id="9" name="TextBox 8"/>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16 of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TAX ENGINE</a:t>
            </a:r>
          </a:p>
          <a:p>
            <a:pPr>
              <a:spcAft>
                <a:spcPts val="300"/>
              </a:spcAft>
              <a:defRPr sz="3200" b="1">
                <a:solidFill>
                  <a:srgbClr val="0A192F"/>
                </a:solidFill>
                <a:latin typeface="Calibri"/>
              </a:defRPr>
            </a:pPr>
            <a:r>
              <a:t>Tax-Impact Transparency: Finance Act 2024 Engine</a:t>
            </a:r>
          </a:p>
          <a:p>
            <a:pPr>
              <a:defRPr sz="1400">
                <a:solidFill>
                  <a:srgbClr val="475569"/>
                </a:solidFill>
                <a:latin typeface="Calibri"/>
              </a:defRPr>
            </a:pPr>
            <a:r>
              <a:t>Pre-trade capital gains tax visibility eliminating investor surprise liabilities.</a:t>
            </a:r>
          </a:p>
        </p:txBody>
      </p:sp>
      <p:graphicFrame>
        <p:nvGraphicFramePr>
          <p:cNvPr id="4" name="Table 3"/>
          <p:cNvGraphicFramePr>
            <a:graphicFrameLocks noGrp="1"/>
          </p:cNvGraphicFramePr>
          <p:nvPr/>
        </p:nvGraphicFramePr>
        <p:xfrm>
          <a:off x="731520" y="1783080"/>
          <a:ext cx="5486400" cy="2926080"/>
        </p:xfrm>
        <a:graphic>
          <a:graphicData uri="http://schemas.openxmlformats.org/drawingml/2006/table">
            <a:tbl>
              <a:tblPr firstRow="1" bandRow="1">
                <a:tableStyleId>{5C22544A-7EE6-4342-B048-85BDC9FD1C3A}</a:tableStyleId>
              </a:tblPr>
              <a:tblGrid>
                <a:gridCol w="1920240"/>
                <a:gridCol w="1188720"/>
                <a:gridCol w="1188720"/>
                <a:gridCol w="1188720"/>
              </a:tblGrid>
              <a:tr h="585216">
                <a:tc>
                  <a:txBody>
                    <a:bodyPr/>
                    <a:lstStyle/>
                    <a:p>
                      <a:pPr>
                        <a:defRPr b="1" sz="1200">
                          <a:solidFill>
                            <a:srgbClr val="FFFFFF"/>
                          </a:solidFill>
                        </a:defRPr>
                      </a:pPr>
                      <a:r>
                        <a:t>Component</a:t>
                      </a:r>
                    </a:p>
                  </a:txBody>
                  <a:tcPr>
                    <a:solidFill>
                      <a:srgbClr val="0A192F"/>
                    </a:solidFill>
                  </a:tcPr>
                </a:tc>
                <a:tc>
                  <a:txBody>
                    <a:bodyPr/>
                    <a:lstStyle/>
                    <a:p>
                      <a:pPr>
                        <a:defRPr b="1" sz="1200">
                          <a:solidFill>
                            <a:srgbClr val="FFFFFF"/>
                          </a:solidFill>
                        </a:defRPr>
                      </a:pPr>
                      <a:r>
                        <a:t>Statutory Rate</a:t>
                      </a:r>
                    </a:p>
                  </a:txBody>
                  <a:tcPr>
                    <a:solidFill>
                      <a:srgbClr val="0A192F"/>
                    </a:solidFill>
                  </a:tcPr>
                </a:tc>
                <a:tc>
                  <a:txBody>
                    <a:bodyPr/>
                    <a:lstStyle/>
                    <a:p>
                      <a:pPr>
                        <a:defRPr b="1" sz="1200">
                          <a:solidFill>
                            <a:srgbClr val="FFFFFF"/>
                          </a:solidFill>
                        </a:defRPr>
                      </a:pPr>
                      <a:r>
                        <a:t>Taxable Base</a:t>
                      </a:r>
                    </a:p>
                  </a:txBody>
                  <a:tcPr>
                    <a:solidFill>
                      <a:srgbClr val="0A192F"/>
                    </a:solidFill>
                  </a:tcPr>
                </a:tc>
                <a:tc>
                  <a:txBody>
                    <a:bodyPr/>
                    <a:lstStyle/>
                    <a:p>
                      <a:pPr>
                        <a:defRPr b="1" sz="1200">
                          <a:solidFill>
                            <a:srgbClr val="FFFFFF"/>
                          </a:solidFill>
                        </a:defRPr>
                      </a:pPr>
                      <a:r>
                        <a:t>Estimated Tax</a:t>
                      </a:r>
                    </a:p>
                  </a:txBody>
                  <a:tcPr>
                    <a:solidFill>
                      <a:srgbClr val="0A192F"/>
                    </a:solidFill>
                  </a:tcPr>
                </a:tc>
              </a:tr>
              <a:tr h="585216">
                <a:tc>
                  <a:txBody>
                    <a:bodyPr/>
                    <a:lstStyle/>
                    <a:p>
                      <a:pPr>
                        <a:defRPr sz="1200">
                          <a:solidFill>
                            <a:srgbClr val="475569"/>
                          </a:solidFill>
                        </a:defRPr>
                      </a:pPr>
                      <a:r>
                        <a:t>STCG (Tata Motors)</a:t>
                      </a:r>
                    </a:p>
                  </a:txBody>
                  <a:tcPr/>
                </a:tc>
                <a:tc>
                  <a:txBody>
                    <a:bodyPr/>
                    <a:lstStyle/>
                    <a:p>
                      <a:pPr>
                        <a:defRPr sz="1200">
                          <a:solidFill>
                            <a:srgbClr val="475569"/>
                          </a:solidFill>
                        </a:defRPr>
                      </a:pPr>
                      <a:r>
                        <a:t>20.0% (Sec 111A)</a:t>
                      </a:r>
                    </a:p>
                  </a:txBody>
                  <a:tcPr/>
                </a:tc>
                <a:tc>
                  <a:txBody>
                    <a:bodyPr/>
                    <a:lstStyle/>
                    <a:p>
                      <a:pPr>
                        <a:defRPr sz="1200">
                          <a:solidFill>
                            <a:srgbClr val="475569"/>
                          </a:solidFill>
                        </a:defRPr>
                      </a:pPr>
                      <a:r>
                        <a:t>₹55,000</a:t>
                      </a:r>
                    </a:p>
                  </a:txBody>
                  <a:tcPr/>
                </a:tc>
                <a:tc>
                  <a:txBody>
                    <a:bodyPr/>
                    <a:lstStyle/>
                    <a:p>
                      <a:pPr>
                        <a:defRPr sz="1200">
                          <a:solidFill>
                            <a:srgbClr val="475569"/>
                          </a:solidFill>
                        </a:defRPr>
                      </a:pPr>
                      <a:r>
                        <a:t>₹11,000</a:t>
                      </a:r>
                    </a:p>
                  </a:txBody>
                  <a:tcPr/>
                </a:tc>
              </a:tr>
              <a:tr h="585216">
                <a:tc>
                  <a:txBody>
                    <a:bodyPr/>
                    <a:lstStyle/>
                    <a:p>
                      <a:pPr>
                        <a:defRPr sz="1200">
                          <a:solidFill>
                            <a:srgbClr val="475569"/>
                          </a:solidFill>
                        </a:defRPr>
                      </a:pPr>
                      <a:r>
                        <a:t>LTCG (HDFC Bank)</a:t>
                      </a:r>
                    </a:p>
                  </a:txBody>
                  <a:tcPr/>
                </a:tc>
                <a:tc>
                  <a:txBody>
                    <a:bodyPr/>
                    <a:lstStyle/>
                    <a:p>
                      <a:pPr>
                        <a:defRPr sz="1200">
                          <a:solidFill>
                            <a:srgbClr val="475569"/>
                          </a:solidFill>
                        </a:defRPr>
                      </a:pPr>
                      <a:r>
                        <a:t>12.5% (Sec 112A)</a:t>
                      </a:r>
                    </a:p>
                  </a:txBody>
                  <a:tcPr/>
                </a:tc>
                <a:tc>
                  <a:txBody>
                    <a:bodyPr/>
                    <a:lstStyle/>
                    <a:p>
                      <a:pPr>
                        <a:defRPr sz="1200">
                          <a:solidFill>
                            <a:srgbClr val="475569"/>
                          </a:solidFill>
                        </a:defRPr>
                      </a:pPr>
                      <a:r>
                        <a:t>₹1,25,000 (Exempt)</a:t>
                      </a:r>
                    </a:p>
                  </a:txBody>
                  <a:tcPr/>
                </a:tc>
                <a:tc>
                  <a:txBody>
                    <a:bodyPr/>
                    <a:lstStyle/>
                    <a:p>
                      <a:pPr>
                        <a:defRPr sz="1200">
                          <a:solidFill>
                            <a:srgbClr val="475569"/>
                          </a:solidFill>
                        </a:defRPr>
                      </a:pPr>
                      <a:r>
                        <a:t>₹0</a:t>
                      </a:r>
                    </a:p>
                  </a:txBody>
                  <a:tcPr/>
                </a:tc>
              </a:tr>
              <a:tr h="585216">
                <a:tc>
                  <a:txBody>
                    <a:bodyPr/>
                    <a:lstStyle/>
                    <a:p>
                      <a:pPr>
                        <a:defRPr sz="1200">
                          <a:solidFill>
                            <a:srgbClr val="475569"/>
                          </a:solidFill>
                        </a:defRPr>
                      </a:pPr>
                      <a:r>
                        <a:t>Health &amp; Educ. Cess</a:t>
                      </a:r>
                    </a:p>
                  </a:txBody>
                  <a:tcPr/>
                </a:tc>
                <a:tc>
                  <a:txBody>
                    <a:bodyPr/>
                    <a:lstStyle/>
                    <a:p>
                      <a:pPr>
                        <a:defRPr sz="1200">
                          <a:solidFill>
                            <a:srgbClr val="475569"/>
                          </a:solidFill>
                        </a:defRPr>
                      </a:pPr>
                      <a:r>
                        <a:t>4.0% on Base Tax</a:t>
                      </a:r>
                    </a:p>
                  </a:txBody>
                  <a:tcPr/>
                </a:tc>
                <a:tc>
                  <a:txBody>
                    <a:bodyPr/>
                    <a:lstStyle/>
                    <a:p>
                      <a:pPr>
                        <a:defRPr sz="1200">
                          <a:solidFill>
                            <a:srgbClr val="475569"/>
                          </a:solidFill>
                        </a:defRPr>
                      </a:pPr>
                      <a:r>
                        <a:t>On ₹11,000</a:t>
                      </a:r>
                    </a:p>
                  </a:txBody>
                  <a:tcPr/>
                </a:tc>
                <a:tc>
                  <a:txBody>
                    <a:bodyPr/>
                    <a:lstStyle/>
                    <a:p>
                      <a:pPr>
                        <a:defRPr sz="1200">
                          <a:solidFill>
                            <a:srgbClr val="475569"/>
                          </a:solidFill>
                        </a:defRPr>
                      </a:pPr>
                      <a:r>
                        <a:t>₹440</a:t>
                      </a:r>
                    </a:p>
                  </a:txBody>
                  <a:tcPr/>
                </a:tc>
              </a:tr>
              <a:tr h="585216">
                <a:tc>
                  <a:txBody>
                    <a:bodyPr/>
                    <a:lstStyle/>
                    <a:p>
                      <a:pPr>
                        <a:defRPr sz="1200" b="1">
                          <a:solidFill>
                            <a:srgbClr val="0A192F"/>
                          </a:solidFill>
                        </a:defRPr>
                      </a:pPr>
                      <a:r>
                        <a:t>Total Estimated Tax</a:t>
                      </a:r>
                    </a:p>
                  </a:txBody>
                  <a:tcPr>
                    <a:solidFill>
                      <a:srgbClr val="FEF3C7"/>
                    </a:solidFill>
                  </a:tcPr>
                </a:tc>
                <a:tc>
                  <a:txBody>
                    <a:bodyPr/>
                    <a:lstStyle/>
                    <a:p>
                      <a:pPr>
                        <a:defRPr sz="1200" b="1">
                          <a:solidFill>
                            <a:srgbClr val="0A192F"/>
                          </a:solidFill>
                        </a:defRPr>
                      </a:pPr>
                      <a:r>
                        <a:t>Finance Act 2024</a:t>
                      </a:r>
                    </a:p>
                  </a:txBody>
                  <a:tcPr>
                    <a:solidFill>
                      <a:srgbClr val="FEF3C7"/>
                    </a:solidFill>
                  </a:tcPr>
                </a:tc>
                <a:tc>
                  <a:txBody>
                    <a:bodyPr/>
                    <a:lstStyle/>
                    <a:p>
                      <a:pPr>
                        <a:defRPr sz="1200" b="1">
                          <a:solidFill>
                            <a:srgbClr val="0A192F"/>
                          </a:solidFill>
                        </a:defRPr>
                      </a:pPr>
                      <a:r>
                        <a:t>Pre-Trade Calc</a:t>
                      </a:r>
                    </a:p>
                  </a:txBody>
                  <a:tcPr>
                    <a:solidFill>
                      <a:srgbClr val="FEF3C7"/>
                    </a:solidFill>
                  </a:tcPr>
                </a:tc>
                <a:tc>
                  <a:txBody>
                    <a:bodyPr/>
                    <a:lstStyle/>
                    <a:p>
                      <a:pPr>
                        <a:defRPr sz="1200" b="1">
                          <a:solidFill>
                            <a:srgbClr val="0A192F"/>
                          </a:solidFill>
                        </a:defRPr>
                      </a:pPr>
                      <a:r>
                        <a:t>₹11,440</a:t>
                      </a:r>
                    </a:p>
                  </a:txBody>
                  <a:tcPr>
                    <a:solidFill>
                      <a:srgbClr val="FEF3C7"/>
                    </a:solidFill>
                  </a:tcPr>
                </a:tc>
              </a:tr>
            </a:tbl>
          </a:graphicData>
        </a:graphic>
      </p:graphicFrame>
      <p:sp>
        <p:nvSpPr>
          <p:cNvPr id="5" name="TextBox 4"/>
          <p:cNvSpPr txBox="1"/>
          <p:nvPr/>
        </p:nvSpPr>
        <p:spPr>
          <a:xfrm>
            <a:off x="731520" y="4892040"/>
            <a:ext cx="5486400" cy="1280160"/>
          </a:xfrm>
          <a:prstGeom prst="rect">
            <a:avLst/>
          </a:prstGeom>
          <a:noFill/>
        </p:spPr>
        <p:txBody>
          <a:bodyPr wrap="square">
            <a:spAutoFit/>
          </a:bodyPr>
          <a:lstStyle/>
          <a:p/>
          <a:p>
            <a:pPr marL="342900" indent="-228600">
              <a:spcAft>
                <a:spcPts val="600"/>
              </a:spcAft>
              <a:buChar char="•"/>
            </a:pPr>
            <a:r>
              <a:rPr b="1" sz="1200">
                <a:solidFill>
                  <a:srgbClr val="0A192F"/>
                </a:solidFill>
                <a:latin typeface="Calibri"/>
              </a:rPr>
              <a:t>Tax Invariant Note: </a:t>
            </a:r>
            <a:r>
              <a:rPr b="0" sz="1200">
                <a:solidFill>
                  <a:srgbClr val="475569"/>
                </a:solidFill>
                <a:latin typeface="Calibri"/>
              </a:rPr>
              <a:t>Excludes individual surcharges (up to 15% on equity capital gains) and prior carried-forward losses. Annual aggregate LTCG exemption of ₹1,25,000 applied under Section 112A.</a:t>
            </a:r>
          </a:p>
        </p:txBody>
      </p:sp>
      <p:sp>
        <p:nvSpPr>
          <p:cNvPr id="6" name="Rounded Rectangle 5"/>
          <p:cNvSpPr/>
          <p:nvPr/>
        </p:nvSpPr>
        <p:spPr>
          <a:xfrm>
            <a:off x="6492240" y="1783080"/>
            <a:ext cx="4967935" cy="438912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965960"/>
            <a:ext cx="4480560" cy="4023360"/>
          </a:xfrm>
          <a:prstGeom prst="rect">
            <a:avLst/>
          </a:prstGeom>
          <a:noFill/>
        </p:spPr>
        <p:txBody>
          <a:bodyPr wrap="square">
            <a:spAutoFit/>
          </a:bodyPr>
          <a:lstStyle/>
          <a:p>
            <a:pPr>
              <a:spcAft>
                <a:spcPts val="1000"/>
              </a:spcAft>
              <a:defRPr b="1" sz="1500">
                <a:solidFill>
                  <a:srgbClr val="D97706"/>
                </a:solidFill>
              </a:defRPr>
            </a:pPr>
            <a:r>
              <a:t>Quarterly Advance Tax Schedule (Sec 208 &amp; 234C)</a:t>
            </a:r>
          </a:p>
          <a:p>
            <a:pPr marL="342900" indent="-228600">
              <a:spcAft>
                <a:spcPts val="600"/>
              </a:spcAft>
              <a:buChar char="•"/>
            </a:pPr>
            <a:r>
              <a:rPr b="1" sz="1350">
                <a:solidFill>
                  <a:srgbClr val="0A192F"/>
                </a:solidFill>
                <a:latin typeface="Calibri"/>
              </a:rPr>
              <a:t>1st Installment (15%): </a:t>
            </a:r>
            <a:r>
              <a:rPr b="0" sz="1350">
                <a:solidFill>
                  <a:srgbClr val="475569"/>
                </a:solidFill>
                <a:latin typeface="Calibri"/>
              </a:rPr>
              <a:t>On or before 15th June</a:t>
            </a:r>
          </a:p>
          <a:p>
            <a:pPr marL="342900" indent="-228600">
              <a:spcAft>
                <a:spcPts val="600"/>
              </a:spcAft>
              <a:buChar char="•"/>
            </a:pPr>
            <a:r>
              <a:rPr b="1" sz="1350">
                <a:solidFill>
                  <a:srgbClr val="0A192F"/>
                </a:solidFill>
                <a:latin typeface="Calibri"/>
              </a:rPr>
              <a:t>2nd Installment (45%): </a:t>
            </a:r>
            <a:r>
              <a:rPr b="0" sz="1350">
                <a:solidFill>
                  <a:srgbClr val="475569"/>
                </a:solidFill>
                <a:latin typeface="Calibri"/>
              </a:rPr>
              <a:t>On or before 15th September</a:t>
            </a:r>
          </a:p>
          <a:p>
            <a:pPr marL="342900" indent="-228600">
              <a:spcAft>
                <a:spcPts val="600"/>
              </a:spcAft>
              <a:buChar char="•"/>
            </a:pPr>
            <a:r>
              <a:rPr b="1" sz="1350">
                <a:solidFill>
                  <a:srgbClr val="0A192F"/>
                </a:solidFill>
                <a:latin typeface="Calibri"/>
              </a:rPr>
              <a:t>3rd Installment (75%): </a:t>
            </a:r>
            <a:r>
              <a:rPr b="0" sz="1350">
                <a:solidFill>
                  <a:srgbClr val="475569"/>
                </a:solidFill>
                <a:latin typeface="Calibri"/>
              </a:rPr>
              <a:t>On or before 15th December</a:t>
            </a:r>
          </a:p>
          <a:p>
            <a:pPr marL="342900" indent="-228600">
              <a:spcAft>
                <a:spcPts val="600"/>
              </a:spcAft>
              <a:buChar char="•"/>
            </a:pPr>
            <a:r>
              <a:rPr b="1" sz="1350">
                <a:solidFill>
                  <a:srgbClr val="0A192F"/>
                </a:solidFill>
                <a:latin typeface="Calibri"/>
              </a:rPr>
              <a:t>4th Installment (100%): </a:t>
            </a:r>
            <a:r>
              <a:rPr b="0" sz="1350">
                <a:solidFill>
                  <a:srgbClr val="475569"/>
                </a:solidFill>
                <a:latin typeface="Calibri"/>
              </a:rPr>
              <a:t>On or before 15th March</a:t>
            </a:r>
          </a:p>
          <a:p>
            <a:pPr marL="342900" indent="-228600">
              <a:spcAft>
                <a:spcPts val="600"/>
              </a:spcAft>
              <a:buChar char="•"/>
            </a:pPr>
            <a:r>
              <a:rPr b="1" sz="1250">
                <a:solidFill>
                  <a:srgbClr val="0A192F"/>
                </a:solidFill>
                <a:latin typeface="Calibri"/>
              </a:rPr>
              <a:t>Proviso to Section 234C: </a:t>
            </a:r>
            <a:r>
              <a:rPr b="0" sz="1250">
                <a:solidFill>
                  <a:srgbClr val="475569"/>
                </a:solidFill>
                <a:latin typeface="Calibri"/>
              </a:rPr>
              <a:t>Relieves penal interest for installments prior to the capital gains realization date if remaining tax is paid in subsequent installments.</a:t>
            </a:r>
          </a:p>
        </p:txBody>
      </p:sp>
      <p:sp>
        <p:nvSpPr>
          <p:cNvPr id="8" name="TextBox 7"/>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17 of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ACCESSIBILITY &amp; I18N</a:t>
            </a:r>
          </a:p>
          <a:p>
            <a:pPr>
              <a:spcAft>
                <a:spcPts val="300"/>
              </a:spcAft>
              <a:defRPr sz="3200" b="1">
                <a:solidFill>
                  <a:srgbClr val="0A192F"/>
                </a:solidFill>
                <a:latin typeface="Calibri"/>
              </a:defRPr>
            </a:pPr>
            <a:r>
              <a:t>Multilingual Localization Capability: 8 Languages</a:t>
            </a:r>
          </a:p>
          <a:p>
            <a:pPr>
              <a:defRPr sz="1400">
                <a:solidFill>
                  <a:srgbClr val="475569"/>
                </a:solidFill>
                <a:latin typeface="Calibri"/>
              </a:defRPr>
            </a:pPr>
            <a:r>
              <a:t>Delivering advisory transparency in regional and international languages.</a:t>
            </a:r>
          </a:p>
        </p:txBody>
      </p:sp>
      <p:sp>
        <p:nvSpPr>
          <p:cNvPr id="4" name="Rounded Rectangle 3"/>
          <p:cNvSpPr/>
          <p:nvPr/>
        </p:nvSpPr>
        <p:spPr>
          <a:xfrm>
            <a:off x="731520" y="1783080"/>
            <a:ext cx="10728655" cy="2011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20240"/>
            <a:ext cx="10241280" cy="365760"/>
          </a:xfrm>
          <a:prstGeom prst="rect">
            <a:avLst/>
          </a:prstGeom>
          <a:noFill/>
        </p:spPr>
        <p:txBody>
          <a:bodyPr wrap="none">
            <a:spAutoFit/>
          </a:bodyPr>
          <a:lstStyle/>
          <a:p>
            <a:pPr>
              <a:defRPr b="1" sz="1600">
                <a:solidFill>
                  <a:srgbClr val="0A192F"/>
                </a:solidFill>
              </a:defRPr>
            </a:pPr>
            <a:r>
              <a:t>8 Fully Supported Languages Across Client &amp; Advisor Portals</a:t>
            </a:r>
          </a:p>
        </p:txBody>
      </p:sp>
      <p:sp>
        <p:nvSpPr>
          <p:cNvPr id="6" name="Rounded Rectangle 5"/>
          <p:cNvSpPr/>
          <p:nvPr/>
        </p:nvSpPr>
        <p:spPr>
          <a:xfrm>
            <a:off x="960120" y="237744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English (en)</a:t>
            </a:r>
          </a:p>
        </p:txBody>
      </p:sp>
      <p:sp>
        <p:nvSpPr>
          <p:cNvPr id="7" name="Rounded Rectangle 6"/>
          <p:cNvSpPr/>
          <p:nvPr/>
        </p:nvSpPr>
        <p:spPr>
          <a:xfrm>
            <a:off x="3520440" y="237744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हिंदी (hi)</a:t>
            </a:r>
          </a:p>
        </p:txBody>
      </p:sp>
      <p:sp>
        <p:nvSpPr>
          <p:cNvPr id="8" name="Rounded Rectangle 7"/>
          <p:cNvSpPr/>
          <p:nvPr/>
        </p:nvSpPr>
        <p:spPr>
          <a:xfrm>
            <a:off x="6080760" y="237744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தமிழ் (ta)</a:t>
            </a:r>
          </a:p>
        </p:txBody>
      </p:sp>
      <p:sp>
        <p:nvSpPr>
          <p:cNvPr id="9" name="Rounded Rectangle 8"/>
          <p:cNvSpPr/>
          <p:nvPr/>
        </p:nvSpPr>
        <p:spPr>
          <a:xfrm>
            <a:off x="8641080" y="237744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বাংলা (bn)</a:t>
            </a:r>
          </a:p>
        </p:txBody>
      </p:sp>
      <p:sp>
        <p:nvSpPr>
          <p:cNvPr id="10" name="Rounded Rectangle 9"/>
          <p:cNvSpPr/>
          <p:nvPr/>
        </p:nvSpPr>
        <p:spPr>
          <a:xfrm>
            <a:off x="960120" y="310896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ગુજરાતી (gu)</a:t>
            </a:r>
          </a:p>
        </p:txBody>
      </p:sp>
      <p:sp>
        <p:nvSpPr>
          <p:cNvPr id="11" name="Rounded Rectangle 10"/>
          <p:cNvSpPr/>
          <p:nvPr/>
        </p:nvSpPr>
        <p:spPr>
          <a:xfrm>
            <a:off x="3520440" y="310896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Deutsch (de)</a:t>
            </a:r>
          </a:p>
        </p:txBody>
      </p:sp>
      <p:sp>
        <p:nvSpPr>
          <p:cNvPr id="12" name="Rounded Rectangle 11"/>
          <p:cNvSpPr/>
          <p:nvPr/>
        </p:nvSpPr>
        <p:spPr>
          <a:xfrm>
            <a:off x="6080760" y="310896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日本語 (ja)</a:t>
            </a:r>
          </a:p>
        </p:txBody>
      </p:sp>
      <p:sp>
        <p:nvSpPr>
          <p:cNvPr id="13" name="Rounded Rectangle 12"/>
          <p:cNvSpPr/>
          <p:nvPr/>
        </p:nvSpPr>
        <p:spPr>
          <a:xfrm>
            <a:off x="8641080" y="3108960"/>
            <a:ext cx="2286000" cy="548640"/>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b="1" sz="1300">
                <a:solidFill>
                  <a:srgbClr val="4F46E5"/>
                </a:solidFill>
              </a:defRPr>
            </a:pPr>
            <a:r>
              <a:t>한국어 (ko)</a:t>
            </a:r>
          </a:p>
        </p:txBody>
      </p:sp>
      <p:sp>
        <p:nvSpPr>
          <p:cNvPr id="14" name="Rounded Rectangle 13"/>
          <p:cNvSpPr/>
          <p:nvPr/>
        </p:nvSpPr>
        <p:spPr>
          <a:xfrm>
            <a:off x="731520" y="3977639"/>
            <a:ext cx="10728655" cy="224028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14800"/>
            <a:ext cx="10241280" cy="1965960"/>
          </a:xfrm>
          <a:prstGeom prst="rect">
            <a:avLst/>
          </a:prstGeom>
          <a:noFill/>
        </p:spPr>
        <p:txBody>
          <a:bodyPr wrap="square">
            <a:spAutoFit/>
          </a:bodyPr>
          <a:lstStyle/>
          <a:p>
            <a:pPr>
              <a:spcAft>
                <a:spcPts val="800"/>
              </a:spcAft>
              <a:defRPr b="1" sz="1600">
                <a:solidFill>
                  <a:srgbClr val="059669"/>
                </a:solidFill>
              </a:defRPr>
            </a:pPr>
            <a:r>
              <a:t>Financial Invariant: Standardized ASCII Numerals Across All Locales</a:t>
            </a:r>
          </a:p>
          <a:p>
            <a:pPr marL="342900" indent="-228600">
              <a:spcAft>
                <a:spcPts val="600"/>
              </a:spcAft>
              <a:buChar char="•"/>
            </a:pPr>
            <a:r>
              <a:rPr b="1" sz="1350">
                <a:solidFill>
                  <a:srgbClr val="0A192F"/>
                </a:solidFill>
                <a:latin typeface="Calibri"/>
              </a:rPr>
              <a:t>Western Arabic Digits (0-9): </a:t>
            </a:r>
            <a:r>
              <a:rPr b="0" sz="1350">
                <a:solidFill>
                  <a:srgbClr val="475569"/>
                </a:solidFill>
                <a:latin typeface="Calibri"/>
              </a:rPr>
              <a:t>Under regulatory standards, all rupee amounts (₹), trade quantities, percentages, and ISIN codes remain strictly in ASCII English numerals across all locales, eliminating ambiguity during legal disputes.</a:t>
            </a:r>
          </a:p>
          <a:p>
            <a:pPr marL="342900" indent="-228600">
              <a:spcAft>
                <a:spcPts val="600"/>
              </a:spcAft>
              <a:buChar char="•"/>
            </a:pPr>
            <a:r>
              <a:rPr b="1" sz="1350">
                <a:solidFill>
                  <a:srgbClr val="0A192F"/>
                </a:solidFill>
                <a:latin typeface="Calibri"/>
              </a:rPr>
              <a:t>Universal Accessibility: </a:t>
            </a:r>
            <a:r>
              <a:rPr b="0" sz="1350">
                <a:solidFill>
                  <a:srgbClr val="475569"/>
                </a:solidFill>
                <a:latin typeface="Calibri"/>
              </a:rPr>
              <a:t>HNIs review proposals, disclosures, and receipts in their preferred language while financial terms remain standardized.</a:t>
            </a:r>
          </a:p>
          <a:p>
            <a:pPr marL="342900" indent="-228600">
              <a:spcAft>
                <a:spcPts val="600"/>
              </a:spcAft>
              <a:buChar char="•"/>
            </a:pPr>
            <a:r>
              <a:rPr b="1" sz="1350">
                <a:solidFill>
                  <a:srgbClr val="0A192F"/>
                </a:solidFill>
                <a:latin typeface="Calibri"/>
              </a:rPr>
              <a:t>Seamless Profile Toggling: </a:t>
            </a:r>
            <a:r>
              <a:rPr b="0" sz="1350">
                <a:solidFill>
                  <a:srgbClr val="475569"/>
                </a:solidFill>
                <a:latin typeface="Calibri"/>
              </a:rPr>
              <a:t>Advisers and clients switch languages seamlessly via navigation bar or profile settings.</a:t>
            </a:r>
          </a:p>
        </p:txBody>
      </p:sp>
      <p:sp>
        <p:nvSpPr>
          <p:cNvPr id="16" name="TextBox 15"/>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18 of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SYSTEM TOPOLOGY</a:t>
            </a:r>
          </a:p>
          <a:p>
            <a:pPr>
              <a:spcAft>
                <a:spcPts val="300"/>
              </a:spcAft>
              <a:defRPr sz="3200" b="1">
                <a:solidFill>
                  <a:srgbClr val="0A192F"/>
                </a:solidFill>
                <a:latin typeface="Calibri"/>
              </a:defRPr>
            </a:pPr>
            <a:r>
              <a:t>Technical Architecture: Security &amp; Service Boundaries</a:t>
            </a:r>
          </a:p>
          <a:p>
            <a:pPr>
              <a:defRPr sz="1400">
                <a:solidFill>
                  <a:srgbClr val="475569"/>
                </a:solidFill>
                <a:latin typeface="Calibri"/>
              </a:defRPr>
            </a:pPr>
            <a:r>
              <a:t>High-level system topology illustrating frontend, API, security engine, and storage tiers.</a:t>
            </a:r>
          </a:p>
        </p:txBody>
      </p:sp>
      <p:sp>
        <p:nvSpPr>
          <p:cNvPr id="4" name="Rounded Rectangle 3"/>
          <p:cNvSpPr/>
          <p:nvPr/>
        </p:nvSpPr>
        <p:spPr>
          <a:xfrm>
            <a:off x="731520" y="1783080"/>
            <a:ext cx="10728655" cy="438912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1920240"/>
            <a:ext cx="10271455" cy="868680"/>
          </a:xfrm>
          <a:prstGeom prst="roundRect">
            <a:avLst/>
          </a:prstGeom>
          <a:solidFill>
            <a:srgbClr val="0A192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9997135" cy="685800"/>
          </a:xfrm>
          <a:prstGeom prst="rect">
            <a:avLst/>
          </a:prstGeom>
          <a:noFill/>
        </p:spPr>
        <p:txBody>
          <a:bodyPr wrap="square">
            <a:spAutoFit/>
          </a:bodyPr>
          <a:lstStyle/>
          <a:p>
            <a:pPr>
              <a:defRPr b="1" sz="1300">
                <a:solidFill>
                  <a:srgbClr val="FFFFFF"/>
                </a:solidFill>
              </a:defRPr>
            </a:pPr>
            <a:r>
              <a:t>CLIENT TIER: Desktop Advisory Hub (React 18 / MUI) &amp; Mobile Review Screen (360px)</a:t>
            </a:r>
          </a:p>
          <a:p>
            <a:pPr>
              <a:defRPr sz="1150">
                <a:solidFill>
                  <a:srgbClr val="A5B4FC"/>
                </a:solidFill>
              </a:defRPr>
            </a:pPr>
            <a:r>
              <a:t>TLS 1.3 / HTTPS Ingress Gateway with Helmet HSTS (1-Year Max Age Header)</a:t>
            </a:r>
          </a:p>
        </p:txBody>
      </p:sp>
      <p:sp>
        <p:nvSpPr>
          <p:cNvPr id="7" name="Rounded Rectangle 6"/>
          <p:cNvSpPr/>
          <p:nvPr/>
        </p:nvSpPr>
        <p:spPr>
          <a:xfrm>
            <a:off x="960120" y="2926080"/>
            <a:ext cx="10271455" cy="868680"/>
          </a:xfrm>
          <a:prstGeom prst="roundRect">
            <a:avLst/>
          </a:prstGeom>
          <a:solidFill>
            <a:srgbClr val="EEF2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3017520"/>
            <a:ext cx="9997135" cy="685800"/>
          </a:xfrm>
          <a:prstGeom prst="rect">
            <a:avLst/>
          </a:prstGeom>
          <a:noFill/>
        </p:spPr>
        <p:txBody>
          <a:bodyPr wrap="square">
            <a:spAutoFit/>
          </a:bodyPr>
          <a:lstStyle/>
          <a:p>
            <a:pPr>
              <a:defRPr b="1" sz="1300">
                <a:solidFill>
                  <a:srgbClr val="0A192F"/>
                </a:solidFill>
              </a:defRPr>
            </a:pPr>
            <a:r>
              <a:t>API GATEWAY &amp; SECURITY TIER: Express Node.js REST API</a:t>
            </a:r>
          </a:p>
          <a:p>
            <a:pPr>
              <a:defRPr sz="1150">
                <a:solidFill>
                  <a:srgbClr val="475569"/>
                </a:solidFill>
              </a:defRPr>
            </a:pPr>
            <a:r>
              <a:t>Strict Firm Tenancy Middleware  |  TOTP Staff MFA  |  Sliding-Window Rate Limiting  |  Sanitization</a:t>
            </a:r>
          </a:p>
        </p:txBody>
      </p:sp>
      <p:sp>
        <p:nvSpPr>
          <p:cNvPr id="9" name="Rounded Rectangle 8"/>
          <p:cNvSpPr/>
          <p:nvPr/>
        </p:nvSpPr>
        <p:spPr>
          <a:xfrm>
            <a:off x="960120" y="3931920"/>
            <a:ext cx="10271455"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023360"/>
            <a:ext cx="9997135" cy="685800"/>
          </a:xfrm>
          <a:prstGeom prst="rect">
            <a:avLst/>
          </a:prstGeom>
          <a:noFill/>
        </p:spPr>
        <p:txBody>
          <a:bodyPr wrap="square">
            <a:spAutoFit/>
          </a:bodyPr>
          <a:lstStyle/>
          <a:p>
            <a:pPr>
              <a:defRPr b="1" sz="1300">
                <a:solidFill>
                  <a:srgbClr val="1E293B"/>
                </a:solidFill>
              </a:defRPr>
            </a:pPr>
            <a:r>
              <a:t>CORE BUSINESS ENGINES: State Machine Engine &amp; Tax Calculation Core</a:t>
            </a:r>
          </a:p>
          <a:p>
            <a:pPr>
              <a:defRPr sz="1150">
                <a:solidFill>
                  <a:srgbClr val="475569"/>
                </a:solidFill>
              </a:defRPr>
            </a:pPr>
            <a:r>
              <a:t>Finance Act 2024 Engine (STCG 20%, LTCG 12.5%)  |  Dual-Envelope AES-256-GCM  |  In-App Chat Rail</a:t>
            </a:r>
          </a:p>
        </p:txBody>
      </p:sp>
      <p:sp>
        <p:nvSpPr>
          <p:cNvPr id="11" name="Rounded Rectangle 10"/>
          <p:cNvSpPr/>
          <p:nvPr/>
        </p:nvSpPr>
        <p:spPr>
          <a:xfrm>
            <a:off x="960120" y="4937760"/>
            <a:ext cx="10271455" cy="868680"/>
          </a:xfrm>
          <a:prstGeom prst="roundRect">
            <a:avLst/>
          </a:prstGeom>
          <a:solidFill>
            <a:srgbClr val="ECFDF5"/>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029200"/>
            <a:ext cx="9997135" cy="685800"/>
          </a:xfrm>
          <a:prstGeom prst="rect">
            <a:avLst/>
          </a:prstGeom>
          <a:noFill/>
        </p:spPr>
        <p:txBody>
          <a:bodyPr wrap="square">
            <a:spAutoFit/>
          </a:bodyPr>
          <a:lstStyle/>
          <a:p>
            <a:pPr>
              <a:defRPr b="1" sz="1300">
                <a:solidFill>
                  <a:srgbClr val="0A192F"/>
                </a:solidFill>
              </a:defRPr>
            </a:pPr>
            <a:r>
              <a:t>PERSISTENT DATA &amp; AUDIT TIER: MongoDB Atlas (AWS Mumbai ap-south-1)</a:t>
            </a:r>
          </a:p>
          <a:p>
            <a:pPr>
              <a:defRPr sz="1150">
                <a:solidFill>
                  <a:srgbClr val="475569"/>
                </a:solidFill>
              </a:defRPr>
            </a:pPr>
            <a:r>
              <a:t>Dedicated SERVER_MASTER_KEY Isolation  |  Append-Only SHA-256 Chained Ledger  |  PITR Recovery</a:t>
            </a:r>
          </a:p>
        </p:txBody>
      </p:sp>
      <p:sp>
        <p:nvSpPr>
          <p:cNvPr id="13" name="TextBox 12"/>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19 of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THREAT MODELING</a:t>
            </a:r>
          </a:p>
          <a:p>
            <a:pPr>
              <a:spcAft>
                <a:spcPts val="300"/>
              </a:spcAft>
              <a:defRPr sz="3200" b="1">
                <a:solidFill>
                  <a:srgbClr val="0A192F"/>
                </a:solidFill>
                <a:latin typeface="Calibri"/>
              </a:defRPr>
            </a:pPr>
            <a:r>
              <a:t>Security Threat Scenarios &amp; Evidenced Protections</a:t>
            </a:r>
          </a:p>
          <a:p>
            <a:pPr>
              <a:defRPr sz="1400">
                <a:solidFill>
                  <a:srgbClr val="475569"/>
                </a:solidFill>
                <a:latin typeface="Calibri"/>
              </a:defRPr>
            </a:pPr>
            <a:r>
              <a:t>Proven runtime boundary enforcement against malicious and accidental vectors.</a:t>
            </a:r>
          </a:p>
        </p:txBody>
      </p:sp>
      <p:sp>
        <p:nvSpPr>
          <p:cNvPr id="4" name="Rounded Rectangle 3"/>
          <p:cNvSpPr/>
          <p:nvPr/>
        </p:nvSpPr>
        <p:spPr>
          <a:xfrm>
            <a:off x="731520" y="1783080"/>
            <a:ext cx="5120640" cy="42519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6232"/>
            <a:ext cx="73152" cy="73152"/>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9264" y="1856232"/>
            <a:ext cx="73152" cy="7315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856232"/>
            <a:ext cx="73152" cy="7315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17-otp-lockout-after-3-failures.png"/>
          <p:cNvPicPr>
            <a:picLocks noChangeAspect="1"/>
          </p:cNvPicPr>
          <p:nvPr/>
        </p:nvPicPr>
        <p:blipFill>
          <a:blip r:embed="rId2"/>
          <a:stretch>
            <a:fillRect/>
          </a:stretch>
        </p:blipFill>
        <p:spPr>
          <a:xfrm>
            <a:off x="768096" y="2002536"/>
            <a:ext cx="5047488" cy="3995928"/>
          </a:xfrm>
          <a:prstGeom prst="rect">
            <a:avLst/>
          </a:prstGeom>
        </p:spPr>
      </p:pic>
      <p:sp>
        <p:nvSpPr>
          <p:cNvPr id="9" name="TextBox 8"/>
          <p:cNvSpPr txBox="1"/>
          <p:nvPr/>
        </p:nvSpPr>
        <p:spPr>
          <a:xfrm>
            <a:off x="731520" y="6071616"/>
            <a:ext cx="5120640" cy="201168"/>
          </a:xfrm>
          <a:prstGeom prst="rect">
            <a:avLst/>
          </a:prstGeom>
          <a:noFill/>
        </p:spPr>
        <p:txBody>
          <a:bodyPr wrap="square" lIns="0" tIns="0" rIns="0" bIns="0">
            <a:spAutoFit/>
          </a:bodyPr>
          <a:lstStyle/>
          <a:p>
            <a:pPr>
              <a:defRPr sz="950">
                <a:solidFill>
                  <a:srgbClr val="475569"/>
                </a:solidFill>
              </a:defRPr>
            </a:pPr>
            <a:r>
              <a:t>Figure 20.1: Security Evidence — OTP lockout engaged after 3 failed verification attempts.</a:t>
            </a:r>
          </a:p>
        </p:txBody>
      </p:sp>
      <p:sp>
        <p:nvSpPr>
          <p:cNvPr id="10" name="Rounded Rectangle 9"/>
          <p:cNvSpPr/>
          <p:nvPr/>
        </p:nvSpPr>
        <p:spPr>
          <a:xfrm>
            <a:off x="6217920" y="1783080"/>
            <a:ext cx="5242255" cy="4251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965960"/>
            <a:ext cx="4754880" cy="3931920"/>
          </a:xfrm>
          <a:prstGeom prst="rect">
            <a:avLst/>
          </a:prstGeom>
          <a:noFill/>
        </p:spPr>
        <p:txBody>
          <a:bodyPr wrap="square">
            <a:spAutoFit/>
          </a:bodyPr>
          <a:lstStyle/>
          <a:p>
            <a:pPr>
              <a:spcAft>
                <a:spcPts val="1000"/>
              </a:spcAft>
              <a:defRPr b="1" sz="1600">
                <a:solidFill>
                  <a:srgbClr val="0A192F"/>
                </a:solidFill>
              </a:defRPr>
            </a:pPr>
            <a:r>
              <a:t>Threat Modeling &amp; Architectural Defenses</a:t>
            </a:r>
          </a:p>
          <a:p>
            <a:pPr marL="342900" indent="-228600">
              <a:spcAft>
                <a:spcPts val="600"/>
              </a:spcAft>
              <a:buChar char="•"/>
            </a:pPr>
            <a:r>
              <a:rPr b="1" sz="1350">
                <a:solidFill>
                  <a:srgbClr val="0A192F"/>
                </a:solidFill>
                <a:latin typeface="Calibri"/>
              </a:rPr>
              <a:t>Credential Stuffing &amp; OTP Brute-Force: </a:t>
            </a:r>
            <a:r>
              <a:rPr b="0" sz="1350">
                <a:solidFill>
                  <a:srgbClr val="475569"/>
                </a:solidFill>
                <a:latin typeface="Calibri"/>
              </a:rPr>
              <a:t>Sliding-window rate limiters block rapid bursts; 3 failed OTPs permanently lock the token (HTTP 429).</a:t>
            </a:r>
          </a:p>
          <a:p>
            <a:pPr marL="342900" indent="-228600">
              <a:spcAft>
                <a:spcPts val="600"/>
              </a:spcAft>
              <a:buChar char="•"/>
            </a:pPr>
            <a:r>
              <a:rPr b="1" sz="1350">
                <a:solidFill>
                  <a:srgbClr val="0A192F"/>
                </a:solidFill>
                <a:latin typeface="Calibri"/>
              </a:rPr>
              <a:t>Cross-Tenant IDOR &amp; Privilege Escalation: </a:t>
            </a:r>
            <a:r>
              <a:rPr b="0" sz="1350">
                <a:solidFill>
                  <a:srgbClr val="475569"/>
                </a:solidFill>
                <a:latin typeface="Calibri"/>
              </a:rPr>
              <a:t>Tampering with mandate or client UUIDs across RIA practices rejected with HTTP 403 Forbidden.</a:t>
            </a:r>
          </a:p>
          <a:p>
            <a:pPr marL="342900" indent="-228600">
              <a:spcAft>
                <a:spcPts val="600"/>
              </a:spcAft>
              <a:buChar char="•"/>
            </a:pPr>
            <a:r>
              <a:rPr b="1" sz="1350">
                <a:solidFill>
                  <a:srgbClr val="0A192F"/>
                </a:solidFill>
                <a:latin typeface="Calibri"/>
              </a:rPr>
              <a:t>Expired / Replay Attacks: </a:t>
            </a:r>
            <a:r>
              <a:rPr b="0" sz="1350">
                <a:solidFill>
                  <a:srgbClr val="475569"/>
                </a:solidFill>
                <a:latin typeface="Calibri"/>
              </a:rPr>
              <a:t>Opening links past the 48-hour cutoff or after successful consent returns HTTP 410 Gone / Revoked.</a:t>
            </a:r>
          </a:p>
          <a:p>
            <a:pPr marL="342900" indent="-228600">
              <a:spcAft>
                <a:spcPts val="600"/>
              </a:spcAft>
              <a:buChar char="•"/>
            </a:pPr>
            <a:r>
              <a:rPr b="1" sz="1350">
                <a:solidFill>
                  <a:srgbClr val="0A192F"/>
                </a:solidFill>
                <a:latin typeface="Calibri"/>
              </a:rPr>
              <a:t>Token Sniffing &amp; Database Breaches: </a:t>
            </a:r>
            <a:r>
              <a:rPr b="0" sz="1350">
                <a:solidFill>
                  <a:srgbClr val="475569"/>
                </a:solidFill>
                <a:latin typeface="Calibri"/>
              </a:rPr>
              <a:t>Plaintext magic tokens are never persisted in the database (stored strictly as SHA-256 hashes).</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20 of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EVIDENCE BASE</a:t>
            </a:r>
          </a:p>
          <a:p>
            <a:pPr>
              <a:spcAft>
                <a:spcPts val="300"/>
              </a:spcAft>
              <a:defRPr sz="3200" b="1">
                <a:solidFill>
                  <a:srgbClr val="0A192F"/>
                </a:solidFill>
                <a:latin typeface="Calibri"/>
              </a:defRPr>
            </a:pPr>
            <a:r>
              <a:t>Operational &amp; Testing Validation: Grounded in Real Runs</a:t>
            </a:r>
          </a:p>
          <a:p>
            <a:pPr>
              <a:defRPr sz="1400">
                <a:solidFill>
                  <a:srgbClr val="475569"/>
                </a:solidFill>
                <a:latin typeface="Calibri"/>
              </a:defRPr>
            </a:pPr>
            <a:r>
              <a:t>Concrete evidence demonstrating zero regressions across automated and browser tests.</a:t>
            </a:r>
          </a:p>
        </p:txBody>
      </p:sp>
      <p:sp>
        <p:nvSpPr>
          <p:cNvPr id="4" name="Rounded Rectangle 3"/>
          <p:cNvSpPr/>
          <p:nvPr/>
        </p:nvSpPr>
        <p:spPr>
          <a:xfrm>
            <a:off x="731520" y="1783080"/>
            <a:ext cx="24688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965960"/>
            <a:ext cx="2249424" cy="4023360"/>
          </a:xfrm>
          <a:prstGeom prst="rect">
            <a:avLst/>
          </a:prstGeom>
          <a:noFill/>
        </p:spPr>
        <p:txBody>
          <a:bodyPr wrap="square">
            <a:spAutoFit/>
          </a:bodyPr>
          <a:lstStyle/>
          <a:p>
            <a:pPr>
              <a:spcAft>
                <a:spcPts val="600"/>
              </a:spcAft>
              <a:defRPr b="1" sz="3600">
                <a:solidFill>
                  <a:srgbClr val="059669"/>
                </a:solidFill>
              </a:defRPr>
            </a:pPr>
            <a:r>
              <a:t>230 / 230</a:t>
            </a:r>
          </a:p>
          <a:p>
            <a:pPr>
              <a:spcAft>
                <a:spcPts val="1000"/>
              </a:spcAft>
              <a:defRPr b="1" sz="1450">
                <a:solidFill>
                  <a:srgbClr val="0A192F"/>
                </a:solidFill>
              </a:defRPr>
            </a:pPr>
            <a:r>
              <a:t>Automated Tests Passing</a:t>
            </a:r>
          </a:p>
          <a:p>
            <a:pPr>
              <a:defRPr sz="1300">
                <a:solidFill>
                  <a:srgbClr val="475569"/>
                </a:solidFill>
              </a:defRPr>
            </a:pPr>
            <a:r>
              <a:t>17 test suites running across tax calculation, security, RBAC, i18n, and API regressions (100% pass rate).</a:t>
            </a:r>
          </a:p>
        </p:txBody>
      </p:sp>
      <p:sp>
        <p:nvSpPr>
          <p:cNvPr id="6" name="Rounded Rectangle 5"/>
          <p:cNvSpPr/>
          <p:nvPr/>
        </p:nvSpPr>
        <p:spPr>
          <a:xfrm>
            <a:off x="3474720" y="1783080"/>
            <a:ext cx="24688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84448" y="1965960"/>
            <a:ext cx="2249424" cy="4023360"/>
          </a:xfrm>
          <a:prstGeom prst="rect">
            <a:avLst/>
          </a:prstGeom>
          <a:noFill/>
        </p:spPr>
        <p:txBody>
          <a:bodyPr wrap="square">
            <a:spAutoFit/>
          </a:bodyPr>
          <a:lstStyle/>
          <a:p>
            <a:pPr>
              <a:spcAft>
                <a:spcPts val="600"/>
              </a:spcAft>
              <a:defRPr b="1" sz="4800">
                <a:solidFill>
                  <a:srgbClr val="059669"/>
                </a:solidFill>
              </a:defRPr>
            </a:pPr>
            <a:r>
              <a:t>81</a:t>
            </a:r>
          </a:p>
          <a:p>
            <a:pPr>
              <a:spcAft>
                <a:spcPts val="1000"/>
              </a:spcAft>
              <a:defRPr b="1" sz="1450">
                <a:solidFill>
                  <a:srgbClr val="0A192F"/>
                </a:solidFill>
              </a:defRPr>
            </a:pPr>
            <a:r>
              <a:t>Screenshots Captured</a:t>
            </a:r>
          </a:p>
          <a:p>
            <a:pPr>
              <a:defRPr sz="1300">
                <a:solidFill>
                  <a:srgbClr val="475569"/>
                </a:solidFill>
              </a:defRPr>
            </a:pPr>
            <a:r>
              <a:t>42 baseline, 25 security, and 14 mandate-security screenshots verifying desktop and mobile viewports.</a:t>
            </a:r>
          </a:p>
        </p:txBody>
      </p:sp>
      <p:sp>
        <p:nvSpPr>
          <p:cNvPr id="8" name="Rounded Rectangle 7"/>
          <p:cNvSpPr/>
          <p:nvPr/>
        </p:nvSpPr>
        <p:spPr>
          <a:xfrm>
            <a:off x="6217920" y="1783080"/>
            <a:ext cx="24688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7648" y="1965960"/>
            <a:ext cx="2249424" cy="4023360"/>
          </a:xfrm>
          <a:prstGeom prst="rect">
            <a:avLst/>
          </a:prstGeom>
          <a:noFill/>
        </p:spPr>
        <p:txBody>
          <a:bodyPr wrap="square">
            <a:spAutoFit/>
          </a:bodyPr>
          <a:lstStyle/>
          <a:p>
            <a:pPr>
              <a:spcAft>
                <a:spcPts val="600"/>
              </a:spcAft>
              <a:defRPr b="1" sz="3600">
                <a:solidFill>
                  <a:srgbClr val="059669"/>
                </a:solidFill>
              </a:defRPr>
            </a:pPr>
            <a:r>
              <a:t>1,460</a:t>
            </a:r>
          </a:p>
          <a:p>
            <a:pPr>
              <a:spcAft>
                <a:spcPts val="1000"/>
              </a:spcAft>
              <a:defRPr b="1" sz="1450">
                <a:solidFill>
                  <a:srgbClr val="0A192F"/>
                </a:solidFill>
              </a:defRPr>
            </a:pPr>
            <a:r>
              <a:t>Records Disaster Drill</a:t>
            </a:r>
          </a:p>
          <a:p>
            <a:pPr>
              <a:defRPr sz="1300">
                <a:solidFill>
                  <a:srgbClr val="475569"/>
                </a:solidFill>
              </a:defRPr>
            </a:pPr>
            <a:r>
              <a:t>Synthetic non-destructive restore drill verified 1,460 audit logs with zero broken cryptographic hash links.</a:t>
            </a:r>
          </a:p>
        </p:txBody>
      </p:sp>
      <p:sp>
        <p:nvSpPr>
          <p:cNvPr id="10" name="Rounded Rectangle 9"/>
          <p:cNvSpPr/>
          <p:nvPr/>
        </p:nvSpPr>
        <p:spPr>
          <a:xfrm>
            <a:off x="8961120" y="1783080"/>
            <a:ext cx="24688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1965960"/>
            <a:ext cx="2249424" cy="4023360"/>
          </a:xfrm>
          <a:prstGeom prst="rect">
            <a:avLst/>
          </a:prstGeom>
          <a:noFill/>
        </p:spPr>
        <p:txBody>
          <a:bodyPr wrap="square">
            <a:spAutoFit/>
          </a:bodyPr>
          <a:lstStyle/>
          <a:p>
            <a:pPr>
              <a:spcAft>
                <a:spcPts val="600"/>
              </a:spcAft>
              <a:defRPr b="1" sz="4800">
                <a:solidFill>
                  <a:srgbClr val="059669"/>
                </a:solidFill>
              </a:defRPr>
            </a:pPr>
            <a:r>
              <a:t>0</a:t>
            </a:r>
          </a:p>
          <a:p>
            <a:pPr>
              <a:spcAft>
                <a:spcPts val="1000"/>
              </a:spcAft>
              <a:defRPr b="1" sz="1450">
                <a:solidFill>
                  <a:srgbClr val="0A192F"/>
                </a:solidFill>
              </a:defRPr>
            </a:pPr>
            <a:r>
              <a:t>Broken Hash Chains</a:t>
            </a:r>
          </a:p>
          <a:p>
            <a:pPr>
              <a:defRPr sz="1300">
                <a:solidFill>
                  <a:srgbClr val="475569"/>
                </a:solidFill>
              </a:defRPr>
            </a:pPr>
            <a:r>
              <a:t>Full mathematical continuity verified across all state changes, guaranteeing tamper-evident audit records.</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21 of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INFRASTRUCTURE</a:t>
            </a:r>
          </a:p>
          <a:p>
            <a:pPr>
              <a:spcAft>
                <a:spcPts val="300"/>
              </a:spcAft>
              <a:defRPr sz="3200" b="1">
                <a:solidFill>
                  <a:srgbClr val="0A192F"/>
                </a:solidFill>
                <a:latin typeface="Calibri"/>
              </a:defRPr>
            </a:pPr>
            <a:r>
              <a:t>Deployment Architecture: Indian Data Sovereignty</a:t>
            </a:r>
          </a:p>
          <a:p>
            <a:pPr>
              <a:defRPr sz="1400">
                <a:solidFill>
                  <a:srgbClr val="475569"/>
                </a:solidFill>
                <a:latin typeface="Calibri"/>
              </a:defRPr>
            </a:pPr>
            <a:r>
              <a:t>Compliance with SEBI Cybersecurity Framework (CSCRF) and DPDP directives.</a:t>
            </a:r>
          </a:p>
        </p:txBody>
      </p:sp>
      <p:sp>
        <p:nvSpPr>
          <p:cNvPr id="4" name="Rounded Rectangle 3"/>
          <p:cNvSpPr/>
          <p:nvPr/>
        </p:nvSpPr>
        <p:spPr>
          <a:xfrm>
            <a:off x="731520" y="1783080"/>
            <a:ext cx="5212080" cy="205740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4846320" cy="1783080"/>
          </a:xfrm>
          <a:prstGeom prst="rect">
            <a:avLst/>
          </a:prstGeom>
          <a:noFill/>
        </p:spPr>
        <p:txBody>
          <a:bodyPr wrap="square">
            <a:spAutoFit/>
          </a:bodyPr>
          <a:lstStyle/>
          <a:p>
            <a:pPr>
              <a:spcAft>
                <a:spcPts val="600"/>
              </a:spcAft>
              <a:defRPr b="1" sz="1600">
                <a:solidFill>
                  <a:srgbClr val="059669"/>
                </a:solidFill>
              </a:defRPr>
            </a:pPr>
            <a:r>
              <a:t>Territorial Data Residency (ap-south-1)</a:t>
            </a:r>
          </a:p>
          <a:p>
            <a:pPr>
              <a:defRPr sz="1400">
                <a:solidFill>
                  <a:srgbClr val="1E293B"/>
                </a:solidFill>
              </a:defRPr>
            </a:pPr>
            <a:r>
              <a:t>All primary databases, cryptographic keys, and audit ledgers reside exclusively in AWS Asia Pacific (Mumbai) region (ap-south-1) to comply with SEBI CSCRF and DPDP Act directives.</a:t>
            </a:r>
          </a:p>
        </p:txBody>
      </p:sp>
      <p:sp>
        <p:nvSpPr>
          <p:cNvPr id="6" name="Rounded Rectangle 5"/>
          <p:cNvSpPr/>
          <p:nvPr/>
        </p:nvSpPr>
        <p:spPr>
          <a:xfrm>
            <a:off x="6248095" y="1783080"/>
            <a:ext cx="5212080" cy="205740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30975" y="1920240"/>
            <a:ext cx="4846320" cy="1783080"/>
          </a:xfrm>
          <a:prstGeom prst="rect">
            <a:avLst/>
          </a:prstGeom>
          <a:noFill/>
        </p:spPr>
        <p:txBody>
          <a:bodyPr wrap="square">
            <a:spAutoFit/>
          </a:bodyPr>
          <a:lstStyle/>
          <a:p>
            <a:pPr>
              <a:spcAft>
                <a:spcPts val="600"/>
              </a:spcAft>
              <a:defRPr b="1" sz="1600">
                <a:solidFill>
                  <a:srgbClr val="4F46E5"/>
                </a:solidFill>
              </a:defRPr>
            </a:pPr>
            <a:r>
              <a:t>Multi-Stage Production Containers</a:t>
            </a:r>
          </a:p>
          <a:p>
            <a:pPr>
              <a:defRPr sz="1400">
                <a:solidFill>
                  <a:srgbClr val="1E293B"/>
                </a:solidFill>
              </a:defRPr>
            </a:pPr>
            <a:r>
              <a:t>Hardened Docker multi-stage build packaging optimized Vite static assets and hardened Express Node.js ESM runtime with zero external runtime package installations.</a:t>
            </a:r>
          </a:p>
        </p:txBody>
      </p:sp>
      <p:sp>
        <p:nvSpPr>
          <p:cNvPr id="8" name="Rounded Rectangle 7"/>
          <p:cNvSpPr/>
          <p:nvPr/>
        </p:nvSpPr>
        <p:spPr>
          <a:xfrm>
            <a:off x="731520" y="4069080"/>
            <a:ext cx="5212080" cy="2057400"/>
          </a:xfrm>
          <a:prstGeom prst="roundRect">
            <a:avLst/>
          </a:prstGeom>
          <a:solidFill>
            <a:srgbClr val="F8FAFC"/>
          </a:solidFill>
          <a:ln w="12700">
            <a:solidFill>
              <a:srgbClr val="0A1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206240"/>
            <a:ext cx="4846320" cy="1783080"/>
          </a:xfrm>
          <a:prstGeom prst="rect">
            <a:avLst/>
          </a:prstGeom>
          <a:noFill/>
        </p:spPr>
        <p:txBody>
          <a:bodyPr wrap="square">
            <a:spAutoFit/>
          </a:bodyPr>
          <a:lstStyle/>
          <a:p>
            <a:pPr>
              <a:spcAft>
                <a:spcPts val="600"/>
              </a:spcAft>
              <a:defRPr b="1" sz="1600">
                <a:solidFill>
                  <a:srgbClr val="0A192F"/>
                </a:solidFill>
              </a:defRPr>
            </a:pPr>
            <a:r>
              <a:t>Orchestration &amp; Health Probes</a:t>
            </a:r>
          </a:p>
          <a:p>
            <a:pPr>
              <a:defRPr sz="1400">
                <a:solidFill>
                  <a:srgbClr val="1E293B"/>
                </a:solidFill>
              </a:defRPr>
            </a:pPr>
            <a:r>
              <a:t>Production container environment with automated /api/health and /api/ready probes reporting database connectivity, readiness, and active tenancy health.</a:t>
            </a:r>
          </a:p>
        </p:txBody>
      </p:sp>
      <p:sp>
        <p:nvSpPr>
          <p:cNvPr id="10" name="Rounded Rectangle 9"/>
          <p:cNvSpPr/>
          <p:nvPr/>
        </p:nvSpPr>
        <p:spPr>
          <a:xfrm>
            <a:off x="6248095" y="4069080"/>
            <a:ext cx="5212080" cy="205740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4206240"/>
            <a:ext cx="4846320" cy="1783080"/>
          </a:xfrm>
          <a:prstGeom prst="rect">
            <a:avLst/>
          </a:prstGeom>
          <a:noFill/>
        </p:spPr>
        <p:txBody>
          <a:bodyPr wrap="square">
            <a:spAutoFit/>
          </a:bodyPr>
          <a:lstStyle/>
          <a:p>
            <a:pPr>
              <a:spcAft>
                <a:spcPts val="600"/>
              </a:spcAft>
              <a:defRPr b="1" sz="1600">
                <a:solidFill>
                  <a:srgbClr val="D97706"/>
                </a:solidFill>
              </a:defRPr>
            </a:pPr>
            <a:r>
              <a:t>Cryptographic Key Isolation</a:t>
            </a:r>
          </a:p>
          <a:p>
            <a:pPr>
              <a:defRPr sz="1400">
                <a:solidFill>
                  <a:srgbClr val="1E293B"/>
                </a:solidFill>
              </a:defRPr>
            </a:pPr>
            <a:r>
              <a:t>Server Master Key (SERVER_MASTER_KEY) isolated from application authentication secrets (JWT_SECRET); zero third-party advertising tracking or analytics beacons.</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22 of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BUSINESS IMPACT</a:t>
            </a:r>
          </a:p>
          <a:p>
            <a:pPr>
              <a:spcAft>
                <a:spcPts val="300"/>
              </a:spcAft>
              <a:defRPr sz="3200" b="1">
                <a:solidFill>
                  <a:srgbClr val="0A192F"/>
                </a:solidFill>
                <a:latin typeface="Calibri"/>
              </a:defRPr>
            </a:pPr>
            <a:r>
              <a:t>Business Value &amp; Practice Impact for Advisory Firms</a:t>
            </a:r>
          </a:p>
          <a:p>
            <a:pPr>
              <a:defRPr sz="1400">
                <a:solidFill>
                  <a:srgbClr val="475569"/>
                </a:solidFill>
                <a:latin typeface="Calibri"/>
              </a:defRPr>
            </a:pPr>
            <a:r>
              <a:t>Quantifiable efficiency, compliance security, and investor satisfaction gains.</a:t>
            </a:r>
          </a:p>
        </p:txBody>
      </p:sp>
      <p:sp>
        <p:nvSpPr>
          <p:cNvPr id="4" name="Rounded Rectangle 3"/>
          <p:cNvSpPr/>
          <p:nvPr/>
        </p:nvSpPr>
        <p:spPr>
          <a:xfrm>
            <a:off x="731520" y="1783080"/>
            <a:ext cx="3328416" cy="438912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965960"/>
            <a:ext cx="2999232" cy="4023360"/>
          </a:xfrm>
          <a:prstGeom prst="rect">
            <a:avLst/>
          </a:prstGeom>
          <a:noFill/>
        </p:spPr>
        <p:txBody>
          <a:bodyPr wrap="square">
            <a:spAutoFit/>
          </a:bodyPr>
          <a:lstStyle/>
          <a:p>
            <a:pPr>
              <a:spcAft>
                <a:spcPts val="1000"/>
              </a:spcAft>
              <a:defRPr b="1" sz="1700">
                <a:solidFill>
                  <a:srgbClr val="059669"/>
                </a:solidFill>
              </a:defRPr>
            </a:pPr>
            <a:r>
              <a:t>100% Inspection-Ready</a:t>
            </a:r>
          </a:p>
          <a:p>
            <a:pPr marL="342900" indent="-228600">
              <a:spcAft>
                <a:spcPts val="600"/>
              </a:spcAft>
              <a:buChar char="•"/>
            </a:pPr>
            <a:r>
              <a:rPr b="1" sz="1300">
                <a:solidFill>
                  <a:srgbClr val="0A192F"/>
                </a:solidFill>
                <a:latin typeface="Calibri"/>
              </a:rPr>
              <a:t>Instant Dossiers: </a:t>
            </a:r>
            <a:r>
              <a:rPr b="0" sz="1300">
                <a:solidFill>
                  <a:srgbClr val="475569"/>
                </a:solidFill>
                <a:latin typeface="Calibri"/>
              </a:rPr>
              <a:t>Downloadable Section 63 BSA compliance dossiers provide contemporaneous regulatory evidence.</a:t>
            </a:r>
          </a:p>
          <a:p>
            <a:pPr marL="342900" indent="-228600">
              <a:spcAft>
                <a:spcPts val="600"/>
              </a:spcAft>
              <a:buChar char="•"/>
            </a:pPr>
            <a:r>
              <a:rPr b="1" sz="1300">
                <a:solidFill>
                  <a:srgbClr val="0A192F"/>
                </a:solidFill>
                <a:latin typeface="Calibri"/>
              </a:rPr>
              <a:t>Time Savings: </a:t>
            </a:r>
            <a:r>
              <a:rPr b="0" sz="1300">
                <a:solidFill>
                  <a:srgbClr val="475569"/>
                </a:solidFill>
                <a:latin typeface="Calibri"/>
              </a:rPr>
              <a:t>Replaces weeks of manual audit trail compilation with instantaneous verification.</a:t>
            </a:r>
          </a:p>
          <a:p>
            <a:pPr marL="342900" indent="-228600">
              <a:spcAft>
                <a:spcPts val="600"/>
              </a:spcAft>
              <a:buChar char="•"/>
            </a:pPr>
            <a:r>
              <a:rPr b="1" sz="1300">
                <a:solidFill>
                  <a:srgbClr val="0A192F"/>
                </a:solidFill>
                <a:latin typeface="Calibri"/>
              </a:rPr>
              <a:t>Legal Protection: </a:t>
            </a:r>
            <a:r>
              <a:rPr b="0" sz="1300">
                <a:solidFill>
                  <a:srgbClr val="475569"/>
                </a:solidFill>
                <a:latin typeface="Calibri"/>
              </a:rPr>
              <a:t>Safeguards RIA practice against claims of unauthorized or discretionary trading.</a:t>
            </a:r>
          </a:p>
        </p:txBody>
      </p:sp>
      <p:sp>
        <p:nvSpPr>
          <p:cNvPr id="6" name="Rounded Rectangle 5"/>
          <p:cNvSpPr/>
          <p:nvPr/>
        </p:nvSpPr>
        <p:spPr>
          <a:xfrm>
            <a:off x="4425696" y="1783080"/>
            <a:ext cx="3328416" cy="438912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90288" y="1965960"/>
            <a:ext cx="2999232" cy="4023360"/>
          </a:xfrm>
          <a:prstGeom prst="rect">
            <a:avLst/>
          </a:prstGeom>
          <a:noFill/>
        </p:spPr>
        <p:txBody>
          <a:bodyPr wrap="square">
            <a:spAutoFit/>
          </a:bodyPr>
          <a:lstStyle/>
          <a:p>
            <a:pPr>
              <a:spcAft>
                <a:spcPts val="1000"/>
              </a:spcAft>
              <a:defRPr b="1" sz="1700">
                <a:solidFill>
                  <a:srgbClr val="D97706"/>
                </a:solidFill>
              </a:defRPr>
            </a:pPr>
            <a:r>
              <a:t>Zero Tax Shocks</a:t>
            </a:r>
          </a:p>
          <a:p>
            <a:pPr marL="342900" indent="-228600">
              <a:spcAft>
                <a:spcPts val="600"/>
              </a:spcAft>
              <a:buChar char="•"/>
            </a:pPr>
            <a:r>
              <a:rPr b="1" sz="1300">
                <a:solidFill>
                  <a:srgbClr val="0A192F"/>
                </a:solidFill>
                <a:latin typeface="Calibri"/>
              </a:rPr>
              <a:t>Pre-Trade Visibility: </a:t>
            </a:r>
            <a:r>
              <a:rPr b="0" sz="1300">
                <a:solidFill>
                  <a:srgbClr val="475569"/>
                </a:solidFill>
                <a:latin typeface="Calibri"/>
              </a:rPr>
              <a:t>Complete pre-trade capital gains tax visibility eliminates investor surprise liabilities.</a:t>
            </a:r>
          </a:p>
          <a:p>
            <a:pPr marL="342900" indent="-228600">
              <a:spcAft>
                <a:spcPts val="600"/>
              </a:spcAft>
              <a:buChar char="•"/>
            </a:pPr>
            <a:r>
              <a:rPr b="1" sz="1300">
                <a:solidFill>
                  <a:srgbClr val="0A192F"/>
                </a:solidFill>
                <a:latin typeface="Calibri"/>
              </a:rPr>
              <a:t>Statutory Alerts: </a:t>
            </a:r>
            <a:r>
              <a:rPr b="0" sz="1300">
                <a:solidFill>
                  <a:srgbClr val="475569"/>
                </a:solidFill>
                <a:latin typeface="Calibri"/>
              </a:rPr>
              <a:t>Proactively alerts clients to quarterly advance tax obligations under Section 208 and 234C.</a:t>
            </a:r>
          </a:p>
          <a:p>
            <a:pPr marL="342900" indent="-228600">
              <a:spcAft>
                <a:spcPts val="600"/>
              </a:spcAft>
              <a:buChar char="•"/>
            </a:pPr>
            <a:r>
              <a:rPr b="1" sz="1300">
                <a:solidFill>
                  <a:srgbClr val="0A192F"/>
                </a:solidFill>
                <a:latin typeface="Calibri"/>
              </a:rPr>
              <a:t>Client Trust: </a:t>
            </a:r>
            <a:r>
              <a:rPr b="0" sz="1300">
                <a:solidFill>
                  <a:srgbClr val="475569"/>
                </a:solidFill>
                <a:latin typeface="Calibri"/>
              </a:rPr>
              <a:t>Elevates advisory relationship from administrative chasing to high-trust strategic planning.</a:t>
            </a:r>
          </a:p>
        </p:txBody>
      </p:sp>
      <p:sp>
        <p:nvSpPr>
          <p:cNvPr id="8" name="Rounded Rectangle 7"/>
          <p:cNvSpPr/>
          <p:nvPr/>
        </p:nvSpPr>
        <p:spPr>
          <a:xfrm>
            <a:off x="8119872" y="1783080"/>
            <a:ext cx="3328416" cy="438912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4464" y="1965960"/>
            <a:ext cx="2999232" cy="4023360"/>
          </a:xfrm>
          <a:prstGeom prst="rect">
            <a:avLst/>
          </a:prstGeom>
          <a:noFill/>
        </p:spPr>
        <p:txBody>
          <a:bodyPr wrap="square">
            <a:spAutoFit/>
          </a:bodyPr>
          <a:lstStyle/>
          <a:p>
            <a:pPr>
              <a:spcAft>
                <a:spcPts val="1000"/>
              </a:spcAft>
              <a:defRPr b="1" sz="1700">
                <a:solidFill>
                  <a:srgbClr val="4F46E5"/>
                </a:solidFill>
              </a:defRPr>
            </a:pPr>
            <a:r>
              <a:t>&lt; 2h Turnaround</a:t>
            </a:r>
          </a:p>
          <a:p>
            <a:pPr marL="342900" indent="-228600">
              <a:spcAft>
                <a:spcPts val="600"/>
              </a:spcAft>
              <a:buChar char="•"/>
            </a:pPr>
            <a:r>
              <a:rPr b="1" sz="1300">
                <a:solidFill>
                  <a:srgbClr val="0A192F"/>
                </a:solidFill>
                <a:latin typeface="Calibri"/>
              </a:rPr>
              <a:t>Mobile Acceleration: </a:t>
            </a:r>
            <a:r>
              <a:rPr b="0" sz="1300">
                <a:solidFill>
                  <a:srgbClr val="475569"/>
                </a:solidFill>
                <a:latin typeface="Calibri"/>
              </a:rPr>
              <a:t>Accelerates client review and consent turnaround to under 2 hours on mobile.</a:t>
            </a:r>
          </a:p>
          <a:p>
            <a:pPr marL="342900" indent="-228600">
              <a:spcAft>
                <a:spcPts val="600"/>
              </a:spcAft>
              <a:buChar char="•"/>
            </a:pPr>
            <a:r>
              <a:rPr b="1" sz="1300">
                <a:solidFill>
                  <a:srgbClr val="0A192F"/>
                </a:solidFill>
                <a:latin typeface="Calibri"/>
              </a:rPr>
              <a:t>Reduced Slippage: </a:t>
            </a:r>
            <a:r>
              <a:rPr b="0" sz="1300">
                <a:solidFill>
                  <a:srgbClr val="475569"/>
                </a:solidFill>
                <a:latin typeface="Calibri"/>
              </a:rPr>
              <a:t>Minimizes market slippage during high-volatility rebalancing windows.</a:t>
            </a:r>
          </a:p>
          <a:p>
            <a:pPr marL="342900" indent="-228600">
              <a:spcAft>
                <a:spcPts val="600"/>
              </a:spcAft>
              <a:buChar char="•"/>
            </a:pPr>
            <a:r>
              <a:rPr b="1" sz="1300">
                <a:solidFill>
                  <a:srgbClr val="0A192F"/>
                </a:solidFill>
                <a:latin typeface="Calibri"/>
              </a:rPr>
              <a:t>Frictionless: </a:t>
            </a:r>
            <a:r>
              <a:rPr b="0" sz="1300">
                <a:solidFill>
                  <a:srgbClr val="475569"/>
                </a:solidFill>
                <a:latin typeface="Calibri"/>
              </a:rPr>
              <a:t>Secure password-protected magic link delivery without requiring app installation.</a:t>
            </a:r>
          </a:p>
        </p:txBody>
      </p:sp>
      <p:sp>
        <p:nvSpPr>
          <p:cNvPr id="10" name="TextBox 9"/>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23 of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THE TRANSFORMATION</a:t>
            </a:r>
          </a:p>
          <a:p>
            <a:pPr>
              <a:spcAft>
                <a:spcPts val="300"/>
              </a:spcAft>
              <a:defRPr sz="3200" b="1">
                <a:solidFill>
                  <a:srgbClr val="0A192F"/>
                </a:solidFill>
                <a:latin typeface="Calibri"/>
              </a:defRPr>
            </a:pPr>
            <a:r>
              <a:t>The Transformation: What Changes for Advisor and Client</a:t>
            </a:r>
          </a:p>
          <a:p>
            <a:pPr>
              <a:defRPr sz="1400">
                <a:solidFill>
                  <a:srgbClr val="475569"/>
                </a:solidFill>
                <a:latin typeface="Calibri"/>
              </a:defRPr>
            </a:pPr>
            <a:r>
              <a:t>Comparing legacy advisory friction with FinConsent's institutional digital rail.</a:t>
            </a:r>
          </a:p>
        </p:txBody>
      </p:sp>
      <p:graphicFrame>
        <p:nvGraphicFramePr>
          <p:cNvPr id="4" name="Table 3"/>
          <p:cNvGraphicFramePr>
            <a:graphicFrameLocks noGrp="1"/>
          </p:cNvGraphicFramePr>
          <p:nvPr/>
        </p:nvGraphicFramePr>
        <p:xfrm>
          <a:off x="731520" y="1783080"/>
          <a:ext cx="10728655" cy="4389120"/>
        </p:xfrm>
        <a:graphic>
          <a:graphicData uri="http://schemas.openxmlformats.org/drawingml/2006/table">
            <a:tbl>
              <a:tblPr firstRow="1" bandRow="1">
                <a:tableStyleId>{5C22544A-7EE6-4342-B048-85BDC9FD1C3A}</a:tableStyleId>
              </a:tblPr>
              <a:tblGrid>
                <a:gridCol w="2560320"/>
                <a:gridCol w="3931920"/>
                <a:gridCol w="4236415"/>
              </a:tblGrid>
              <a:tr h="877824">
                <a:tc>
                  <a:txBody>
                    <a:bodyPr/>
                    <a:lstStyle/>
                    <a:p>
                      <a:pPr>
                        <a:defRPr b="1" sz="1300">
                          <a:solidFill>
                            <a:srgbClr val="FFFFFF"/>
                          </a:solidFill>
                        </a:defRPr>
                      </a:pPr>
                      <a:r>
                        <a:t>Advisory Dimension</a:t>
                      </a:r>
                    </a:p>
                  </a:txBody>
                  <a:tcPr>
                    <a:solidFill>
                      <a:srgbClr val="0A192F"/>
                    </a:solidFill>
                  </a:tcPr>
                </a:tc>
                <a:tc>
                  <a:txBody>
                    <a:bodyPr/>
                    <a:lstStyle/>
                    <a:p>
                      <a:pPr>
                        <a:defRPr b="1" sz="1300">
                          <a:solidFill>
                            <a:srgbClr val="FFFFFF"/>
                          </a:solidFill>
                        </a:defRPr>
                      </a:pPr>
                      <a:r>
                        <a:t>Legacy Process (Informal / Dispersed)</a:t>
                      </a:r>
                    </a:p>
                  </a:txBody>
                  <a:tcPr>
                    <a:solidFill>
                      <a:srgbClr val="0A192F"/>
                    </a:solidFill>
                  </a:tcPr>
                </a:tc>
                <a:tc>
                  <a:txBody>
                    <a:bodyPr/>
                    <a:lstStyle/>
                    <a:p>
                      <a:pPr>
                        <a:defRPr b="1" sz="1300">
                          <a:solidFill>
                            <a:srgbClr val="FFFFFF"/>
                          </a:solidFill>
                        </a:defRPr>
                      </a:pPr>
                      <a:r>
                        <a:t>FinConsent Institutional Rail</a:t>
                      </a:r>
                    </a:p>
                  </a:txBody>
                  <a:tcPr>
                    <a:solidFill>
                      <a:srgbClr val="4F46E5"/>
                    </a:solidFill>
                  </a:tcPr>
                </a:tc>
              </a:tr>
              <a:tr h="877824">
                <a:tc>
                  <a:txBody>
                    <a:bodyPr/>
                    <a:lstStyle/>
                    <a:p>
                      <a:pPr>
                        <a:defRPr sz="1300" b="1">
                          <a:solidFill>
                            <a:srgbClr val="0A192F"/>
                          </a:solidFill>
                        </a:defRPr>
                      </a:pPr>
                      <a:r>
                        <a:t>Trade Authorization</a:t>
                      </a:r>
                    </a:p>
                  </a:txBody>
                  <a:tcPr>
                    <a:solidFill>
                      <a:srgbClr val="F8FAFC"/>
                    </a:solidFill>
                  </a:tcPr>
                </a:tc>
                <a:tc>
                  <a:txBody>
                    <a:bodyPr/>
                    <a:lstStyle/>
                    <a:p>
                      <a:pPr>
                        <a:defRPr sz="1300">
                          <a:solidFill>
                            <a:srgbClr val="E11D48"/>
                          </a:solidFill>
                        </a:defRPr>
                      </a:pPr>
                      <a:r>
                        <a:t>✗ Fragmented WhatsApp texts or email replies; rejected during SEBI inspection.</a:t>
                      </a:r>
                    </a:p>
                  </a:txBody>
                  <a:tcPr>
                    <a:solidFill>
                      <a:srgbClr val="F8FAFC"/>
                    </a:solidFill>
                  </a:tcPr>
                </a:tc>
                <a:tc>
                  <a:txBody>
                    <a:bodyPr/>
                    <a:lstStyle/>
                    <a:p>
                      <a:pPr>
                        <a:defRPr sz="1300" b="1">
                          <a:solidFill>
                            <a:srgbClr val="4F46E5"/>
                          </a:solidFill>
                        </a:defRPr>
                      </a:pPr>
                      <a:r>
                        <a:t>✓ Explicit statutory declarations + 6-digit OTP verification with 48h market window.</a:t>
                      </a:r>
                    </a:p>
                  </a:txBody>
                  <a:tcPr>
                    <a:solidFill>
                      <a:srgbClr val="EEF2FF"/>
                    </a:solidFill>
                  </a:tcPr>
                </a:tc>
              </a:tr>
              <a:tr h="877824">
                <a:tc>
                  <a:txBody>
                    <a:bodyPr/>
                    <a:lstStyle/>
                    <a:p>
                      <a:pPr>
                        <a:defRPr sz="1300" b="1">
                          <a:solidFill>
                            <a:srgbClr val="0A192F"/>
                          </a:solidFill>
                        </a:defRPr>
                      </a:pPr>
                      <a:r>
                        <a:t>Capital Gains Tax</a:t>
                      </a:r>
                    </a:p>
                  </a:txBody>
                  <a:tcPr>
                    <a:solidFill>
                      <a:srgbClr val="F8FAFC"/>
                    </a:solidFill>
                  </a:tcPr>
                </a:tc>
                <a:tc>
                  <a:txBody>
                    <a:bodyPr/>
                    <a:lstStyle/>
                    <a:p>
                      <a:pPr>
                        <a:defRPr sz="1300">
                          <a:solidFill>
                            <a:srgbClr val="E11D48"/>
                          </a:solidFill>
                        </a:defRPr>
                      </a:pPr>
                      <a:r>
                        <a:t>✗ Post-trade surprise tax bill; penal interest under Sections 208 &amp; 234B/C.</a:t>
                      </a:r>
                    </a:p>
                  </a:txBody>
                  <a:tcPr>
                    <a:solidFill>
                      <a:srgbClr val="F8FAFC"/>
                    </a:solidFill>
                  </a:tcPr>
                </a:tc>
                <a:tc>
                  <a:txBody>
                    <a:bodyPr/>
                    <a:lstStyle/>
                    <a:p>
                      <a:pPr>
                        <a:defRPr sz="1300" b="1">
                          <a:solidFill>
                            <a:srgbClr val="4F46E5"/>
                          </a:solidFill>
                        </a:defRPr>
                      </a:pPr>
                      <a:r>
                        <a:t>✓ Pre-trade Finance Act 2024 calculation with quarterly advance tax alert.</a:t>
                      </a:r>
                    </a:p>
                  </a:txBody>
                  <a:tcPr>
                    <a:solidFill>
                      <a:srgbClr val="EEF2FF"/>
                    </a:solidFill>
                  </a:tcPr>
                </a:tc>
              </a:tr>
              <a:tr h="877824">
                <a:tc>
                  <a:txBody>
                    <a:bodyPr/>
                    <a:lstStyle/>
                    <a:p>
                      <a:pPr>
                        <a:defRPr sz="1300" b="1">
                          <a:solidFill>
                            <a:srgbClr val="0A192F"/>
                          </a:solidFill>
                        </a:defRPr>
                      </a:pPr>
                      <a:r>
                        <a:t>Client Security</a:t>
                      </a:r>
                    </a:p>
                  </a:txBody>
                  <a:tcPr>
                    <a:solidFill>
                      <a:srgbClr val="F8FAFC"/>
                    </a:solidFill>
                  </a:tcPr>
                </a:tc>
                <a:tc>
                  <a:txBody>
                    <a:bodyPr/>
                    <a:lstStyle/>
                    <a:p>
                      <a:pPr>
                        <a:defRPr sz="1300">
                          <a:solidFill>
                            <a:srgbClr val="E11D48"/>
                          </a:solidFill>
                        </a:defRPr>
                      </a:pPr>
                      <a:r>
                        <a:t>✗ Confidential trade details sent over plain WhatsApp or email attachments.</a:t>
                      </a:r>
                    </a:p>
                  </a:txBody>
                  <a:tcPr>
                    <a:solidFill>
                      <a:srgbClr val="F8FAFC"/>
                    </a:solidFill>
                  </a:tcPr>
                </a:tc>
                <a:tc>
                  <a:txBody>
                    <a:bodyPr/>
                    <a:lstStyle/>
                    <a:p>
                      <a:pPr>
                        <a:defRPr sz="1300" b="1">
                          <a:solidFill>
                            <a:srgbClr val="4F46E5"/>
                          </a:solidFill>
                        </a:defRPr>
                      </a:pPr>
                      <a:r>
                        <a:t>✓ Dual-envelope AES-256-GCM encryption with PAN+DOB client password gate.</a:t>
                      </a:r>
                    </a:p>
                  </a:txBody>
                  <a:tcPr>
                    <a:solidFill>
                      <a:srgbClr val="EEF2FF"/>
                    </a:solidFill>
                  </a:tcPr>
                </a:tc>
              </a:tr>
              <a:tr h="877824">
                <a:tc>
                  <a:txBody>
                    <a:bodyPr/>
                    <a:lstStyle/>
                    <a:p>
                      <a:pPr>
                        <a:defRPr sz="1300" b="1">
                          <a:solidFill>
                            <a:srgbClr val="0A192F"/>
                          </a:solidFill>
                        </a:defRPr>
                      </a:pPr>
                      <a:r>
                        <a:t>Audit &amp; Legal Trail</a:t>
                      </a:r>
                    </a:p>
                  </a:txBody>
                  <a:tcPr>
                    <a:solidFill>
                      <a:srgbClr val="F8FAFC"/>
                    </a:solidFill>
                  </a:tcPr>
                </a:tc>
                <a:tc>
                  <a:txBody>
                    <a:bodyPr/>
                    <a:lstStyle/>
                    <a:p>
                      <a:pPr>
                        <a:defRPr sz="1300">
                          <a:solidFill>
                            <a:srgbClr val="E11D48"/>
                          </a:solidFill>
                        </a:defRPr>
                      </a:pPr>
                      <a:r>
                        <a:t>✗ Scattered screenshots and PDFs; inadmissible under Section 63 BSA.</a:t>
                      </a:r>
                    </a:p>
                  </a:txBody>
                  <a:tcPr>
                    <a:solidFill>
                      <a:srgbClr val="F8FAFC"/>
                    </a:solidFill>
                  </a:tcPr>
                </a:tc>
                <a:tc>
                  <a:txBody>
                    <a:bodyPr/>
                    <a:lstStyle/>
                    <a:p>
                      <a:pPr>
                        <a:defRPr sz="1300" b="1">
                          <a:solidFill>
                            <a:srgbClr val="4F46E5"/>
                          </a:solidFill>
                        </a:defRPr>
                      </a:pPr>
                      <a:r>
                        <a:t>✓ Append-only forward SHA-256 ledger emitting certified Section 63 BSA compliance dossier.</a:t>
                      </a:r>
                    </a:p>
                  </a:txBody>
                  <a:tcPr>
                    <a:solidFill>
                      <a:srgbClr val="EEF2FF"/>
                    </a:solidFill>
                  </a:tcPr>
                </a:tc>
              </a:tr>
            </a:tbl>
          </a:graphicData>
        </a:graphic>
      </p:graphicFrame>
      <p:sp>
        <p:nvSpPr>
          <p:cNvPr id="5" name="TextBox 4"/>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24 of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4114800"/>
          </a:xfrm>
          <a:prstGeom prst="rect">
            <a:avLst/>
          </a:prstGeom>
          <a:noFill/>
        </p:spPr>
        <p:txBody>
          <a:bodyPr wrap="square">
            <a:spAutoFit/>
          </a:bodyPr>
          <a:lstStyle/>
          <a:p>
            <a:pPr>
              <a:spcAft>
                <a:spcPts val="1200"/>
              </a:spcAft>
              <a:defRPr b="1" sz="1200">
                <a:solidFill>
                  <a:srgbClr val="A5B4FC"/>
                </a:solidFill>
              </a:defRPr>
            </a:pPr>
            <a:r>
              <a:t>SECTION II • ARCHITECTURAL &amp; STATUTORY SPECIFICATIONS</a:t>
            </a:r>
          </a:p>
          <a:p>
            <a:pPr>
              <a:spcAft>
                <a:spcPts val="1600"/>
              </a:spcAft>
              <a:defRPr b="1" sz="4000">
                <a:solidFill>
                  <a:srgbClr val="FFFFFF"/>
                </a:solidFill>
              </a:defRPr>
            </a:pPr>
            <a:r>
              <a:t>Technical &amp; Regulatory Appendices</a:t>
            </a:r>
          </a:p>
          <a:p>
            <a:pPr>
              <a:spcAft>
                <a:spcPts val="3200"/>
              </a:spcAft>
              <a:defRPr sz="1600">
                <a:solidFill>
                  <a:srgbClr val="E2E8F0"/>
                </a:solidFill>
              </a:defRPr>
            </a:pPr>
            <a:r>
              <a:t>Comprehensive formal specifications, mathematical invariants, access control matrices, and evidentiary frameworks supporting FinConsent's compliance architecture.</a:t>
            </a:r>
          </a:p>
        </p:txBody>
      </p:sp>
      <p:sp>
        <p:nvSpPr>
          <p:cNvPr id="4" name="Rounded Rectangle 3"/>
          <p:cNvSpPr/>
          <p:nvPr/>
        </p:nvSpPr>
        <p:spPr>
          <a:xfrm>
            <a:off x="731520" y="4389120"/>
            <a:ext cx="2468880" cy="164592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4480560"/>
            <a:ext cx="2249424" cy="1463040"/>
          </a:xfrm>
          <a:prstGeom prst="rect">
            <a:avLst/>
          </a:prstGeom>
          <a:noFill/>
        </p:spPr>
        <p:txBody>
          <a:bodyPr wrap="square">
            <a:spAutoFit/>
          </a:bodyPr>
          <a:lstStyle/>
          <a:p>
            <a:pPr>
              <a:spcAft>
                <a:spcPts val="400"/>
              </a:spcAft>
              <a:defRPr b="1" sz="1250">
                <a:solidFill>
                  <a:srgbClr val="A5B4FC"/>
                </a:solidFill>
              </a:defRPr>
            </a:pPr>
            <a:r>
              <a:t>Appendix A: Cryptography</a:t>
            </a:r>
          </a:p>
          <a:p>
            <a:pPr>
              <a:defRPr sz="1100">
                <a:solidFill>
                  <a:srgbClr val="CBD5E1"/>
                </a:solidFill>
              </a:defRPr>
            </a:pPr>
            <a:r>
              <a:t>AES-256-GCM, 100k-round PBKDF2 &amp; dual-envelope key wrapping specifications.</a:t>
            </a:r>
          </a:p>
        </p:txBody>
      </p:sp>
      <p:sp>
        <p:nvSpPr>
          <p:cNvPr id="6" name="Rounded Rectangle 5"/>
          <p:cNvSpPr/>
          <p:nvPr/>
        </p:nvSpPr>
        <p:spPr>
          <a:xfrm>
            <a:off x="3474720" y="4389120"/>
            <a:ext cx="2468880" cy="164592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84448" y="4480560"/>
            <a:ext cx="2249424" cy="1463040"/>
          </a:xfrm>
          <a:prstGeom prst="rect">
            <a:avLst/>
          </a:prstGeom>
          <a:noFill/>
        </p:spPr>
        <p:txBody>
          <a:bodyPr wrap="square">
            <a:spAutoFit/>
          </a:bodyPr>
          <a:lstStyle/>
          <a:p>
            <a:pPr>
              <a:spcAft>
                <a:spcPts val="400"/>
              </a:spcAft>
              <a:defRPr b="1" sz="1250">
                <a:solidFill>
                  <a:srgbClr val="A5B4FC"/>
                </a:solidFill>
              </a:defRPr>
            </a:pPr>
            <a:r>
              <a:t>Appendix B: Access Matrix</a:t>
            </a:r>
          </a:p>
          <a:p>
            <a:pPr>
              <a:defRPr sz="1100">
                <a:solidFill>
                  <a:srgbClr val="CBD5E1"/>
                </a:solidFill>
              </a:defRPr>
            </a:pPr>
            <a:r>
              <a:t>Granular API route permissions and firm tenancy scoping invariants across roles.</a:t>
            </a:r>
          </a:p>
        </p:txBody>
      </p:sp>
      <p:sp>
        <p:nvSpPr>
          <p:cNvPr id="8" name="Rounded Rectangle 7"/>
          <p:cNvSpPr/>
          <p:nvPr/>
        </p:nvSpPr>
        <p:spPr>
          <a:xfrm>
            <a:off x="6217920" y="4389120"/>
            <a:ext cx="2468880" cy="164592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7648" y="4480560"/>
            <a:ext cx="2249424" cy="1463040"/>
          </a:xfrm>
          <a:prstGeom prst="rect">
            <a:avLst/>
          </a:prstGeom>
          <a:noFill/>
        </p:spPr>
        <p:txBody>
          <a:bodyPr wrap="square">
            <a:spAutoFit/>
          </a:bodyPr>
          <a:lstStyle/>
          <a:p>
            <a:pPr>
              <a:spcAft>
                <a:spcPts val="400"/>
              </a:spcAft>
              <a:defRPr b="1" sz="1250">
                <a:solidFill>
                  <a:srgbClr val="A5B4FC"/>
                </a:solidFill>
              </a:defRPr>
            </a:pPr>
            <a:r>
              <a:t>Appendix C: BSA §63 Ledger</a:t>
            </a:r>
          </a:p>
          <a:p>
            <a:pPr>
              <a:defRPr sz="1100">
                <a:solidFill>
                  <a:srgbClr val="CBD5E1"/>
                </a:solidFill>
              </a:defRPr>
            </a:pPr>
            <a:r>
              <a:t>Mandatory electronic evidence attributes, hash chaining schema &amp; court admissibility.</a:t>
            </a:r>
          </a:p>
        </p:txBody>
      </p:sp>
      <p:sp>
        <p:nvSpPr>
          <p:cNvPr id="10" name="Rounded Rectangle 9"/>
          <p:cNvSpPr/>
          <p:nvPr/>
        </p:nvSpPr>
        <p:spPr>
          <a:xfrm>
            <a:off x="8961120" y="4389120"/>
            <a:ext cx="2468880" cy="164592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4480560"/>
            <a:ext cx="2249424" cy="1463040"/>
          </a:xfrm>
          <a:prstGeom prst="rect">
            <a:avLst/>
          </a:prstGeom>
          <a:noFill/>
        </p:spPr>
        <p:txBody>
          <a:bodyPr wrap="square">
            <a:spAutoFit/>
          </a:bodyPr>
          <a:lstStyle/>
          <a:p>
            <a:pPr>
              <a:spcAft>
                <a:spcPts val="400"/>
              </a:spcAft>
              <a:defRPr b="1" sz="1250">
                <a:solidFill>
                  <a:srgbClr val="A5B4FC"/>
                </a:solidFill>
              </a:defRPr>
            </a:pPr>
            <a:r>
              <a:t>Appendix D: Operational Scope</a:t>
            </a:r>
          </a:p>
          <a:p>
            <a:pPr>
              <a:defRPr sz="1100">
                <a:solidFill>
                  <a:srgbClr val="CBD5E1"/>
                </a:solidFill>
              </a:defRPr>
            </a:pPr>
            <a:r>
              <a:t>Strict demarcation of implemented production state vs future product roadmap.</a:t>
            </a:r>
          </a:p>
        </p:txBody>
      </p:sp>
      <p:sp>
        <p:nvSpPr>
          <p:cNvPr id="12" name="TextBox 11"/>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25 of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APPENDIX A</a:t>
            </a:r>
          </a:p>
          <a:p>
            <a:pPr>
              <a:spcAft>
                <a:spcPts val="300"/>
              </a:spcAft>
              <a:defRPr sz="3200" b="1">
                <a:solidFill>
                  <a:srgbClr val="0A192F"/>
                </a:solidFill>
                <a:latin typeface="Calibri"/>
              </a:defRPr>
            </a:pPr>
            <a:r>
              <a:t>Technical Deep-Dive: Cryptographic Invariants &amp; Key Derivation</a:t>
            </a:r>
          </a:p>
          <a:p>
            <a:pPr>
              <a:defRPr sz="1400">
                <a:solidFill>
                  <a:srgbClr val="475569"/>
                </a:solidFill>
                <a:latin typeface="Calibri"/>
              </a:defRPr>
            </a:pPr>
            <a:r>
              <a:t>Formal mathematical specifications for envelope encryption and PBKDF2 KDF.</a:t>
            </a:r>
          </a:p>
        </p:txBody>
      </p:sp>
      <p:sp>
        <p:nvSpPr>
          <p:cNvPr id="4" name="Rounded Rectangle 3"/>
          <p:cNvSpPr/>
          <p:nvPr/>
        </p:nvSpPr>
        <p:spPr>
          <a:xfrm>
            <a:off x="731520" y="1783080"/>
            <a:ext cx="10728655"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10241280" cy="4023360"/>
          </a:xfrm>
          <a:prstGeom prst="rect">
            <a:avLst/>
          </a:prstGeom>
          <a:noFill/>
        </p:spPr>
        <p:txBody>
          <a:bodyPr wrap="square">
            <a:spAutoFit/>
          </a:bodyPr>
          <a:lstStyle/>
          <a:p>
            <a:pPr>
              <a:spcAft>
                <a:spcPts val="1000"/>
              </a:spcAft>
              <a:defRPr b="1" sz="1600">
                <a:solidFill>
                  <a:srgbClr val="0A192F"/>
                </a:solidFill>
              </a:defRPr>
            </a:pPr>
            <a:r>
              <a:t>Cryptographic Implementation Specifications</a:t>
            </a:r>
          </a:p>
          <a:p>
            <a:pPr marL="342900" indent="-228600">
              <a:spcAft>
                <a:spcPts val="600"/>
              </a:spcAft>
              <a:buChar char="•"/>
            </a:pPr>
            <a:r>
              <a:rPr b="1" sz="1350">
                <a:solidFill>
                  <a:srgbClr val="0A192F"/>
                </a:solidFill>
                <a:latin typeface="Calibri"/>
              </a:rPr>
              <a:t>Symmetric Cipher: </a:t>
            </a:r>
            <a:r>
              <a:rPr b="0" sz="1350">
                <a:solidFill>
                  <a:srgbClr val="475569"/>
                </a:solidFill>
                <a:latin typeface="Calibri"/>
              </a:rPr>
              <a:t>AES-256-GCM (Galois/Counter Mode) with 12-byte random IV and 16-byte authentication tag ensuring anti-tampering.</a:t>
            </a:r>
          </a:p>
          <a:p>
            <a:pPr marL="342900" indent="-228600">
              <a:spcAft>
                <a:spcPts val="600"/>
              </a:spcAft>
              <a:buChar char="•"/>
            </a:pPr>
            <a:r>
              <a:rPr b="1" sz="1350">
                <a:solidFill>
                  <a:srgbClr val="0A192F"/>
                </a:solidFill>
                <a:latin typeface="Calibri"/>
              </a:rPr>
              <a:t>Key Derivation Function: </a:t>
            </a:r>
            <a:r>
              <a:rPr b="0" sz="1350">
                <a:solidFill>
                  <a:srgbClr val="475569"/>
                </a:solidFill>
                <a:latin typeface="Calibri"/>
              </a:rPr>
              <a:t>PBKDF2 with SHA-256 digest, 100,000 rounds in production (1,000 in test mode), and 16-byte random salt.</a:t>
            </a:r>
          </a:p>
          <a:p>
            <a:pPr marL="342900" indent="-228600">
              <a:spcAft>
                <a:spcPts val="600"/>
              </a:spcAft>
              <a:buChar char="•"/>
            </a:pPr>
            <a:r>
              <a:rPr b="1" sz="1350">
                <a:solidFill>
                  <a:srgbClr val="0A192F"/>
                </a:solidFill>
                <a:latin typeface="Calibri"/>
              </a:rPr>
              <a:t>Key Derivation Input: </a:t>
            </a:r>
            <a:r>
              <a:rPr b="0" sz="1350">
                <a:solidFill>
                  <a:srgbClr val="475569"/>
                </a:solidFill>
                <a:latin typeface="Calibri"/>
              </a:rPr>
              <a:t>Normalized string concatenation of PAN last 4 digits + DOB in DDMMYYYY format (e.g. '123414081978').</a:t>
            </a:r>
          </a:p>
          <a:p>
            <a:pPr marL="342900" indent="-228600">
              <a:spcAft>
                <a:spcPts val="600"/>
              </a:spcAft>
              <a:buChar char="•"/>
            </a:pPr>
            <a:r>
              <a:rPr b="1" sz="1350">
                <a:solidFill>
                  <a:srgbClr val="0A192F"/>
                </a:solidFill>
                <a:latin typeface="Calibri"/>
              </a:rPr>
              <a:t>Dual Wrapping Invariant: </a:t>
            </a:r>
            <a:r>
              <a:rPr b="0" sz="1350">
                <a:solidFill>
                  <a:srgbClr val="475569"/>
                </a:solidFill>
                <a:latin typeface="Calibri"/>
              </a:rPr>
              <a:t>Server DEK wrapped with isolated SERVER_MASTER_KEY; Client DEK wrapped with Client Derived Key.</a:t>
            </a:r>
          </a:p>
          <a:p>
            <a:pPr marL="342900" indent="-228600">
              <a:spcAft>
                <a:spcPts val="600"/>
              </a:spcAft>
              <a:buChar char="•"/>
            </a:pPr>
            <a:r>
              <a:rPr b="1" sz="1350">
                <a:solidFill>
                  <a:srgbClr val="0A192F"/>
                </a:solidFill>
                <a:latin typeface="Calibri"/>
              </a:rPr>
              <a:t>Zero Secret Storage: </a:t>
            </a:r>
            <a:r>
              <a:rPr b="0" sz="1350">
                <a:solidFill>
                  <a:srgbClr val="475569"/>
                </a:solidFill>
                <a:latin typeface="Calibri"/>
              </a:rPr>
              <a:t>The database never persists client plaintext passwords, unencrypted DEKs, or plaintext magic tokens.</a:t>
            </a:r>
          </a:p>
        </p:txBody>
      </p:sp>
      <p:sp>
        <p:nvSpPr>
          <p:cNvPr id="6" name="TextBox 5"/>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26 of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APPENDIX B</a:t>
            </a:r>
          </a:p>
          <a:p>
            <a:pPr>
              <a:spcAft>
                <a:spcPts val="300"/>
              </a:spcAft>
              <a:defRPr sz="3200" b="1">
                <a:solidFill>
                  <a:srgbClr val="0A192F"/>
                </a:solidFill>
                <a:latin typeface="Calibri"/>
              </a:defRPr>
            </a:pPr>
            <a:r>
              <a:t>Role-Based Authorization Matrix (RBAC)</a:t>
            </a:r>
          </a:p>
          <a:p>
            <a:pPr>
              <a:defRPr sz="1400">
                <a:solidFill>
                  <a:srgbClr val="475569"/>
                </a:solidFill>
                <a:latin typeface="Calibri"/>
              </a:defRPr>
            </a:pPr>
            <a:r>
              <a:t>Detailed API permission matrix with monospaced endpoints and coloured permission chips.</a:t>
            </a:r>
          </a:p>
        </p:txBody>
      </p:sp>
      <p:graphicFrame>
        <p:nvGraphicFramePr>
          <p:cNvPr id="4" name="Table 3"/>
          <p:cNvGraphicFramePr>
            <a:graphicFrameLocks noGrp="1"/>
          </p:cNvGraphicFramePr>
          <p:nvPr/>
        </p:nvGraphicFramePr>
        <p:xfrm>
          <a:off x="731520" y="1783080"/>
          <a:ext cx="10728655" cy="4389120"/>
        </p:xfrm>
        <a:graphic>
          <a:graphicData uri="http://schemas.openxmlformats.org/drawingml/2006/table">
            <a:tbl>
              <a:tblPr firstRow="1" bandRow="1">
                <a:tableStyleId>{5C22544A-7EE6-4342-B048-85BDC9FD1C3A}</a:tableStyleId>
              </a:tblPr>
              <a:tblGrid>
                <a:gridCol w="2926080"/>
                <a:gridCol w="2560320"/>
                <a:gridCol w="2560320"/>
                <a:gridCol w="2681935"/>
              </a:tblGrid>
              <a:tr h="731520">
                <a:tc>
                  <a:txBody>
                    <a:bodyPr/>
                    <a:lstStyle/>
                    <a:p>
                      <a:pPr>
                        <a:defRPr b="1" sz="1200">
                          <a:solidFill>
                            <a:srgbClr val="FFFFFF"/>
                          </a:solidFill>
                        </a:defRPr>
                      </a:pPr>
                      <a:r>
                        <a:t>API Route / Resource</a:t>
                      </a:r>
                    </a:p>
                  </a:txBody>
                  <a:tcPr>
                    <a:solidFill>
                      <a:srgbClr val="0A192F"/>
                    </a:solidFill>
                  </a:tcPr>
                </a:tc>
                <a:tc>
                  <a:txBody>
                    <a:bodyPr/>
                    <a:lstStyle/>
                    <a:p>
                      <a:pPr>
                        <a:defRPr b="1" sz="1200">
                          <a:solidFill>
                            <a:srgbClr val="FFFFFF"/>
                          </a:solidFill>
                        </a:defRPr>
                      </a:pPr>
                      <a:r>
                        <a:t>RIA (sebi-ria)</a:t>
                      </a:r>
                    </a:p>
                  </a:txBody>
                  <a:tcPr>
                    <a:solidFill>
                      <a:srgbClr val="0A192F"/>
                    </a:solidFill>
                  </a:tcPr>
                </a:tc>
                <a:tc>
                  <a:txBody>
                    <a:bodyPr/>
                    <a:lstStyle/>
                    <a:p>
                      <a:pPr>
                        <a:defRPr b="1" sz="1200">
                          <a:solidFill>
                            <a:srgbClr val="FFFFFF"/>
                          </a:solidFill>
                        </a:defRPr>
                      </a:pPr>
                      <a:r>
                        <a:t>Client (hni-client)</a:t>
                      </a:r>
                    </a:p>
                  </a:txBody>
                  <a:tcPr>
                    <a:solidFill>
                      <a:srgbClr val="0A192F"/>
                    </a:solidFill>
                  </a:tcPr>
                </a:tc>
                <a:tc>
                  <a:txBody>
                    <a:bodyPr/>
                    <a:lstStyle/>
                    <a:p>
                      <a:pPr>
                        <a:defRPr b="1" sz="1200">
                          <a:solidFill>
                            <a:srgbClr val="FFFFFF"/>
                          </a:solidFill>
                        </a:defRPr>
                      </a:pPr>
                      <a:r>
                        <a:t>Compliance Officer</a:t>
                      </a:r>
                    </a:p>
                  </a:txBody>
                  <a:tcPr>
                    <a:solidFill>
                      <a:srgbClr val="0A192F"/>
                    </a:solidFill>
                  </a:tcPr>
                </a:tc>
              </a:tr>
              <a:tr h="731520">
                <a:tc>
                  <a:txBody>
                    <a:bodyPr/>
                    <a:lstStyle/>
                    <a:p>
                      <a:pPr>
                        <a:defRPr sz="1200">
                          <a:solidFill>
                            <a:srgbClr val="0A192F"/>
                          </a:solidFill>
                          <a:latin typeface="Consolas"/>
                        </a:defRPr>
                      </a:pPr>
                      <a:r>
                        <a:t>/api/mandates (POST / Create)</a:t>
                      </a:r>
                    </a:p>
                  </a:txBody>
                  <a:tcPr/>
                </a:tc>
                <a:tc>
                  <a:txBody>
                    <a:bodyPr/>
                    <a:lstStyle/>
                    <a:p>
                      <a:pPr>
                        <a:defRPr sz="1200" b="1">
                          <a:solidFill>
                            <a:srgbClr val="059669"/>
                          </a:solidFill>
                        </a:defRPr>
                      </a:pPr>
                      <a:r>
                        <a:t>ALLOWED (Scoped to firm)</a:t>
                      </a:r>
                    </a:p>
                  </a:txBody>
                  <a:tcPr>
                    <a:solidFill>
                      <a:srgbClr val="ECFDF5"/>
                    </a:solidFill>
                  </a:tcPr>
                </a:tc>
                <a:tc>
                  <a:txBody>
                    <a:bodyPr/>
                    <a:lstStyle/>
                    <a:p>
                      <a:pPr>
                        <a:defRPr sz="1200" b="1">
                          <a:solidFill>
                            <a:srgbClr val="E11D48"/>
                          </a:solidFill>
                        </a:defRPr>
                      </a:pPr>
                      <a:r>
                        <a:t>FORBIDDEN (HTTP 403)</a:t>
                      </a:r>
                    </a:p>
                  </a:txBody>
                  <a:tcPr>
                    <a:solidFill>
                      <a:srgbClr val="FEE2E2"/>
                    </a:solidFill>
                  </a:tcPr>
                </a:tc>
                <a:tc>
                  <a:txBody>
                    <a:bodyPr/>
                    <a:lstStyle/>
                    <a:p>
                      <a:pPr>
                        <a:defRPr sz="1200" b="1">
                          <a:solidFill>
                            <a:srgbClr val="E11D48"/>
                          </a:solidFill>
                        </a:defRPr>
                      </a:pPr>
                      <a:r>
                        <a:t>FORBIDDEN (Read-only)</a:t>
                      </a:r>
                    </a:p>
                  </a:txBody>
                  <a:tcPr>
                    <a:solidFill>
                      <a:srgbClr val="FEE2E2"/>
                    </a:solidFill>
                  </a:tcPr>
                </a:tc>
              </a:tr>
              <a:tr h="731520">
                <a:tc>
                  <a:txBody>
                    <a:bodyPr/>
                    <a:lstStyle/>
                    <a:p>
                      <a:pPr>
                        <a:defRPr sz="1200">
                          <a:solidFill>
                            <a:srgbClr val="0A192F"/>
                          </a:solidFill>
                          <a:latin typeface="Consolas"/>
                        </a:defRPr>
                      </a:pPr>
                      <a:r>
                        <a:t>/api/mandates/:id/dispatch</a:t>
                      </a:r>
                    </a:p>
                  </a:txBody>
                  <a:tcPr/>
                </a:tc>
                <a:tc>
                  <a:txBody>
                    <a:bodyPr/>
                    <a:lstStyle/>
                    <a:p>
                      <a:pPr>
                        <a:defRPr sz="1200" b="1">
                          <a:solidFill>
                            <a:srgbClr val="059669"/>
                          </a:solidFill>
                        </a:defRPr>
                      </a:pPr>
                      <a:r>
                        <a:t>ALLOWED (Own mandates only)</a:t>
                      </a:r>
                    </a:p>
                  </a:txBody>
                  <a:tcPr>
                    <a:solidFill>
                      <a:srgbClr val="ECFDF5"/>
                    </a:solidFill>
                  </a:tcPr>
                </a:tc>
                <a:tc>
                  <a:txBody>
                    <a:bodyPr/>
                    <a:lstStyle/>
                    <a:p>
                      <a:pPr>
                        <a:defRPr sz="1200" b="1">
                          <a:solidFill>
                            <a:srgbClr val="E11D48"/>
                          </a:solidFill>
                        </a:defRPr>
                      </a:pPr>
                      <a:r>
                        <a:t>FORBIDDEN (HTTP 403)</a:t>
                      </a:r>
                    </a:p>
                  </a:txBody>
                  <a:tcPr>
                    <a:solidFill>
                      <a:srgbClr val="FEE2E2"/>
                    </a:solidFill>
                  </a:tcPr>
                </a:tc>
                <a:tc>
                  <a:txBody>
                    <a:bodyPr/>
                    <a:lstStyle/>
                    <a:p>
                      <a:pPr>
                        <a:defRPr sz="1200" b="1">
                          <a:solidFill>
                            <a:srgbClr val="E11D48"/>
                          </a:solidFill>
                        </a:defRPr>
                      </a:pPr>
                      <a:r>
                        <a:t>FORBIDDEN (Read-only)</a:t>
                      </a:r>
                    </a:p>
                  </a:txBody>
                  <a:tcPr>
                    <a:solidFill>
                      <a:srgbClr val="FEE2E2"/>
                    </a:solidFill>
                  </a:tcPr>
                </a:tc>
              </a:tr>
              <a:tr h="731520">
                <a:tc>
                  <a:txBody>
                    <a:bodyPr/>
                    <a:lstStyle/>
                    <a:p>
                      <a:pPr>
                        <a:defRPr sz="1200">
                          <a:solidFill>
                            <a:srgbClr val="0A192F"/>
                          </a:solidFill>
                          <a:latin typeface="Consolas"/>
                        </a:defRPr>
                      </a:pPr>
                      <a:r>
                        <a:t>/api/public/mandates/:t/unlock</a:t>
                      </a:r>
                    </a:p>
                  </a:txBody>
                  <a:tcPr/>
                </a:tc>
                <a:tc>
                  <a:txBody>
                    <a:bodyPr/>
                    <a:lstStyle/>
                    <a:p>
                      <a:pPr>
                        <a:defRPr sz="1200">
                          <a:solidFill>
                            <a:srgbClr val="475569"/>
                          </a:solidFill>
                        </a:defRPr>
                      </a:pPr>
                      <a:r>
                        <a:t>N/A (Uses dashboard)</a:t>
                      </a:r>
                    </a:p>
                  </a:txBody>
                  <a:tcPr>
                    <a:solidFill>
                      <a:srgbClr val="F8FAFC"/>
                    </a:solidFill>
                  </a:tcPr>
                </a:tc>
                <a:tc>
                  <a:txBody>
                    <a:bodyPr/>
                    <a:lstStyle/>
                    <a:p>
                      <a:pPr>
                        <a:defRPr sz="1200" b="1">
                          <a:solidFill>
                            <a:srgbClr val="059669"/>
                          </a:solidFill>
                        </a:defRPr>
                      </a:pPr>
                      <a:r>
                        <a:t>ALLOWED (Valid password)</a:t>
                      </a:r>
                    </a:p>
                  </a:txBody>
                  <a:tcPr>
                    <a:solidFill>
                      <a:srgbClr val="ECFDF5"/>
                    </a:solidFill>
                  </a:tcPr>
                </a:tc>
                <a:tc>
                  <a:txBody>
                    <a:bodyPr/>
                    <a:lstStyle/>
                    <a:p>
                      <a:pPr>
                        <a:defRPr sz="1200">
                          <a:solidFill>
                            <a:srgbClr val="475569"/>
                          </a:solidFill>
                        </a:defRPr>
                      </a:pPr>
                      <a:r>
                        <a:t>N/A (Uses compliance hub)</a:t>
                      </a:r>
                    </a:p>
                  </a:txBody>
                  <a:tcPr>
                    <a:solidFill>
                      <a:srgbClr val="F8FAFC"/>
                    </a:solidFill>
                  </a:tcPr>
                </a:tc>
              </a:tr>
              <a:tr h="731520">
                <a:tc>
                  <a:txBody>
                    <a:bodyPr/>
                    <a:lstStyle/>
                    <a:p>
                      <a:pPr>
                        <a:defRPr sz="1200">
                          <a:solidFill>
                            <a:srgbClr val="0A192F"/>
                          </a:solidFill>
                          <a:latin typeface="Consolas"/>
                        </a:defRPr>
                      </a:pPr>
                      <a:r>
                        <a:t>/api/public/mandates/:t/verify-otp</a:t>
                      </a:r>
                    </a:p>
                  </a:txBody>
                  <a:tcPr/>
                </a:tc>
                <a:tc>
                  <a:txBody>
                    <a:bodyPr/>
                    <a:lstStyle/>
                    <a:p>
                      <a:pPr>
                        <a:defRPr sz="1200" b="1">
                          <a:solidFill>
                            <a:srgbClr val="E11D48"/>
                          </a:solidFill>
                        </a:defRPr>
                      </a:pPr>
                      <a:r>
                        <a:t>FORBIDDEN (HTTP 403)</a:t>
                      </a:r>
                    </a:p>
                  </a:txBody>
                  <a:tcPr>
                    <a:solidFill>
                      <a:srgbClr val="FEE2E2"/>
                    </a:solidFill>
                  </a:tcPr>
                </a:tc>
                <a:tc>
                  <a:txBody>
                    <a:bodyPr/>
                    <a:lstStyle/>
                    <a:p>
                      <a:pPr>
                        <a:defRPr sz="1200" b="1">
                          <a:solidFill>
                            <a:srgbClr val="059669"/>
                          </a:solidFill>
                        </a:defRPr>
                      </a:pPr>
                      <a:r>
                        <a:t>ALLOWED (Valid 6-digit OTP)</a:t>
                      </a:r>
                    </a:p>
                  </a:txBody>
                  <a:tcPr>
                    <a:solidFill>
                      <a:srgbClr val="ECFDF5"/>
                    </a:solidFill>
                  </a:tcPr>
                </a:tc>
                <a:tc>
                  <a:txBody>
                    <a:bodyPr/>
                    <a:lstStyle/>
                    <a:p>
                      <a:pPr>
                        <a:defRPr sz="1200" b="1">
                          <a:solidFill>
                            <a:srgbClr val="E11D48"/>
                          </a:solidFill>
                        </a:defRPr>
                      </a:pPr>
                      <a:r>
                        <a:t>FORBIDDEN (HTTP 403)</a:t>
                      </a:r>
                    </a:p>
                  </a:txBody>
                  <a:tcPr>
                    <a:solidFill>
                      <a:srgbClr val="FEE2E2"/>
                    </a:solidFill>
                  </a:tcPr>
                </a:tc>
              </a:tr>
              <a:tr h="731520">
                <a:tc>
                  <a:txBody>
                    <a:bodyPr/>
                    <a:lstStyle/>
                    <a:p>
                      <a:pPr>
                        <a:defRPr sz="1200">
                          <a:solidFill>
                            <a:srgbClr val="0A192F"/>
                          </a:solidFill>
                          <a:latin typeface="Consolas"/>
                        </a:defRPr>
                      </a:pPr>
                      <a:r>
                        <a:t>/api/requests (Scrutiny Hub)</a:t>
                      </a:r>
                    </a:p>
                  </a:txBody>
                  <a:tcPr/>
                </a:tc>
                <a:tc>
                  <a:txBody>
                    <a:bodyPr/>
                    <a:lstStyle/>
                    <a:p>
                      <a:pPr>
                        <a:defRPr sz="1200" b="1">
                          <a:solidFill>
                            <a:srgbClr val="059669"/>
                          </a:solidFill>
                        </a:defRPr>
                      </a:pPr>
                      <a:r>
                        <a:t>ALLOWED (Submit requests)</a:t>
                      </a:r>
                    </a:p>
                  </a:txBody>
                  <a:tcPr>
                    <a:solidFill>
                      <a:srgbClr val="ECFDF5"/>
                    </a:solidFill>
                  </a:tcPr>
                </a:tc>
                <a:tc>
                  <a:txBody>
                    <a:bodyPr/>
                    <a:lstStyle/>
                    <a:p>
                      <a:pPr>
                        <a:defRPr sz="1200" b="1">
                          <a:solidFill>
                            <a:srgbClr val="059669"/>
                          </a:solidFill>
                        </a:defRPr>
                      </a:pPr>
                      <a:r>
                        <a:t>ALLOWED (View own requests)</a:t>
                      </a:r>
                    </a:p>
                  </a:txBody>
                  <a:tcPr>
                    <a:solidFill>
                      <a:srgbClr val="ECFDF5"/>
                    </a:solidFill>
                  </a:tcPr>
                </a:tc>
                <a:tc>
                  <a:txBody>
                    <a:bodyPr/>
                    <a:lstStyle/>
                    <a:p>
                      <a:pPr>
                        <a:defRPr sz="1200" b="1">
                          <a:solidFill>
                            <a:srgbClr val="059669"/>
                          </a:solidFill>
                        </a:defRPr>
                      </a:pPr>
                      <a:r>
                        <a:t>ALLOWED (Full Adjudication)</a:t>
                      </a:r>
                    </a:p>
                  </a:txBody>
                  <a:tcPr>
                    <a:solidFill>
                      <a:srgbClr val="ECFDF5"/>
                    </a:solidFill>
                  </a:tcPr>
                </a:tc>
              </a:tr>
            </a:tbl>
          </a:graphicData>
        </a:graphic>
      </p:graphicFrame>
      <p:sp>
        <p:nvSpPr>
          <p:cNvPr id="5" name="TextBox 4"/>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27 of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APPENDIX C</a:t>
            </a:r>
          </a:p>
          <a:p>
            <a:pPr>
              <a:spcAft>
                <a:spcPts val="300"/>
              </a:spcAft>
              <a:defRPr sz="3200" b="1">
                <a:solidFill>
                  <a:srgbClr val="0A192F"/>
                </a:solidFill>
                <a:latin typeface="Calibri"/>
              </a:defRPr>
            </a:pPr>
            <a:r>
              <a:t>Audit Schema &amp; Section 63 BSA Admissibility</a:t>
            </a:r>
          </a:p>
          <a:p>
            <a:pPr>
              <a:defRPr sz="1400">
                <a:solidFill>
                  <a:srgbClr val="475569"/>
                </a:solidFill>
                <a:latin typeface="Calibri"/>
              </a:defRPr>
            </a:pPr>
            <a:r>
              <a:t>Evidentiary record structures required by Indian legal standards.</a:t>
            </a:r>
          </a:p>
        </p:txBody>
      </p:sp>
      <p:sp>
        <p:nvSpPr>
          <p:cNvPr id="4" name="Rounded Rectangle 3"/>
          <p:cNvSpPr/>
          <p:nvPr/>
        </p:nvSpPr>
        <p:spPr>
          <a:xfrm>
            <a:off x="731520" y="1783080"/>
            <a:ext cx="10728655"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10241280" cy="4023360"/>
          </a:xfrm>
          <a:prstGeom prst="rect">
            <a:avLst/>
          </a:prstGeom>
          <a:noFill/>
        </p:spPr>
        <p:txBody>
          <a:bodyPr wrap="square">
            <a:spAutoFit/>
          </a:bodyPr>
          <a:lstStyle/>
          <a:p>
            <a:pPr>
              <a:spcAft>
                <a:spcPts val="1000"/>
              </a:spcAft>
              <a:defRPr b="1" sz="1600">
                <a:solidFill>
                  <a:srgbClr val="0A192F"/>
                </a:solidFill>
              </a:defRPr>
            </a:pPr>
            <a:r>
              <a:t>Section 63 BSA Mandatory Evidentiary Attributions</a:t>
            </a:r>
          </a:p>
          <a:p>
            <a:pPr marL="342900" indent="-228600">
              <a:spcAft>
                <a:spcPts val="600"/>
              </a:spcAft>
              <a:buChar char="•"/>
            </a:pPr>
            <a:r>
              <a:rPr b="1" sz="1350">
                <a:solidFill>
                  <a:srgbClr val="0A192F"/>
                </a:solidFill>
                <a:latin typeface="Calibri"/>
              </a:rPr>
              <a:t>1. Origin Identification: </a:t>
            </a:r>
            <a:r>
              <a:rPr b="0" sz="1350">
                <a:solidFill>
                  <a:srgbClr val="475569"/>
                </a:solidFill>
                <a:latin typeface="Calibri"/>
              </a:rPr>
              <a:t>Client IP Address (RFC 5737 203.0.113.12) and browser User-Agent recorded at execution time.</a:t>
            </a:r>
          </a:p>
          <a:p>
            <a:pPr marL="342900" indent="-228600">
              <a:spcAft>
                <a:spcPts val="600"/>
              </a:spcAft>
              <a:buChar char="•"/>
            </a:pPr>
            <a:r>
              <a:rPr b="1" sz="1350">
                <a:solidFill>
                  <a:srgbClr val="0A192F"/>
                </a:solidFill>
                <a:latin typeface="Calibri"/>
              </a:rPr>
              <a:t>2. Synchronized Timestamp: </a:t>
            </a:r>
            <a:r>
              <a:rPr b="0" sz="1350">
                <a:solidFill>
                  <a:srgbClr val="475569"/>
                </a:solidFill>
                <a:latin typeface="Calibri"/>
              </a:rPr>
              <a:t>Server-side NTP timestamping localized to Indian Standard Time (IST).</a:t>
            </a:r>
          </a:p>
          <a:p>
            <a:pPr marL="342900" indent="-228600">
              <a:spcAft>
                <a:spcPts val="600"/>
              </a:spcAft>
              <a:buChar char="•"/>
            </a:pPr>
            <a:r>
              <a:rPr b="1" sz="1350">
                <a:solidFill>
                  <a:srgbClr val="0A192F"/>
                </a:solidFill>
                <a:latin typeface="Calibri"/>
              </a:rPr>
              <a:t>3. Hash Integrity Seal: </a:t>
            </a:r>
            <a:r>
              <a:rPr b="0" sz="1350">
                <a:solidFill>
                  <a:srgbClr val="475569"/>
                </a:solidFill>
                <a:latin typeface="Calibri"/>
              </a:rPr>
              <a:t>SHA-256 payloadHash computed over immutable consent certificate.</a:t>
            </a:r>
          </a:p>
          <a:p>
            <a:pPr marL="342900" indent="-228600">
              <a:spcAft>
                <a:spcPts val="600"/>
              </a:spcAft>
              <a:buChar char="•"/>
            </a:pPr>
            <a:r>
              <a:rPr b="1" sz="1350">
                <a:solidFill>
                  <a:srgbClr val="0A192F"/>
                </a:solidFill>
                <a:latin typeface="Calibri"/>
              </a:rPr>
              <a:t>4. Device Custody Proof: </a:t>
            </a:r>
            <a:r>
              <a:rPr b="0" sz="1350">
                <a:solidFill>
                  <a:srgbClr val="475569"/>
                </a:solidFill>
                <a:latin typeface="Calibri"/>
              </a:rPr>
              <a:t>Evidence that the computer system was operating properly during record generation.</a:t>
            </a:r>
          </a:p>
          <a:p>
            <a:pPr marL="342900" indent="-228600">
              <a:spcAft>
                <a:spcPts val="600"/>
              </a:spcAft>
              <a:buChar char="•"/>
            </a:pPr>
            <a:r>
              <a:rPr b="1" sz="1350">
                <a:solidFill>
                  <a:srgbClr val="0A192F"/>
                </a:solidFill>
                <a:latin typeface="Calibri"/>
              </a:rPr>
              <a:t>5. Regulation 19 Admissibility: </a:t>
            </a:r>
            <a:r>
              <a:rPr b="0" sz="1350">
                <a:solidFill>
                  <a:srgbClr val="475569"/>
                </a:solidFill>
                <a:latin typeface="Calibri"/>
              </a:rPr>
              <a:t>Cryptographically chained forward hashes guarantee zero retroactive modifications.</a:t>
            </a:r>
          </a:p>
        </p:txBody>
      </p:sp>
      <p:sp>
        <p:nvSpPr>
          <p:cNvPr id="6" name="TextBox 5"/>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28 of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APPENDIX D</a:t>
            </a:r>
          </a:p>
          <a:p>
            <a:pPr>
              <a:spcAft>
                <a:spcPts val="300"/>
              </a:spcAft>
              <a:defRPr sz="3200" b="1">
                <a:solidFill>
                  <a:srgbClr val="0A192F"/>
                </a:solidFill>
                <a:latin typeface="Calibri"/>
              </a:defRPr>
            </a:pPr>
            <a:r>
              <a:t>Operational Considerations: Implemented State vs. Roadmap</a:t>
            </a:r>
          </a:p>
          <a:p>
            <a:pPr>
              <a:defRPr sz="1400">
                <a:solidFill>
                  <a:srgbClr val="475569"/>
                </a:solidFill>
                <a:latin typeface="Calibri"/>
              </a:defRPr>
            </a:pPr>
            <a:r>
              <a:t>Clear demarcation between current production capabilities and future roadmap milestones.</a:t>
            </a:r>
          </a:p>
        </p:txBody>
      </p:sp>
      <p:sp>
        <p:nvSpPr>
          <p:cNvPr id="4" name="Rounded Rectangle 3"/>
          <p:cNvSpPr/>
          <p:nvPr/>
        </p:nvSpPr>
        <p:spPr>
          <a:xfrm>
            <a:off x="731520" y="1783080"/>
            <a:ext cx="5212080" cy="4389120"/>
          </a:xfrm>
          <a:prstGeom prst="round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4754880" cy="4023360"/>
          </a:xfrm>
          <a:prstGeom prst="rect">
            <a:avLst/>
          </a:prstGeom>
          <a:noFill/>
        </p:spPr>
        <p:txBody>
          <a:bodyPr wrap="square">
            <a:spAutoFit/>
          </a:bodyPr>
          <a:lstStyle/>
          <a:p>
            <a:pPr>
              <a:spcAft>
                <a:spcPts val="800"/>
              </a:spcAft>
              <a:defRPr b="1" sz="1600">
                <a:solidFill>
                  <a:srgbClr val="059669"/>
                </a:solidFill>
              </a:defRPr>
            </a:pPr>
            <a:r>
              <a:t>Implemented Capabilities (Now)</a:t>
            </a:r>
          </a:p>
          <a:p>
            <a:pPr marL="342900" indent="-228600">
              <a:spcAft>
                <a:spcPts val="600"/>
              </a:spcAft>
              <a:buChar char="•"/>
            </a:pPr>
            <a:r>
              <a:rPr b="1" sz="1300">
                <a:solidFill>
                  <a:srgbClr val="0A192F"/>
                </a:solidFill>
                <a:latin typeface="Calibri"/>
              </a:rPr>
              <a:t>Non-Discretionary Mandates: </a:t>
            </a:r>
            <a:r>
              <a:rPr b="0" sz="1300">
                <a:solidFill>
                  <a:srgbClr val="475569"/>
                </a:solidFill>
                <a:latin typeface="Calibri"/>
              </a:rPr>
              <a:t>Formulation &amp; Finance Act 2024 tax engine.</a:t>
            </a:r>
          </a:p>
          <a:p>
            <a:pPr marL="342900" indent="-228600">
              <a:spcAft>
                <a:spcPts val="600"/>
              </a:spcAft>
              <a:buChar char="•"/>
            </a:pPr>
            <a:r>
              <a:rPr b="1" sz="1300">
                <a:solidFill>
                  <a:srgbClr val="0A192F"/>
                </a:solidFill>
                <a:latin typeface="Calibri"/>
              </a:rPr>
              <a:t>Dual-Envelope Encryption: </a:t>
            </a:r>
            <a:r>
              <a:rPr b="0" sz="1300">
                <a:solidFill>
                  <a:srgbClr val="475569"/>
                </a:solidFill>
                <a:latin typeface="Calibri"/>
              </a:rPr>
              <a:t>AES-256-GCM cipher with PBKDF2 client password gate.</a:t>
            </a:r>
          </a:p>
          <a:p>
            <a:pPr marL="342900" indent="-228600">
              <a:spcAft>
                <a:spcPts val="600"/>
              </a:spcAft>
              <a:buChar char="•"/>
            </a:pPr>
            <a:r>
              <a:rPr b="1" sz="1300">
                <a:solidFill>
                  <a:srgbClr val="0A192F"/>
                </a:solidFill>
                <a:latin typeface="Calibri"/>
              </a:rPr>
              <a:t>256-bit Magic Links: </a:t>
            </a:r>
            <a:r>
              <a:rPr b="0" sz="1300">
                <a:solidFill>
                  <a:srgbClr val="475569"/>
                </a:solidFill>
                <a:latin typeface="Calibri"/>
              </a:rPr>
              <a:t>SHA-256 database hashing with 48h cutoff timer.</a:t>
            </a:r>
          </a:p>
          <a:p>
            <a:pPr marL="342900" indent="-228600">
              <a:spcAft>
                <a:spcPts val="600"/>
              </a:spcAft>
              <a:buChar char="•"/>
            </a:pPr>
            <a:r>
              <a:rPr b="1" sz="1300">
                <a:solidFill>
                  <a:srgbClr val="0A192F"/>
                </a:solidFill>
                <a:latin typeface="Calibri"/>
              </a:rPr>
              <a:t>In-App Mandate Chat: </a:t>
            </a:r>
            <a:r>
              <a:rPr b="0" sz="1300">
                <a:solidFill>
                  <a:srgbClr val="475569"/>
                </a:solidFill>
                <a:latin typeface="Calibri"/>
              </a:rPr>
              <a:t>Contextual discussion with explicit non-consent separation.</a:t>
            </a:r>
          </a:p>
          <a:p>
            <a:pPr marL="342900" indent="-228600">
              <a:spcAft>
                <a:spcPts val="600"/>
              </a:spcAft>
              <a:buChar char="•"/>
            </a:pPr>
            <a:r>
              <a:rPr b="1" sz="1300">
                <a:solidFill>
                  <a:srgbClr val="0A192F"/>
                </a:solidFill>
                <a:latin typeface="Calibri"/>
              </a:rPr>
              <a:t>Section 63 BSA Dossiers: </a:t>
            </a:r>
            <a:r>
              <a:rPr b="0" sz="1300">
                <a:solidFill>
                  <a:srgbClr val="475569"/>
                </a:solidFill>
                <a:latin typeface="Calibri"/>
              </a:rPr>
              <a:t>Compliance receipts with chained SHA-256 hash ledger.</a:t>
            </a:r>
          </a:p>
          <a:p>
            <a:pPr marL="342900" indent="-228600">
              <a:spcAft>
                <a:spcPts val="600"/>
              </a:spcAft>
              <a:buChar char="•"/>
            </a:pPr>
            <a:r>
              <a:rPr b="1" sz="1300">
                <a:solidFill>
                  <a:srgbClr val="0A192F"/>
                </a:solidFill>
                <a:latin typeface="Calibri"/>
              </a:rPr>
              <a:t>Institutional Security: </a:t>
            </a:r>
            <a:r>
              <a:rPr b="0" sz="1300">
                <a:solidFill>
                  <a:srgbClr val="475569"/>
                </a:solidFill>
                <a:latin typeface="Calibri"/>
              </a:rPr>
              <a:t>Multi-tenant isolation, RBAC, TOTP staff MFA, and rate limiting.</a:t>
            </a:r>
          </a:p>
          <a:p>
            <a:pPr marL="342900" indent="-228600">
              <a:spcAft>
                <a:spcPts val="600"/>
              </a:spcAft>
              <a:buChar char="•"/>
            </a:pPr>
            <a:r>
              <a:rPr b="1" sz="1300">
                <a:solidFill>
                  <a:srgbClr val="0A192F"/>
                </a:solidFill>
                <a:latin typeface="Calibri"/>
              </a:rPr>
              <a:t>8 Supported Languages: </a:t>
            </a:r>
            <a:r>
              <a:rPr b="0" sz="1300">
                <a:solidFill>
                  <a:srgbClr val="475569"/>
                </a:solidFill>
                <a:latin typeface="Calibri"/>
              </a:rPr>
              <a:t>Complete UI localization with English ASCII financial numerals.</a:t>
            </a:r>
          </a:p>
        </p:txBody>
      </p:sp>
      <p:sp>
        <p:nvSpPr>
          <p:cNvPr id="6" name="Rounded Rectangle 5"/>
          <p:cNvSpPr/>
          <p:nvPr/>
        </p:nvSpPr>
        <p:spPr>
          <a:xfrm>
            <a:off x="6248095" y="1783080"/>
            <a:ext cx="5212080" cy="438912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6695" y="1965960"/>
            <a:ext cx="4754880" cy="4023360"/>
          </a:xfrm>
          <a:prstGeom prst="rect">
            <a:avLst/>
          </a:prstGeom>
          <a:noFill/>
        </p:spPr>
        <p:txBody>
          <a:bodyPr wrap="square">
            <a:spAutoFit/>
          </a:bodyPr>
          <a:lstStyle/>
          <a:p>
            <a:pPr>
              <a:spcAft>
                <a:spcPts val="800"/>
              </a:spcAft>
              <a:defRPr b="1" sz="1600">
                <a:solidFill>
                  <a:srgbClr val="4F46E5"/>
                </a:solidFill>
              </a:defRPr>
            </a:pPr>
            <a:r>
              <a:t>Documented Scope &amp; Future Roadmap (Next)</a:t>
            </a:r>
          </a:p>
          <a:p>
            <a:pPr marL="342900" indent="-228600">
              <a:spcAft>
                <a:spcPts val="600"/>
              </a:spcAft>
              <a:buChar char="•"/>
            </a:pPr>
            <a:r>
              <a:rPr b="1" sz="1300">
                <a:solidFill>
                  <a:srgbClr val="0A192F"/>
                </a:solidFill>
                <a:latin typeface="Calibri"/>
              </a:rPr>
              <a:t>TRAI DLT SMS Gateway: </a:t>
            </a:r>
            <a:r>
              <a:rPr b="0" sz="1300">
                <a:solidFill>
                  <a:srgbClr val="475569"/>
                </a:solidFill>
                <a:latin typeface="Calibri"/>
              </a:rPr>
              <a:t>Delivers OTP via email/in-app (SMS disabled by policy); commercial SMS requires onboarding a TRAI DLT-registered aggregator.</a:t>
            </a:r>
          </a:p>
          <a:p>
            <a:pPr marL="342900" indent="-228600">
              <a:spcAft>
                <a:spcPts val="600"/>
              </a:spcAft>
              <a:buChar char="•"/>
            </a:pPr>
            <a:r>
              <a:rPr b="1" sz="1300">
                <a:solidFill>
                  <a:srgbClr val="0A192F"/>
                </a:solidFill>
                <a:latin typeface="Calibri"/>
              </a:rPr>
              <a:t>WhatsApp Channel Delivery: </a:t>
            </a:r>
            <a:r>
              <a:rPr b="0" sz="1300">
                <a:solidFill>
                  <a:srgbClr val="475569"/>
                </a:solidFill>
                <a:latin typeface="Calibri"/>
              </a:rPr>
              <a:t>Secure email magic links active; WhatsApp Business API delivery on product roadmap.</a:t>
            </a:r>
          </a:p>
          <a:p>
            <a:pPr marL="342900" indent="-228600">
              <a:spcAft>
                <a:spcPts val="600"/>
              </a:spcAft>
              <a:buChar char="•"/>
            </a:pPr>
            <a:r>
              <a:rPr b="1" sz="1300">
                <a:solidFill>
                  <a:srgbClr val="0A192F"/>
                </a:solidFill>
                <a:latin typeface="Calibri"/>
              </a:rPr>
              <a:t>CloudHSM Key Management: </a:t>
            </a:r>
            <a:r>
              <a:rPr b="0" sz="1300">
                <a:solidFill>
                  <a:srgbClr val="475569"/>
                </a:solidFill>
                <a:latin typeface="Calibri"/>
              </a:rPr>
              <a:t>Server Master Key isolated in env config; AWS CloudHSM/KMS recommended for banking tiers.</a:t>
            </a:r>
          </a:p>
          <a:p>
            <a:pPr marL="342900" indent="-228600">
              <a:spcAft>
                <a:spcPts val="600"/>
              </a:spcAft>
              <a:buChar char="•"/>
            </a:pPr>
            <a:r>
              <a:rPr b="1" sz="1300">
                <a:solidFill>
                  <a:srgbClr val="0A192F"/>
                </a:solidFill>
                <a:latin typeface="Calibri"/>
              </a:rPr>
              <a:t>Direct Broker Execution: </a:t>
            </a:r>
            <a:r>
              <a:rPr b="0" sz="1300">
                <a:solidFill>
                  <a:srgbClr val="475569"/>
                </a:solidFill>
                <a:latin typeface="Calibri"/>
              </a:rPr>
              <a:t>FinConsent halts at locked consent; API execution via brokers on future roadmap.</a:t>
            </a:r>
          </a:p>
        </p:txBody>
      </p:sp>
      <p:sp>
        <p:nvSpPr>
          <p:cNvPr id="8" name="TextBox 7"/>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29 of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188720"/>
          </a:xfrm>
          <a:prstGeom prst="rect">
            <a:avLst/>
          </a:prstGeom>
          <a:noFill/>
        </p:spPr>
        <p:txBody>
          <a:bodyPr wrap="square" lIns="0" tIns="0" rIns="0" bIns="0">
            <a:spAutoFit/>
          </a:bodyPr>
          <a:lstStyle/>
          <a:p>
            <a:pPr>
              <a:spcAft>
                <a:spcPts val="200"/>
              </a:spcAft>
              <a:defRPr sz="1050" b="1">
                <a:solidFill>
                  <a:srgbClr val="4F46E5"/>
                </a:solidFill>
                <a:latin typeface="Calibri"/>
              </a:defRPr>
            </a:pPr>
            <a:r>
              <a:t>PILOT PROPOSAL &amp; NEXT STEPS</a:t>
            </a:r>
          </a:p>
          <a:p>
            <a:pPr>
              <a:spcAft>
                <a:spcPts val="300"/>
              </a:spcAft>
              <a:defRPr sz="3200" b="1">
                <a:solidFill>
                  <a:srgbClr val="0A192F"/>
                </a:solidFill>
                <a:latin typeface="Calibri"/>
              </a:defRPr>
            </a:pPr>
            <a:r>
              <a:t>Institutional Pilot Proposal &amp; Implementation Roadmap</a:t>
            </a:r>
          </a:p>
          <a:p>
            <a:pPr>
              <a:defRPr sz="1400">
                <a:solidFill>
                  <a:srgbClr val="475569"/>
                </a:solidFill>
                <a:latin typeface="Calibri"/>
              </a:defRPr>
            </a:pPr>
            <a:r>
              <a:t>Structured 4-week pilot deployment for fee-only advisory practices with verified commercial terms.</a:t>
            </a:r>
          </a:p>
        </p:txBody>
      </p:sp>
      <p:sp>
        <p:nvSpPr>
          <p:cNvPr id="4" name="Rounded Rectangle 3"/>
          <p:cNvSpPr/>
          <p:nvPr/>
        </p:nvSpPr>
        <p:spPr>
          <a:xfrm>
            <a:off x="731520" y="1783080"/>
            <a:ext cx="52120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20240"/>
            <a:ext cx="4754880" cy="365760"/>
          </a:xfrm>
          <a:prstGeom prst="rect">
            <a:avLst/>
          </a:prstGeom>
          <a:noFill/>
        </p:spPr>
        <p:txBody>
          <a:bodyPr wrap="square">
            <a:spAutoFit/>
          </a:bodyPr>
          <a:lstStyle/>
          <a:p>
            <a:pPr>
              <a:defRPr b="1" sz="1600">
                <a:solidFill>
                  <a:srgbClr val="0A192F"/>
                </a:solidFill>
              </a:defRPr>
            </a:pPr>
            <a:r>
              <a:t>4-Week Phased Implementation Roadmap</a:t>
            </a:r>
          </a:p>
        </p:txBody>
      </p:sp>
      <p:sp>
        <p:nvSpPr>
          <p:cNvPr id="6" name="Rounded Rectangle 5"/>
          <p:cNvSpPr/>
          <p:nvPr/>
        </p:nvSpPr>
        <p:spPr>
          <a:xfrm>
            <a:off x="960120" y="2331720"/>
            <a:ext cx="1188720" cy="804672"/>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WEEK 1</a:t>
            </a:r>
          </a:p>
        </p:txBody>
      </p:sp>
      <p:sp>
        <p:nvSpPr>
          <p:cNvPr id="7" name="Rounded Rectangle 6"/>
          <p:cNvSpPr/>
          <p:nvPr/>
        </p:nvSpPr>
        <p:spPr>
          <a:xfrm>
            <a:off x="2240280" y="2331720"/>
            <a:ext cx="365760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Governance &amp; Setup</a:t>
            </a:r>
          </a:p>
          <a:p>
            <a:pPr>
              <a:defRPr sz="950">
                <a:solidFill>
                  <a:srgbClr val="475569"/>
                </a:solidFill>
              </a:defRPr>
            </a:pPr>
            <a:r>
              <a:t>Configure SEBI INA (INA000088921), compliance contacts &amp; TOTP MFA.</a:t>
            </a:r>
          </a:p>
        </p:txBody>
      </p:sp>
      <p:sp>
        <p:nvSpPr>
          <p:cNvPr id="8" name="Rounded Rectangle 7"/>
          <p:cNvSpPr/>
          <p:nvPr/>
        </p:nvSpPr>
        <p:spPr>
          <a:xfrm>
            <a:off x="960120" y="3246120"/>
            <a:ext cx="1188720" cy="804672"/>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WEEK 2</a:t>
            </a:r>
          </a:p>
        </p:txBody>
      </p:sp>
      <p:sp>
        <p:nvSpPr>
          <p:cNvPr id="9" name="Rounded Rectangle 8"/>
          <p:cNvSpPr/>
          <p:nvPr/>
        </p:nvSpPr>
        <p:spPr>
          <a:xfrm>
            <a:off x="2240280" y="3246120"/>
            <a:ext cx="365760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Client Ingestion</a:t>
            </a:r>
          </a:p>
          <a:p>
            <a:pPr>
              <a:defRPr sz="950">
                <a:solidFill>
                  <a:srgbClr val="475569"/>
                </a:solidFill>
              </a:defRPr>
            </a:pPr>
            <a:r>
              <a:t>Import client profiles with masked PAN (XXXXX1234F), DOB &amp; templates.</a:t>
            </a:r>
          </a:p>
        </p:txBody>
      </p:sp>
      <p:sp>
        <p:nvSpPr>
          <p:cNvPr id="10" name="Rounded Rectangle 9"/>
          <p:cNvSpPr/>
          <p:nvPr/>
        </p:nvSpPr>
        <p:spPr>
          <a:xfrm>
            <a:off x="960120" y="4160520"/>
            <a:ext cx="1188720" cy="80467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WEEK 3</a:t>
            </a:r>
          </a:p>
        </p:txBody>
      </p:sp>
      <p:sp>
        <p:nvSpPr>
          <p:cNvPr id="11" name="Rounded Rectangle 10"/>
          <p:cNvSpPr/>
          <p:nvPr/>
        </p:nvSpPr>
        <p:spPr>
          <a:xfrm>
            <a:off x="2240280" y="4160520"/>
            <a:ext cx="365760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Controlled Pilot Run</a:t>
            </a:r>
          </a:p>
          <a:p>
            <a:pPr>
              <a:defRPr sz="950">
                <a:solidFill>
                  <a:srgbClr val="475569"/>
                </a:solidFill>
              </a:defRPr>
            </a:pPr>
            <a:r>
              <a:t>Execute live mandates with 10–25 families; validate tax &amp; mobile OTP.</a:t>
            </a:r>
          </a:p>
        </p:txBody>
      </p:sp>
      <p:sp>
        <p:nvSpPr>
          <p:cNvPr id="12" name="Rounded Rectangle 11"/>
          <p:cNvSpPr/>
          <p:nvPr/>
        </p:nvSpPr>
        <p:spPr>
          <a:xfrm>
            <a:off x="960120" y="5074920"/>
            <a:ext cx="1188720" cy="8046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FFFFFF"/>
                </a:solidFill>
              </a:defRPr>
            </a:pPr>
            <a:r>
              <a:t>WEEK 4</a:t>
            </a:r>
          </a:p>
        </p:txBody>
      </p:sp>
      <p:sp>
        <p:nvSpPr>
          <p:cNvPr id="13" name="Rounded Rectangle 12"/>
          <p:cNvSpPr/>
          <p:nvPr/>
        </p:nvSpPr>
        <p:spPr>
          <a:xfrm>
            <a:off x="2240280" y="5074920"/>
            <a:ext cx="3657600" cy="80467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b="1" sz="1100">
                <a:solidFill>
                  <a:srgbClr val="0A192F"/>
                </a:solidFill>
              </a:defRPr>
            </a:pPr>
            <a:r>
              <a:t>Compliance Audit &amp; Scale</a:t>
            </a:r>
          </a:p>
          <a:p>
            <a:pPr>
              <a:defRPr sz="950">
                <a:solidFill>
                  <a:srgbClr val="475569"/>
                </a:solidFill>
              </a:defRPr>
            </a:pPr>
            <a:r>
              <a:t>Audit Section 63 BSA receipts with Compliance Officer; practice rollout.</a:t>
            </a:r>
          </a:p>
        </p:txBody>
      </p:sp>
      <p:sp>
        <p:nvSpPr>
          <p:cNvPr id="14" name="Rounded Rectangle 13"/>
          <p:cNvSpPr/>
          <p:nvPr/>
        </p:nvSpPr>
        <p:spPr>
          <a:xfrm>
            <a:off x="6248095" y="1783080"/>
            <a:ext cx="5212080" cy="438912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6695" y="1965960"/>
            <a:ext cx="4754880" cy="4023360"/>
          </a:xfrm>
          <a:prstGeom prst="rect">
            <a:avLst/>
          </a:prstGeom>
          <a:noFill/>
        </p:spPr>
        <p:txBody>
          <a:bodyPr wrap="square">
            <a:spAutoFit/>
          </a:bodyPr>
          <a:lstStyle/>
          <a:p>
            <a:pPr>
              <a:spcAft>
                <a:spcPts val="800"/>
              </a:spcAft>
              <a:defRPr b="1" sz="1600">
                <a:solidFill>
                  <a:srgbClr val="4F46E5"/>
                </a:solidFill>
              </a:defRPr>
            </a:pPr>
            <a:r>
              <a:t>Verified Commercial Terms &amp; Inquiries</a:t>
            </a:r>
          </a:p>
          <a:p>
            <a:pPr>
              <a:spcAft>
                <a:spcPts val="600"/>
              </a:spcAft>
              <a:defRPr b="1" sz="2400">
                <a:solidFill>
                  <a:srgbClr val="0A192F"/>
                </a:solidFill>
              </a:defRPr>
            </a:pPr>
            <a:r>
              <a:t>₹2,499 / Month  (+ 18% GST)</a:t>
            </a:r>
          </a:p>
          <a:p>
            <a:pPr marL="342900" indent="-228600">
              <a:spcAft>
                <a:spcPts val="600"/>
              </a:spcAft>
              <a:buChar char="•"/>
            </a:pPr>
            <a:r>
              <a:rPr b="1" sz="1300">
                <a:solidFill>
                  <a:srgbClr val="0A192F"/>
                </a:solidFill>
                <a:latin typeface="Calibri"/>
              </a:rPr>
              <a:t>Pro Practice Plan: </a:t>
            </a:r>
            <a:r>
              <a:rPr b="0" sz="1300">
                <a:solidFill>
                  <a:srgbClr val="475569"/>
                </a:solidFill>
                <a:latin typeface="Calibri"/>
              </a:rPr>
              <a:t>Includes up to 100 active mandates/month, unlimited clients, complete tax engine, and 5-year audit ledger retention.</a:t>
            </a:r>
          </a:p>
          <a:p>
            <a:pPr marL="342900" indent="-228600">
              <a:spcAft>
                <a:spcPts val="600"/>
              </a:spcAft>
              <a:buChar char="•"/>
            </a:pPr>
            <a:r>
              <a:rPr b="1" sz="1300">
                <a:solidFill>
                  <a:srgbClr val="0A192F"/>
                </a:solidFill>
                <a:latin typeface="Calibri"/>
              </a:rPr>
              <a:t>Zero AUM Surcharges: </a:t>
            </a:r>
            <a:r>
              <a:rPr b="0" sz="1300">
                <a:solidFill>
                  <a:srgbClr val="475569"/>
                </a:solidFill>
                <a:latin typeface="Calibri"/>
              </a:rPr>
              <a:t>FinConsent charges zero basis points (bps) or AUM percentages. Pure software utility model.</a:t>
            </a:r>
          </a:p>
          <a:p>
            <a:pPr marL="342900" indent="-228600">
              <a:spcAft>
                <a:spcPts val="600"/>
              </a:spcAft>
              <a:buChar char="•"/>
            </a:pPr>
            <a:r>
              <a:rPr b="1" sz="1300">
                <a:solidFill>
                  <a:srgbClr val="0A192F"/>
                </a:solidFill>
                <a:latin typeface="Calibri"/>
              </a:rPr>
              <a:t>Demonstration Data: </a:t>
            </a:r>
            <a:r>
              <a:rPr b="0" sz="1300">
                <a:solidFill>
                  <a:srgbClr val="475569"/>
                </a:solidFill>
                <a:latin typeface="Calibri"/>
              </a:rPr>
              <a:t>Prudent Wealth Advisory (SEBI Reg: INA000088921) with synthetic demonstration data.</a:t>
            </a:r>
          </a:p>
          <a:p>
            <a:pPr marL="342900" indent="-228600">
              <a:spcAft>
                <a:spcPts val="600"/>
              </a:spcAft>
              <a:buChar char="•"/>
            </a:pPr>
            <a:r>
              <a:rPr b="1" sz="1300">
                <a:solidFill>
                  <a:srgbClr val="0A192F"/>
                </a:solidFill>
                <a:latin typeface="Calibri"/>
              </a:rPr>
              <a:t>Official Inquiries: </a:t>
            </a:r>
            <a:r>
              <a:rPr b="0" sz="1300">
                <a:solidFill>
                  <a:srgbClr val="475569"/>
                </a:solidFill>
                <a:latin typeface="Calibri"/>
              </a:rPr>
              <a:t>compliance@finconsent.in</a:t>
            </a:r>
          </a:p>
        </p:txBody>
      </p:sp>
      <p:sp>
        <p:nvSpPr>
          <p:cNvPr id="16" name="TextBox 15"/>
          <p:cNvSpPr txBox="1"/>
          <p:nvPr/>
        </p:nvSpPr>
        <p:spPr>
          <a:xfrm>
            <a:off x="731520" y="6473952"/>
            <a:ext cx="10728655" cy="292608"/>
          </a:xfrm>
          <a:prstGeom prst="rect">
            <a:avLst/>
          </a:prstGeom>
          <a:noFill/>
        </p:spPr>
        <p:txBody>
          <a:bodyPr wrap="none" lIns="0" tIns="0" rIns="0" bIns="0">
            <a:spAutoFit/>
          </a:bodyPr>
          <a:lstStyle/>
          <a:p>
            <a:pPr>
              <a:defRPr sz="1000">
                <a:solidFill>
                  <a:srgbClr val="94A3B8"/>
                </a:solidFill>
                <a:latin typeface="Calibri"/>
              </a:defRPr>
            </a:pPr>
            <a:r>
              <a:t>FinConsent | Statutory RIA Infrastructure  •  Slide 30 of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FinConsent — Advisory Proposal Consent &amp; Tax Infrastructure</dc:title>
  <dc:subject>SEBI Regulation 19 Compliance &amp; WealthTech Architecture</dc:subject>
  <dc:creator>FinConsent Engineering</dc:creator>
  <cp:keywords/>
  <dc:description>Client-facing 30-slide presentation with verified compliance evidence</dc:description>
  <cp:lastModifiedBy>Steve Canny</cp:lastModifiedBy>
  <cp:revision>1</cp:revision>
  <dcterms:created xsi:type="dcterms:W3CDTF">2013-01-27T09:14:16Z</dcterms:created>
  <dcterms:modified xsi:type="dcterms:W3CDTF">2013-01-27T09:15:58Z</dcterms:modified>
  <cp:category/>
</cp:coreProperties>
</file>