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73152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192F"/>
                </a:solidFill>
                <a:latin typeface="Calibri"/>
              </a:defRPr>
            </a:pPr>
            <a:r>
              <a:t>FINCONSENT</a:t>
            </a:r>
          </a:p>
          <a:p>
            <a:pPr>
              <a:spcAft>
                <a:spcPts val="2400"/>
              </a:spcAft>
              <a:defRPr sz="2000">
                <a:solidFill>
                  <a:srgbClr val="4F46E5"/>
                </a:solidFill>
                <a:latin typeface="Calibri"/>
              </a:defRPr>
            </a:pPr>
            <a:r>
              <a:t>Enterprise Statutory Trade Authorization &amp; Tax-Impact Infrastructure for Indian RIAs</a:t>
            </a:r>
          </a:p>
          <a:p>
            <a:pPr>
              <a:spcAft>
                <a:spcPts val="3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Purpose-built for SEBI (Investment Advisers) Regulations, 2013 Regulation 19 compliance, pre-trade capital gains tax transparency under Finance Act 2024, and Section 65B tamper-evident electronic evidence.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32918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SEBI Regulation 19 Compliance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Enforces non-discretionary prior informed client consent with a statutory 5-year cryptographic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Budget 2024 Tax Engine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Automates STCG (20%) &amp; LTCG (12.5%) pre-computations with Section 234B/C quarterly advance tax alerts.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32918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5720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Cryptographic Evidence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Dual AES-256-GCM envelope encryption, 6-digit OTP, and Section 65B Indian Evidence Act certificates.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INDUSTRY LANDSCAPE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Problem: The High-Stakes Friction in Indian Wealth Advisory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Why legacy approval methods fail both advisory firms and high-net-worth investors.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E11D48"/>
                </a:solidFill>
              </a:defRPr>
            </a:pPr>
            <a:r>
              <a:t>1. Informal WhatsApp Approvals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Advisors routinely collect approvals via WhatsApp, emails, or phone notes.</a:t>
            </a:r>
            <a:br/>
            <a:r>
              <a:t>• SEBI inspection teams reject informal text messages as non-compliant with Regulation 19.</a:t>
            </a:r>
            <a:br/>
            <a:r>
              <a:t>• Leaves advisers legally exposed to claims of discretionary or unauthorized trading.</a:t>
            </a:r>
            <a:br/>
            <a:r>
              <a:t>• Zero legal admissibility under Section 65B of the Indian Evidence 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D97706"/>
                </a:solidFill>
              </a:defRPr>
            </a:pPr>
            <a:r>
              <a:t>2. Capital Gains Tax Shocks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Union Budget 2024 increased STCG to 20% and LTCG to 12.5%.</a:t>
            </a:r>
            <a:br/>
            <a:r>
              <a:t>• Rebalancing portfolios triggers significant capital gains without prior investor visibility.</a:t>
            </a:r>
            <a:br/>
            <a:r>
              <a:t>• Clients are blindsided by unexpected year-end tax liabilities.</a:t>
            </a:r>
            <a:br/>
            <a:r>
              <a:t>• Advance tax penal interest (Sections 234B &amp; 234C) erodes investor trust and fee satisfaction.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3. Fragmented Audit Trails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Advisory rationale, client communications, and trade executions live in separate silos.</a:t>
            </a:r>
            <a:br/>
            <a:r>
              <a:t>• Compiling regulatory records for annual SEBI audits takes weeks of administrative overhead.</a:t>
            </a:r>
            <a:br/>
            <a:r>
              <a:t>• Audit logs in spreadsheets can be altered, disputed, or deleted.</a:t>
            </a:r>
            <a:br/>
            <a:r>
              <a:t>• Inability to prove exact IST timestamp, client IP, and portfolio allocation agreed upon.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THE STORY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Human Context: An RIA and HNI Client Journey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Grounding compliance in real operational realities: Suresh Narayanan and Rohan Mehta.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A192F"/>
                </a:solidFill>
              </a:defRPr>
            </a:pPr>
            <a:r>
              <a:t>Suresh Narayanan</a:t>
            </a:r>
          </a:p>
          <a:p>
            <a:pPr>
              <a:spcAft>
                <a:spcPts val="1200"/>
              </a:spcAft>
              <a:defRPr sz="1100">
                <a:solidFill>
                  <a:srgbClr val="4F46E5"/>
                </a:solidFill>
              </a:defRPr>
            </a:pPr>
            <a:r>
              <a:t>Principal Officer &amp; Founder, Prudent Wealth Advisory (SEBI Reg: INA000018421)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• Background: Manages ₹180 Crores in AUM across 75 affluent families under a fee-only, non-discretionary advisory model.</a:t>
            </a:r>
            <a:br/>
            <a:r>
              <a:t>• Challenge: Equity markets surged post-budget; several client portfolios have drifted 15%+ away from risk mandates.</a:t>
            </a:r>
            <a:br/>
            <a:r>
              <a:t>• Regulatory Obligation: Must recommend selling equities and buying debt/gold, but cannot execute without prior written consent and full tax disclosure under SEBI Regulation 19.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A192F"/>
                </a:solidFill>
              </a:defRPr>
            </a:pPr>
            <a:r>
              <a:t>Rohan Mehta</a:t>
            </a:r>
          </a:p>
          <a:p>
            <a:pPr>
              <a:spcAft>
                <a:spcPts val="1200"/>
              </a:spcAft>
              <a:defRPr sz="1100">
                <a:solidFill>
                  <a:srgbClr val="4F46E5"/>
                </a:solidFill>
              </a:defRPr>
            </a:pPr>
            <a:r>
              <a:t>HNI Advisory Client | Managing Director, Auto-Tech Firm, Pune (PAN: ABCDE1234F)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• Background: Holds a ₹4.2 Crore portfolio. Extremely busy executive who reviews financial proposals on his mobile phone between meetings.</a:t>
            </a:r>
            <a:br/>
            <a:r>
              <a:t>• Expectation: Values Suresh's advice, but refuses to sign complex paper forms or guess tax liabilities.</a:t>
            </a:r>
            <a:br/>
            <a:r>
              <a:t>• Need: Demands a frictionless 2-minute mobile authorization flow that clearly explains why securities are being sold and the exact rupee tax liability.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FRICTION &amp; RISK ANALYSIS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Why Current Operational Approaches Break Down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Evaluating the systemic vulnerabilities of informal, non-statutory consent channels.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9728" cy="1005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74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SEBI Regulation 19 Violation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Advisers without cryptographic client consent face cancellation of registration, show-cause notices, and personal penalties during mandatory regulatory inspections.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09728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Advance Tax Penalties (Sec 234B &amp; 234C)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Selling equities without advance tax warnings leads to mandatory 1% monthly penal interest, creating direct client friction and fee dissatisfaction.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109728" cy="10058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51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Inadmissible Electronic Evidence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Under Section 65B of the Indian Evidence Act, raw screenshots of WhatsApp messages cannot be admitted into court or arbitration tribunals without device and server hash proof.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09728" cy="100584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Operational Delay &amp; Market Slippage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Chasing clients across emails and phone calls causes days of delay, during which market prices drift and optimal rebalancing opportunities evaporate.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PLATFORM ARCHITECTURE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FinConsent Solution Overview: The Four Core Pillars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An integrated statutory infrastructure bridging advisory formulation and client mobile consent.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468880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1. Pre-Trade Tax Transparency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Dynamic Union Budget 2024 tax engine. Computes STCG (20%) and LTCG (12.5%) in real time, alerting clients to quarterly advance tax deadlines.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0" y="1828800"/>
            <a:ext cx="2468880" cy="9144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2. Dual-Envelope Encryption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AES-256-GCM encryption with dual key wrapping. Protects sensitive financial assets until client unlocks via PAN last 4 digits and DOB.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246888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3. Frictionless Mobile Consent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Zero-login 256-bit magic links. 360px responsive mobile layout, mandate clarification chat, and TRAI DLT 6-digit OTP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1828800"/>
            <a:ext cx="2468880" cy="91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4. Section 65B Audit Trail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Append-only forward SHA-256 hash chaining. Emits digitally fingerprinted Regulation 19 compliance dossiers with IP, user-agent, and IST timestamps.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NARRATIVE FLOW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End-to-End User Journey: From Drift to Locked Evidence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Chronological storytelling mapping advisor formulation to statutory compliance archive.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1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1: Drift &amp; Formulation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Suresh detects 15% equity drift. Drafts ₹11.10L rebalance into corporate debt and gold bonds.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[RIA Workspace]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2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2: Tax Calculation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Engine calculates ₹11,440 capital gains tax. Generates 48-hour cutoff window and dispatch link.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[Tax Engine]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3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3: Secure Delivery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Delivered via WhatsApp. Rohan opens link; sensitive data remains encrypted until PAN+DOB unlock.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[Mobile Delivery]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4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4: Review &amp; Chat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Rohan reviews trade baskets, asks a clarification in mandate chat. Suresh replies; Rohan accepts terms.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[Discussion Rail]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828800"/>
            <a:ext cx="20116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201168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4F46E5"/>
                </a:solidFill>
              </a:defRPr>
            </a:pPr>
            <a:r>
              <a:t>STEP 5</a:t>
            </a:r>
          </a:p>
          <a:p>
            <a:pPr>
              <a:spcAft>
                <a:spcPts val="800"/>
              </a:spcAft>
              <a:defRPr b="1" sz="1200">
                <a:solidFill>
                  <a:srgbClr val="0A192F"/>
                </a:solidFill>
              </a:defRPr>
            </a:pPr>
            <a:r>
              <a:t>Phase 5: OTP &amp; Evidence</a:t>
            </a:r>
          </a:p>
          <a:p>
            <a:pPr>
              <a:spcAft>
                <a:spcPts val="1200"/>
              </a:spcAft>
              <a:defRPr sz="1000">
                <a:solidFill>
                  <a:srgbClr val="475569"/>
                </a:solidFill>
              </a:defRPr>
            </a:pPr>
            <a:r>
              <a:t>Rohan verifies 6-digit OTP. Token revoked; Section 65B compliance dossier locked immutably.</a:t>
            </a:r>
          </a:p>
          <a:p>
            <a:pPr>
              <a:defRPr i="1" sz="950">
                <a:solidFill>
                  <a:srgbClr val="94A3B8"/>
                </a:solidFill>
              </a:defRPr>
            </a:pPr>
            <a:r>
              <a:t>[Audit Ledger]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PROCESS FLOW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Statutory Process Flow Diagram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Deterministic state progression from recommendation to immutable regulatory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A192F"/>
                </a:solidFill>
                <a:latin typeface="Consolas"/>
              </a:defRPr>
            </a:pPr>
            <a:r>
              <a:t>[ 1. RIA FORMULATION ]</a:t>
            </a:r>
            <a:br/>
            <a:r>
              <a:t>   • Portfolio Drift Identified (Equity 65% → 50% target)</a:t>
            </a:r>
            <a:br/>
            <a:r>
              <a:t>   • Trade baskets constructed (Sell HDFC Bank &amp; Tata Motors; Buy Bharat Bond ETF &amp; SGB)</a:t>
            </a:r>
            <a:br/>
            <a:r>
              <a:t>   • Advisory Rationale documented under SEBI IA Regulations</a:t>
            </a:r>
            <a:br/>
            <a:r>
              <a:t>              │</a:t>
            </a:r>
            <a:br/>
            <a:r>
              <a:t>              ▼</a:t>
            </a:r>
            <a:br/>
            <a:r>
              <a:t>[ 2. TAX-IMPACT CALCULATION &amp; 48H CUTOFF ]</a:t>
            </a:r>
            <a:br/>
            <a:r>
              <a:t>   • Union Budget 2024 Engine: STCG @ 20% (₹11,000) + LTCG @ 12.5% (Exempt) + 4% Cess</a:t>
            </a:r>
            <a:br/>
            <a:r>
              <a:t>   • Section 234B/C Advance Tax notice triggered</a:t>
            </a:r>
            <a:br/>
            <a:r>
              <a:t>   • 48-Hour execution cutoff timer initialized</a:t>
            </a:r>
            <a:br/>
            <a:r>
              <a:t>              │</a:t>
            </a:r>
            <a:br/>
            <a:r>
              <a:t>              ▼</a:t>
            </a:r>
            <a:br/>
            <a:r>
              <a:t>[ 3. DUAL-ENVELOPE ENCRYPTION &amp; SECURE DISPATCH ]</a:t>
            </a:r>
            <a:br/>
            <a:r>
              <a:t>   • Sensitive financial payload encrypted via AES-256-GCM</a:t>
            </a:r>
            <a:br/>
            <a:r>
              <a:t>   • Data Encryption Key (DEK) wrapped for client via PBKDF2(PAN_last4 + DOB)</a:t>
            </a:r>
            <a:br/>
            <a:r>
              <a:t>   • 256-bit high-entropy magic link dispatched via 1-click WhatsApp template</a:t>
            </a:r>
            <a:br/>
            <a:r>
              <a:t>              │</a:t>
            </a:r>
            <a:br/>
            <a:r>
              <a:t>              ▼</a:t>
            </a:r>
            <a:br/>
            <a:r>
              <a:t>[ 4. CLIENT ACCESS &amp; PASSWORD UNLOCK ]</a:t>
            </a:r>
            <a:br/>
            <a:r>
              <a:t>   • Rohan Mehta taps link on mobile smartphone (Zero PII visible prior to unlock)</a:t>
            </a:r>
            <a:br/>
            <a:r>
              <a:t>   • Enters client password (123414081978); browser receives signed 2-hour JWT</a:t>
            </a:r>
            <a:br/>
            <a:r>
              <a:t>   • Proposal decrypts: trade details, allocation bars, and advance tax calendar displayed</a:t>
            </a:r>
            <a:br/>
            <a:r>
              <a:t>              │</a:t>
            </a:r>
            <a:br/>
            <a:r>
              <a:t>              ▼</a:t>
            </a:r>
            <a:br/>
            <a:r>
              <a:t>[ 5. ADVISORY DISCUSSION &amp; STATUTORY CLARIFICATION ]</a:t>
            </a:r>
            <a:br/>
            <a:r>
              <a:t>   • In-app Mandate Chat clarifies single-stock risk ceiling on Tata Motors</a:t>
            </a:r>
            <a:br/>
            <a:r>
              <a:t>   • ⚠️ Legal boundary: Informal chat dialogue explicitly does NOT constitute trade consent</a:t>
            </a:r>
            <a:br/>
            <a:r>
              <a:t>              │</a:t>
            </a:r>
            <a:br/>
            <a:r>
              <a:t>              ▼</a:t>
            </a:r>
            <a:br/>
            <a:r>
              <a:t>[ 6. STATUTORY ACCEPTANCE &amp; 6-DIGIT OTP AUTHORIZATION ]</a:t>
            </a:r>
            <a:br/>
            <a:r>
              <a:t>   • Explicit acknowledgement of 3 statutory declarations (Reg 19, Tax, Section 65B)</a:t>
            </a:r>
            <a:br/>
            <a:r>
              <a:t>   • 6-digit cryptographic OTP verified (rate-limited, 3 attempts max before lockout)</a:t>
            </a:r>
            <a:br/>
            <a:r>
              <a:t>              │</a:t>
            </a:r>
            <a:br/>
            <a:r>
              <a:t>              ▼</a:t>
            </a:r>
            <a:br/>
            <a:r>
              <a:t>[ 7. ATOMIC REVOCATION &amp; SECTION 65B EVIDENCE LOCK ]</a:t>
            </a:r>
            <a:br/>
            <a:r>
              <a:t>   • Magic token permanently revoked to prevent replay attacks; mandate status = CONSENTED</a:t>
            </a:r>
            <a:br/>
            <a:r>
              <a:t>   • Chained SHA-256 audit record committed (IP, User-Agent, IST timestamp, hash digest)</a:t>
            </a:r>
            <a:br/>
            <a:r>
              <a:t>   • Official Section 65B Compliance Dossier Certificate generated and downloadable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RIA INTERFACE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Advisor (RIA) Experience: Formulation &amp; Control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Real screenshots from Prudent Wealth Advisory's institutional advisory center.</a:t>
            </a:r>
          </a:p>
        </p:txBody>
      </p:sp>
      <p:pic>
        <p:nvPicPr>
          <p:cNvPr id="4" name="Picture 3" descr="01-ria-dashboard-firm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8.1: Authenticated RIA Dashboard showing portfolio overview and practice mandates.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Advisor Capabilities &amp; Controls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Practice Workspace: Scoped view displaying active mandate statuses (Draft, Sent, Viewed, Consented, Expired) with real-time 48-hour countdown badges.</a:t>
            </a:r>
            <a:br/>
            <a:r>
              <a:t>• Frictionless Client Registry: Client management enforcing PAN syntax ([A-Z]{5}[0-9]{4}[A-Z]) and mobile number formatting.</a:t>
            </a:r>
            <a:br/>
            <a:r>
              <a:t>• Integrated Rebalance Wizard: Simultaneous formulation of current vs. proposed allocations, sell baskets, buy baskets, and advisory rationale.</a:t>
            </a:r>
            <a:br/>
            <a:r>
              <a:t>• Instant Emergency Control: Single-click 'Revoke Link' feature allows advisers to immediately cancel dispatched proposals if market volatility occurs.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CLIENT INTERFACE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Client Experience: Mobile-First Transparency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Rohan Mehta's proposal review interface designed for executive clarity on smartphones.</a:t>
            </a:r>
          </a:p>
        </p:txBody>
      </p:sp>
      <p:pic>
        <p:nvPicPr>
          <p:cNvPr id="4" name="Picture 3" descr="03_client_mandate_unlo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9.1: Rohan Mehta's unlocked proposal review showing trade allocations and pre-computed tax.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Key Client-Facing Elements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Zero-Login Convenience: Clients tap the link received via WhatsApp/email without remembering passwords or downloading an app.</a:t>
            </a:r>
            <a:br/>
            <a:r>
              <a:t>• Allocation Drift Visualization: High-contrast visual bars illustrate how portfolio risk is being restored (Equity scaling from 65% down to 50%).</a:t>
            </a:r>
            <a:br/>
            <a:r>
              <a:t>• Transparent Trade Baskets: Exact share quantities, current market value, ISIN numbers, and transaction rationale displayed clearly.</a:t>
            </a:r>
            <a:br/>
            <a:r>
              <a:t>• Tax Accountability: Pre-computes exact rupee liability (₹11,440) so the client understands the net financial impact before consenting.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DATA PRIVACY GATE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Mandate Security: Password-Protected Access Gate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Zero sensitive financial disclosure prior to client authentication.</a:t>
            </a:r>
          </a:p>
        </p:txBody>
      </p:sp>
      <p:pic>
        <p:nvPicPr>
          <p:cNvPr id="4" name="Picture 3" descr="02_client_password_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10.1: Client Password Gate on Mobile. Sensitive portfolio holdings remain encrypted until unlocked.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PAN + DOB Password Mechanism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Zero PII Exposure: If a magic link is forwarded, intercepted, or leaked, the recipient sees only the adviser's firm name. Zero stock holdings or tax figures are emitted.</a:t>
            </a:r>
            <a:br/>
            <a:r>
              <a:t>• Deterministic Derivation: Password formatted as Last 4 PAN digits + Date of Birth (DDMMYYYY). Example: Rohan's PAN ABCDE1234F + 14/08/1978 = 123414081978.</a:t>
            </a:r>
            <a:br/>
            <a:r>
              <a:t>• PBKDF2 Key Derivation: The password derives a 256-bit cryptographic key using 100,000 SHA-256 iterations to unwrap the Data Encryption Key (DEK).</a:t>
            </a:r>
            <a:br/>
            <a:r>
              <a:t>• Brute-Force Rate Limiting: 5 consecutive failed attempts trigger an automatic 15-minute security lockout (HTTP 429).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MULTI-TENANCY &amp; RBAC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Authentication, Authorization &amp; Tenant Isolation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Architectural barriers guaranteeing strict multi-tenant privacy across advisory practices.</a:t>
            </a:r>
          </a:p>
        </p:txBody>
      </p:sp>
      <p:pic>
        <p:nvPicPr>
          <p:cNvPr id="4" name="Picture 3" descr="11-cross-ria-denied-foreign-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11.1: Security Test Evidence — Cross-tenant client access attempt rejected with HTTP 403 Forbidden.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Tenancy Invariants &amp; Controls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Firm Tenancy Scoping: Every database query for clients, mandates, and audit logs is strictly partitioned by authenticated firm ID (req.user.firmName).</a:t>
            </a:r>
            <a:br/>
            <a:r>
              <a:t>• Zero Cross-RIA Data Leakage: RIA 1 attempting to query Client 201 or Mandate 101 of RIA 2 receives an immediate HTTP 403 Forbidden with zero data disclosure.</a:t>
            </a:r>
            <a:br/>
            <a:r>
              <a:t>• Role-Based Access Control (RBAC): Strict segregation across sebi-ria, hni-client, compliance_officer, admin, and guest personas.</a:t>
            </a:r>
            <a:br/>
            <a:r>
              <a:t>• Privilege Escalation Defense: Client users navigating to advisor creation or billing routes are intercepted by React Router ProtectedRoute and Express middleware.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CRYPTOGRAPHIC CORE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Data Security Architecture &amp; Dual-Envelope Encryption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Institutional cryptographic defense protecting financial mandates at rest and in transit.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Payload Encryption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Algorithm: AES-256-GCM</a:t>
            </a:r>
            <a:br/>
            <a:r>
              <a:t>• Key: Unique 256-bit random Data Encryption Key (DEK) per mandate.</a:t>
            </a:r>
            <a:br/>
            <a:r>
              <a:t>• IV: 12-byte random initialization vector.</a:t>
            </a:r>
            <a:br/>
            <a:r>
              <a:t>• Auth Tag: 16-byte authentication tag ensuring ciphertext integrity and anti-tampering.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4F46E5"/>
                </a:solidFill>
              </a:defRPr>
            </a:pPr>
            <a:r>
              <a:t>Dual Key Wrapping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Server Wrapping: DEK encrypted with Server Master Key via AES-256-GCM for RIA dashboard access.</a:t>
            </a:r>
            <a:br/>
            <a:r>
              <a:t>• Client Wrapping: DEK encrypted with key derived from PBKDF2(PAN_last_4 + DOB, salt, 100,000 rounds).</a:t>
            </a:r>
            <a:br/>
            <a:r>
              <a:t>• Zero Plaintext: Neither plaintext DEK nor client password stored in 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59669"/>
                </a:solidFill>
              </a:defRPr>
            </a:pPr>
            <a:r>
              <a:t>Transit &amp; Storage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Magic Token Hashing: 256-bit raw token stored in DB strictly as SHA-256 digest (magicTokenHash).</a:t>
            </a:r>
            <a:br/>
            <a:r>
              <a:t>• In-Transit Security: Forced TLS 1.3 with Helmet HSTS (1-year max-age).</a:t>
            </a:r>
            <a:br/>
            <a:r>
              <a:t>• Zero Secret Logs: Passwords, OTPs, and bearer tokens sanitized from all logs.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CONSENT VERIFICATION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OTP &amp; Consent Integrity: Anti-Tamper Authorization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Statutory multi-factor verification guaranteeing explicit non-discretionary consent.</a:t>
            </a:r>
          </a:p>
        </p:txBody>
      </p:sp>
      <p:pic>
        <p:nvPicPr>
          <p:cNvPr id="4" name="Picture 3" descr="06-client-otp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13.1: 6-Digit Mobile OTP Verification Modal with 5-minute statutory countdown.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Statutory Authorization Safeguards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Mandatory Declarations: Clients must actively check 3 statutory declarations (Regulation 19 Informed Consent, Capital Gains Acceptance, Section 65B Electronic Evidence).</a:t>
            </a:r>
            <a:br/>
            <a:r>
              <a:t>• Dynamic 6-Digit OTP: Generated via CSPRNG with 5-minute Time-To-Live (TTL).</a:t>
            </a:r>
            <a:br/>
            <a:r>
              <a:t>• Brute-Force Lockout: Maximum 3 verification attempts permitted. A 3rd failed attempt immediately locks verification and burns the token (HTTP 429).</a:t>
            </a:r>
            <a:br/>
            <a:r>
              <a:t>• Single-Use Atomic Revocation: The instant consent succeeds, the magic token is burned. Re-accessing the URL returns HTTP 410 Gone, preventing replay attacks.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AUDIT INFRASTRUCTURE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Audit Trail &amp; Compliance Evidence: Cryptographic Proof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Chained SHA-256 audit ledger meeting Section 65B and Regulation 19 standards.</a:t>
            </a:r>
          </a:p>
        </p:txBody>
      </p:sp>
      <p:pic>
        <p:nvPicPr>
          <p:cNvPr id="4" name="Picture 3" descr="06_consent_locked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14.1: Section 65B Indian Evidence Act Compliance Receipt issued upon successful consent.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Legal Admissibility &amp; Hash Chaining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Forward Hash Chaining: Each log entry hashes the previous record: payloadHash = SHA256(prevHash + timestamp + event + payload). Any retroactive tampering breaks the entire chain.</a:t>
            </a:r>
            <a:br/>
            <a:r>
              <a:t>• Section 65B Certificate: Captures client device IP (49.36.110.12), browser User-Agent, exact IST timestamp, and masked PAN (AB*****4F).</a:t>
            </a:r>
            <a:br/>
            <a:r>
              <a:t>• 5-Year Regulatory Preservation: Designed to satisfy SEBI Regulation 19 mandatory 5-year retention requirements.</a:t>
            </a:r>
            <a:br/>
            <a:r>
              <a:t>• Verified Disaster Recovery: Non-destructive drill restored 1,460 audit logs with zero broken hash links.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STATE MACHINE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Mandate Lifecycle &amp; State Model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Strict server-enforced state transitions with zero direct status manipulation.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A192F"/>
                </a:solidFill>
                <a:latin typeface="Consolas"/>
              </a:defRPr>
            </a:pPr>
            <a:r>
              <a:t>                     ┌──────────────────────────────────────────────┐</a:t>
            </a:r>
            <a:br/>
            <a:r>
              <a:t>                     │                                              │</a:t>
            </a:r>
            <a:br/>
            <a:r>
              <a:t>                     ▼                                              │</a:t>
            </a:r>
            <a:br/>
            <a:r>
              <a:t>                ┌─────────┐      RIA Dispatches Link       ┌──────────┐</a:t>
            </a:r>
            <a:br/>
            <a:r>
              <a:t>                │  DRAFT  │ ─────────────────────────────&gt; │   SENT   │</a:t>
            </a:r>
            <a:br/>
            <a:r>
              <a:t>                └─────────┘                                └──────────┘</a:t>
            </a:r>
            <a:br/>
            <a:r>
              <a:t>                     │                                          │</a:t>
            </a:r>
            <a:br/>
            <a:r>
              <a:t>                     │                                          │ Client Inputs</a:t>
            </a:r>
            <a:br/>
            <a:r>
              <a:t>                     │                                          │ PAN + DOB Password</a:t>
            </a:r>
            <a:br/>
            <a:r>
              <a:t>                     │                                          ▼</a:t>
            </a:r>
            <a:br/>
            <a:r>
              <a:t>                     │                                     ┌──────────┐</a:t>
            </a:r>
            <a:br/>
            <a:r>
              <a:t>                     │                                     │  VIEWED  │ (In Review)</a:t>
            </a:r>
            <a:br/>
            <a:r>
              <a:t>                     │                                     └──────────┘</a:t>
            </a:r>
            <a:br/>
            <a:r>
              <a:t>                     │                                          │</a:t>
            </a:r>
            <a:br/>
            <a:r>
              <a:t>                     │                                          │ 1. Accept Declarations</a:t>
            </a:r>
            <a:br/>
            <a:r>
              <a:t>                     │ 48-Hour Cutoff                           │ 2. Verify 6-Digit OTP</a:t>
            </a:r>
            <a:br/>
            <a:r>
              <a:t>                     │ Elapsed                                  ▼</a:t>
            </a:r>
            <a:br/>
            <a:r>
              <a:t>                     │                                     ┌───────────┐</a:t>
            </a:r>
            <a:br/>
            <a:r>
              <a:t>                     └───────────────────────────────────&gt; │ CONSENTED │ (Immutable Lock)</a:t>
            </a:r>
            <a:br/>
            <a:r>
              <a:t>                                                           └───────────┘</a:t>
            </a:r>
            <a:br/>
            <a:r>
              <a:t>                                                                │</a:t>
            </a:r>
            <a:br/>
            <a:r>
              <a:t>                                                                ▼</a:t>
            </a:r>
            <a:br/>
            <a:r>
              <a:t>                                                           ┌───────────┐</a:t>
            </a:r>
            <a:br/>
            <a:r>
              <a:t>                                                           │  REVOKED  │ (Manual RIA Revoke</a:t>
            </a:r>
            <a:br/>
            <a:r>
              <a:t>                                                           └───────────┘  or Expired Link)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DISCUSSION RAIL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Mandate-Specific Chat: Advisory Clarification vs. Consent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Why in-app discussion is vital for client trust, but legally distinct from trade consent.</a:t>
            </a:r>
          </a:p>
        </p:txBody>
      </p:sp>
      <p:pic>
        <p:nvPicPr>
          <p:cNvPr id="4" name="Picture 3" descr="04_client_chat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16.1: Rohan posts an inquiry regarding Tata Motors in the password-protected chat rail.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Statutory Separation of Communication &amp; Consent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Real-Time Contextual Discussion: Allows clients to ask specific allocation or yield questions directly within the mandate context, eliminating scattered WhatsApp threads.</a:t>
            </a:r>
            <a:br/>
            <a:r>
              <a:t>• Complete Audit Archiving: Every message posted by client or advisor is committed to the immutable audit log under CHAT_MESSAGE_SENT.</a:t>
            </a:r>
            <a:br/>
            <a:r>
              <a:t>• ⚠️ CHAT DOES NOT CONSTITUTE CONSENT: Under SEBI Regulation 19, informal dialogue ('Yes go ahead', 'Proceed') CANNOT authorize transactions.</a:t>
            </a:r>
            <a:br/>
            <a:r>
              <a:t>• Uncompromising Consent Rail: Trade execution strictly requires formal statutory declaration checkboxes followed by 6-digit Mobile OTP verification.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TAX ENGINE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Tax-Impact Transparency &amp; Client Decision Support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Eliminating investor tax shocks with pre-trade Union Budget 2024 calculations.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Union Budget 2024 Statutory Engine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Short-Term Capital Gains (STCG):</a:t>
            </a:r>
            <a:br/>
            <a:r>
              <a:t>  20.0% (Section 111A, Income Tax Act)</a:t>
            </a:r>
            <a:br/>
            <a:r>
              <a:t>  Applied to ₹55,000 gain on Tata Motors = ₹11,000</a:t>
            </a:r>
            <a:br/>
            <a:br/>
            <a:r>
              <a:t>• Long-Term Capital Gains (LTCG):</a:t>
            </a:r>
            <a:br/>
            <a:r>
              <a:t>  12.5% (Section 112A, Income Tax Act)</a:t>
            </a:r>
            <a:br/>
            <a:r>
              <a:t>  Applied above ₹1,25,000 exemption limit.</a:t>
            </a:r>
            <a:br/>
            <a:r>
              <a:t>  ₹1,25,000 gain on HDFC Bank is 100% exempt = ₹0</a:t>
            </a:r>
            <a:br/>
            <a:br/>
            <a:r>
              <a:t>• Health &amp; Education Cess: 4% on base tax = ₹440</a:t>
            </a:r>
            <a:br/>
            <a:br/>
            <a:r>
              <a:t>• Total Rupee Tax Liability: ₹11,440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D97706"/>
                </a:solidFill>
              </a:defRPr>
            </a:pPr>
            <a:r>
              <a:t>Advance Tax Compliance Calendar (Sec 234B &amp; 234C)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When net estimated gains exceed ₹1,00,000, FinConsent automatically generates an Advance Tax Banner detailing quarterly installment deadlines:</a:t>
            </a:r>
            <a:br/>
            <a:br/>
            <a:r>
              <a:t>• 1st Installment (15%): On or before 15th June</a:t>
            </a:r>
            <a:br/>
            <a:r>
              <a:t>• 2nd Installment (45%): On or before 15th September</a:t>
            </a:r>
            <a:br/>
            <a:r>
              <a:t>• 3rd Installment (75%): On or before 15th December</a:t>
            </a:r>
            <a:br/>
            <a:r>
              <a:t>• 4th Installment (100%): On or before 15th March</a:t>
            </a:r>
            <a:br/>
            <a:br/>
            <a:r>
              <a:t>Protects clients against 1% monthly statutory penal interest for deferred tax compliance.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ACCESSIBILITY &amp; I18N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Multilingual Localization: 8 Indian Languages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Delivering advisory transparency in the investor's native language.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Multilingual Architecture &amp; Legal Formatting Invariants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8 Supported Indian Languages: English (en), Hindi (hi), Marathi (mr), Gujarati (gu), Tamil (ta), Telugu (te), Kannada (kn), Bengali (bn).</a:t>
            </a:r>
            <a:br/>
            <a:r>
              <a:t>• Universal Accessibility: HNIs across Tier 1, 2, and 3 wealth corridors review proposals, disclosures, and receipts in their preferred regional language.</a:t>
            </a:r>
            <a:br/>
            <a:r>
              <a:t>• Standardized Financial Numerals: Under regulatory standards, all rupee amounts (₹), trade quantities, percentages, and ISIN codes remain strictly in ASCII English numerals across all locales, eliminating ambiguity during legal disputes.</a:t>
            </a:r>
            <a:br/>
            <a:r>
              <a:t>• Profile Language Selection: Advisers and clients can switch languages seamlessly via navigation bar or profile settings.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SYSTEM TOPOLOGY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Architecture Diagram: Security &amp; Service Boundaries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High-level system topology illustrating frontend, API, security engine, and storage tiers.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1800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A192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              CLIENT &amp; ADVISOR CLIENTS                             │</a:t>
            </a:r>
            <a:br/>
            <a:r>
              <a:t>│   • Desktop Advisory Hub (React 18 / MUI / Vite)       • Mobile Client Review (360px)  │</a:t>
            </a:r>
            <a:br/>
            <a:r>
              <a:t>└───────────────────────────────────────────▲────────────────────────────────────────────┘</a:t>
            </a:r>
            <a:br/>
            <a:r>
              <a:t>                                            │ HTTPS / TLS 1.3 (Helmet HSTS)</a:t>
            </a:r>
            <a:br/>
            <a:r>
              <a:t>┌───────────────────────────────────────────▼────────────────────────────────────────────┐</a:t>
            </a:r>
            <a:br/>
            <a:r>
              <a:t>│                             API GATEWAY &amp; SECURITY MIDDLEWARE                          │</a:t>
            </a:r>
            <a:br/>
            <a:r>
              <a:t>│   • Express REST API (Node.js ESM)                     • CORS Strict Whitelist         │</a:t>
            </a:r>
            <a:br/>
            <a:r>
              <a:t>│   • JWT Auth &amp; Distributed Session Blacklist           • Distributed Sliding Rate Limit│</a:t>
            </a:r>
            <a:br/>
            <a:r>
              <a:t>│   • Tenancy Scoping Middleware (Firm Isolation)        • Input Sanitization &amp; Masking  │</a:t>
            </a:r>
            <a:br/>
            <a:r>
              <a:t>└───────────────────────────────────────────▲────────────────────────────────────────────┘</a:t>
            </a:r>
            <a:br/>
            <a:r>
              <a:t>                                            │</a:t>
            </a:r>
            <a:br/>
            <a:r>
              <a:t>┌───────────────────────────────────────────▼────────────────────────────────────────────┐</a:t>
            </a:r>
            <a:br/>
            <a:r>
              <a:t>│                             FINCONSENT CORE BUSINESS ENGINES                           │</a:t>
            </a:r>
            <a:br/>
            <a:r>
              <a:t>│   • Mandate State Machine Engine                       • Union Budget 2024 Tax Engine  │</a:t>
            </a:r>
            <a:br/>
            <a:r>
              <a:t>│   • Dual-Envelope AES-256-GCM Crypto Engine            • PBKDF2 Client Key Derivation  │</a:t>
            </a:r>
            <a:br/>
            <a:r>
              <a:t>│   • In-App Mandate Clarification Chat Rail             • OTP Verification &amp; Lockout    │</a:t>
            </a:r>
            <a:br/>
            <a:r>
              <a:t>└───────────────────────────────────────────▲────────────────────────────────────────────┘</a:t>
            </a:r>
            <a:br/>
            <a:r>
              <a:t>                                            │</a:t>
            </a:r>
            <a:br/>
            <a:r>
              <a:t>┌───────────────────────────────────────────▼────────────────────────────────────────────┐</a:t>
            </a:r>
            <a:br/>
            <a:r>
              <a:t>│                               PERSISTENT DATA &amp; AUDIT TIERS                            │</a:t>
            </a:r>
            <a:br/>
            <a:r>
              <a:t>│   • MongoDB Atlas (AWS Mumbai ap-south-1)              • Redis / Cluster SharedState   │</a:t>
            </a:r>
            <a:br/>
            <a:r>
              <a:t>│   • Append-Only SHA-256 Chained Audit Ledger           • Point-in-Time Recovery (PITR)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THREAT MODELING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Security Threat Scenarios &amp; Evidenced Protections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Proven runtime boundary enforcement against malicious and accidental vectors.</a:t>
            </a:r>
          </a:p>
        </p:txBody>
      </p:sp>
      <p:pic>
        <p:nvPicPr>
          <p:cNvPr id="4" name="Picture 3" descr="17-otp-lockout-after-3-fail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766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475569"/>
                </a:solidFill>
                <a:latin typeface="Calibri"/>
              </a:defRPr>
            </a:pPr>
            <a:r>
              <a:t>Figure 20.1: Security Test Evidence — OTP lockout engaged after 3 failed verification attempts.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Threat Modeling &amp; Defenses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Credential Stuffing &amp; OTP Brute-Force: Sliding-window rate limiters block rapid bursts; 3 failed OTPs permanently lock the token (HTTP 429).</a:t>
            </a:r>
            <a:br/>
            <a:r>
              <a:t>• Cross-Tenant IDOR: Tampering with mandate or client UUIDs across RIA practices rejected with HTTP 403 Forbidden.</a:t>
            </a:r>
            <a:br/>
            <a:r>
              <a:t>• Expired / Replay Attacks: Opening links past the 48-hour cutoff or after successful consent returns HTTP 410 Expired / Revoked.</a:t>
            </a:r>
            <a:br/>
            <a:r>
              <a:t>• Token Sniffing &amp; Database Breaches: Plaintext magic tokens are never persisted in the database (stored strictly as SHA-256 hashes).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EVIDENCE BASE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Operational &amp; Testing Validation: Grounded in Real Runs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Concrete evidence demonstrating zero regressions across automated and browser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59669"/>
                </a:solidFill>
              </a:defRPr>
            </a:pPr>
            <a:r>
              <a:t>200 / 200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Vitest Tests Passing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15 automated test suites running across tax calculation, security, RBAC, i18n, and API regressions (100% pass rate).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4F46E5"/>
                </a:solidFill>
              </a:defRPr>
            </a:pPr>
            <a:r>
              <a:t>81 Screenshots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Browser Visual Audit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42 baseline, 25 security, and 14 mandate-security screenshots verifying desktop and mobile viewports.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A192F"/>
                </a:solidFill>
              </a:defRPr>
            </a:pPr>
            <a:r>
              <a:t>1,460 Records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Disaster Recovery Drill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Synthetic non-destructive restore drill verified 1,460 audit logs with zero broken cryptographic hash 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10312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D97706"/>
                </a:solidFill>
              </a:defRPr>
            </a:pPr>
            <a:r>
              <a:t>0 Broken Chains</a:t>
            </a:r>
          </a:p>
          <a:p>
            <a:pPr>
              <a:spcAft>
                <a:spcPts val="1000"/>
              </a:spcAft>
              <a:defRPr b="1" sz="1200">
                <a:solidFill>
                  <a:srgbClr val="0A192F"/>
                </a:solidFill>
              </a:defRPr>
            </a:pPr>
            <a:r>
              <a:t>SHA-256 Integrity</a:t>
            </a:r>
          </a:p>
          <a:p>
            <a:pPr>
              <a:defRPr sz="1050">
                <a:solidFill>
                  <a:srgbClr val="475569"/>
                </a:solidFill>
              </a:defRPr>
            </a:pPr>
            <a:r>
              <a:t>Full mathematical continuity verified across all state changes, guaranteeing tamper-evident audit records.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INFRASTRUCTURE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Deployment &amp; Hosting Architecture: Indian Data Sovereignty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Compliance with SEBI Cybersecurity Framework and RBI data localization mandates.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Infrastructure Specifications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• Territorial Data Residency: In strict compliance with SEBI and RBI directives, all primary databases, cryptographic keys, and audit ledgers reside exclusively in AWS Asia Pacific (Mumbai) region (ap-south-1).</a:t>
            </a:r>
            <a:br/>
            <a:r>
              <a:t>• Multi-Stage Production Containers: Multi-stage Docker build packaging optimized Vite static assets and hardened Express Node.js runtime.</a:t>
            </a:r>
            <a:br/>
            <a:r>
              <a:t>• Orchestration: docker-compose.yml with production environment boundaries and health checks.</a:t>
            </a:r>
            <a:br/>
            <a:r>
              <a:t>• Zero Third-Party Tracking: Zero external advertising pixels, external analytics beacons, or overseas CDN assets.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BUSINESS IMPACT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Business Value &amp; Measurable Outcomes for Advisory Practices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Quantifiable efficiency, compliance security, and investor satisfaction gains.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59669"/>
                </a:solidFill>
              </a:defRPr>
            </a:pPr>
            <a:r>
              <a:t>100% Audit Readiness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Pass SEBI regulatory inspections instantly with downloadable Section 65B compliance dossiers.</a:t>
            </a:r>
            <a:br/>
            <a:r>
              <a:t>• Eliminate 30+ hours of manual audit trail compilation per quarter.</a:t>
            </a:r>
            <a:br/>
            <a:r>
              <a:t>• Protect RIA license and principal officers from statutory liability.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4F46E5"/>
                </a:solidFill>
              </a:defRPr>
            </a:pPr>
            <a:r>
              <a:t>Zero Client Tax Shocks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Complete pre-trade capital gains tax visibility builds deep investor trust.</a:t>
            </a:r>
            <a:br/>
            <a:r>
              <a:t>• Protect clients from quarterly advance tax penalties (Sections 234B &amp; 234C).</a:t>
            </a:r>
            <a:br/>
            <a:r>
              <a:t>• Elevate advisory relationship from transaction chasing to strategic planning.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011680"/>
            <a:ext cx="296265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75% Faster Authorization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Reduce client consent turnaround from 3–5 days to under 2 hours on mobile.</a:t>
            </a:r>
            <a:br/>
            <a:r>
              <a:t>• Minimize market slippage during high-volatility rebalancing windows.</a:t>
            </a:r>
            <a:br/>
            <a:r>
              <a:t>• Seamless 1-click WhatsApp delivery with zero login friction.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THE TRANSFORMATION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The Transformation: What Changes for Advisor and Client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Comparing legacy advisory friction with FinConsent's institutional digital rail.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62095"/>
              </a:tblGrid>
              <a:tr h="8412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A192F"/>
                          </a:solidFill>
                        </a:defRPr>
                      </a:pPr>
                      <a:r>
                        <a:t>Advisory Dimension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A192F"/>
                          </a:solidFill>
                        </a:defRPr>
                      </a:pPr>
                      <a:r>
                        <a:t>Legacy Process (Informal / Dispersed)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A192F"/>
                          </a:solidFill>
                        </a:defRPr>
                      </a:pPr>
                      <a:r>
                        <a:t>FinConsent Institutional Digital Rail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Trade Authorization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Fragmented WhatsApp texts or email replies; rejected during SEBI inspection.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Explicit statutory declarations + 6-digit OTP verification with 48h market window.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Capital Gains 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Post-trade surprise tax bill; penal interest under Sections 234B/C.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Pre-trade Union Budget 2024 calculation with quarterly advance tax alert.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Client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Confidential trade details sent over plain WhatsApp or email attachments.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Dual-envelope AES-256-GCM encryption with PAN+DOB client password gate.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Audit &amp; Legal Trail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Scattered screenshots and PDFs; inadmissible under Section 65B.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Append-only forward SHA-256 ledger emitting certified Section 65B compliance dossier.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NEXT STEPS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Conclusion &amp; Next Steps: Deploying FinConsent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Accelerating advisory compliance, investor trust, and practice scalability.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A192F"/>
                </a:solidFill>
              </a:defRPr>
            </a:pPr>
            <a:r>
              <a:t>Implementation &amp; Onboarding Path</a:t>
            </a:r>
          </a:p>
          <a:p>
            <a:pPr>
              <a:spcBef>
                <a:spcPts val="1000"/>
              </a:spcBef>
              <a:defRPr sz="1150">
                <a:solidFill>
                  <a:srgbClr val="475569"/>
                </a:solidFill>
              </a:defRPr>
            </a:pPr>
            <a:r>
              <a:t>1. Immediate Compliance Upgrade: Onboard RIA practice in under 10 minutes; configure SEBI INA registration number and firm compliance contacts.</a:t>
            </a:r>
            <a:br/>
            <a:r>
              <a:t>2. Client Roster Migration: Import advisory clients with validated PANs, mobile numbers, and DOB attributes.</a:t>
            </a:r>
            <a:br/>
            <a:r>
              <a:t>3. Pilot Rebalancing Run: Execute live mandates with select client families to demonstrate pre-trade tax transparency and frictionless mobile OTP consent.</a:t>
            </a:r>
            <a:br/>
            <a:r>
              <a:t>4. Regulatory Peace of Mind: Rest assured knowing every trade authorization is cryptographically preserved in AWS Mumbai under Section 65B standards.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A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Deep-Dive: Cryptographic Invariants &amp; Key Derivation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Formal mathematical specifications for envelope encryption and PBKDF2 KDF.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Cryptographic Implementation Specifications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• Cipher: AES-256-GCM (Galois/Counter Mode) with 12-byte random IV and 16-byte authentication tag.</a:t>
            </a:r>
            <a:br/>
            <a:r>
              <a:t>• Key Derivation Function: PBKDF2 with SHA-256 digest, 100,000 rounds in production (1,000 in test mode), and 16-byte random salt.</a:t>
            </a:r>
            <a:br/>
            <a:r>
              <a:t>• Key Derivation Input: Normalized string concatenation of PAN last 4 digits + DOB in DDMMYYYY format.</a:t>
            </a:r>
            <a:br/>
            <a:r>
              <a:t>• Dual Wrapping: Server DEK wrapped with Master Key (JWT_SECRET derived); Client DEK wrapped with Client Derived Key.</a:t>
            </a:r>
            <a:br/>
            <a:r>
              <a:t>• Invariant: Server never stores client plaintext password or unencrypted DEK in database.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B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Deep-Dive: Role-Based Authorization &amp; Tenant Scoping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Detailed API permission matrix across all platform roles.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728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651760"/>
                <a:gridCol w="2743200"/>
                <a:gridCol w="2773375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API Route / Resource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RIA (sebi-ria)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Client (hni-client)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0A192F"/>
                          </a:solidFill>
                        </a:defRPr>
                      </a:pPr>
                      <a:r>
                        <a:t>Compliance (compliance_officer)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/api/mandates (POST / Create)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(Scoped to firm)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(Read-only)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/api/mandates/:id/dispatch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(Own mandates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 (Read-only)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/api/public/mandates/:t/unlock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N/A (Uses dashboard)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(Valid password)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N/A (Uses compliance hub)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/api/public/mandates/:t/verify-otp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(Valid 6-digit OTP)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FORBIDDEN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/api/requests (Scrutiny)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(Submit requests)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(View own requests)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75569"/>
                          </a:solidFill>
                        </a:defRPr>
                      </a:pPr>
                      <a:r>
                        <a:t>ALLOWED (Full Adjudication)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C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Technical Deep-Dive: Audit Schema &amp; Section 65B Admissibility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Evidentiary record structures required by Indian legal standards.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Section 65B Electronic Evidence Mandatory Attributes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Under the Indian Evidence Act, 1872 and Information Technology Act, 2000, secondary electronic records require:</a:t>
            </a:r>
            <a:br/>
            <a:br/>
            <a:r>
              <a:t>1. Origin Identification: Client IP Address (e.g. 49.36.110.12) and browser User-Agent recorded at execution time.</a:t>
            </a:r>
            <a:br/>
            <a:r>
              <a:t>2. Synchronized Timestamp: Server-side NTP timestamping localized to Indian Standard Time (IST).</a:t>
            </a:r>
            <a:br/>
            <a:r>
              <a:t>3. Hash Integrity Seal: SHA-256 payloadHash computed over the immutable consent certificate.</a:t>
            </a:r>
            <a:br/>
            <a:r>
              <a:t>4. Device Custody Proof: Evidence that the computer system was operating properly during the record generation.</a:t>
            </a:r>
            <a:br/>
            <a:r>
              <a:t>5. Regulation 19 Admissibility: Cryptographically chained forward hashes guarantee zero retroactive modifications.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4F46E5"/>
                </a:solidFill>
                <a:latin typeface="Calibri"/>
              </a:defRPr>
            </a:pPr>
            <a:r>
              <a:t>APPENDIX D</a:t>
            </a:r>
          </a:p>
          <a:p>
            <a:pPr>
              <a:spcAft>
                <a:spcPts val="200"/>
              </a:spcAft>
              <a:defRPr sz="2200" b="1">
                <a:solidFill>
                  <a:srgbClr val="0A192F"/>
                </a:solidFill>
                <a:latin typeface="Calibri"/>
              </a:defRPr>
            </a:pPr>
            <a:r>
              <a:t>Operational Considerations &amp; Future Recommendations</a:t>
            </a:r>
          </a:p>
          <a:p>
            <a:pPr>
              <a:defRPr sz="1200">
                <a:solidFill>
                  <a:srgbClr val="475569"/>
                </a:solidFill>
                <a:latin typeface="Calibri"/>
              </a:defRPr>
            </a:pPr>
            <a:r>
              <a:t>Clear demarcation between current implemented state and future roadmap.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59669"/>
                </a:solidFill>
              </a:defRPr>
            </a:pPr>
            <a:r>
              <a:t>Implemented Production Capabilities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Full non-discretionary mandate formulation &amp; tax engine.</a:t>
            </a:r>
            <a:br/>
            <a:r>
              <a:t>• AES-256-GCM dual-envelope encryption &amp; PBKDF2 password gate.</a:t>
            </a:r>
            <a:br/>
            <a:r>
              <a:t>• 256-bit magic links with SHA-256 database hashing &amp; 48h cutoff.</a:t>
            </a:r>
            <a:br/>
            <a:r>
              <a:t>• In-app mandate chat with explicit non-consent separation.</a:t>
            </a:r>
            <a:br/>
            <a:r>
              <a:t>• Section 65B electronic compliance receipts with SHA-256 hash chaining.</a:t>
            </a:r>
            <a:br/>
            <a:r>
              <a:t>• Multi-tenant isolation, RBAC, TOTP MFA, and distributed rate limiting.</a:t>
            </a:r>
            <a:br/>
            <a:r>
              <a:t>• 8 Indian languages localization with English numerals.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42255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6936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4F46E5"/>
                </a:solidFill>
              </a:defRPr>
            </a:pPr>
            <a:r>
              <a:t>Future Recommendations / Roadmap</a:t>
            </a:r>
          </a:p>
          <a:p>
            <a:pPr>
              <a:spcBef>
                <a:spcPts val="800"/>
              </a:spcBef>
              <a:defRPr sz="1050">
                <a:solidFill>
                  <a:srgbClr val="475569"/>
                </a:solidFill>
              </a:defRPr>
            </a:pPr>
            <a:r>
              <a:t>• Production TRAI DLT SMS Gateway: Current setup disables SMS by policy (using email/in-app). Commercial rollout requires onboarding a DLT-registered SMS provider (Twilio/Gupshup).</a:t>
            </a:r>
            <a:br/>
            <a:r>
              <a:t>• CloudHSM Key Management: Derives Server Master Key from JWT_SECRET; AWS CloudHSM or KMS recommended for institutional banking.</a:t>
            </a:r>
            <a:br/>
            <a:r>
              <a:t>• Automated Broker API Execution: Halts at locked Section 65B consent dossiers; direct broker execution (Kite/SmartAPI) planned for future phase.</a:t>
            </a:r>
            <a:br/>
            <a:r>
              <a:t>• External RFC 3161 Time Stamping: Anchoring ledger roots to an external Time Stamping Authority (TSA).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